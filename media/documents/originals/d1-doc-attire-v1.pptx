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7" r:id="rId8"/>
    <p:sldId id="262" r:id="rId9"/>
    <p:sldId id="264" r:id="rId10"/>
    <p:sldId id="268"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3" d="100"/>
          <a:sy n="63" d="100"/>
        </p:scale>
        <p:origin x="672" y="-3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19979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xml"/><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1F1F"/>
        </a:solidFill>
        <a:effectLst/>
      </p:bgPr>
    </p:bg>
    <p:spTree>
      <p:nvGrpSpPr>
        <p:cNvPr id="1" name=""/>
        <p:cNvGrpSpPr/>
        <p:nvPr/>
      </p:nvGrpSpPr>
      <p:grpSpPr>
        <a:xfrm>
          <a:off x="0" y="0"/>
          <a:ext cx="0" cy="0"/>
          <a:chOff x="0" y="0"/>
          <a:chExt cx="0" cy="0"/>
        </a:xfrm>
      </p:grpSpPr>
      <p:sp>
        <p:nvSpPr>
          <p:cNvPr id="8" name="Text 5"/>
          <p:cNvSpPr/>
          <p:nvPr/>
        </p:nvSpPr>
        <p:spPr>
          <a:xfrm>
            <a:off x="777240" y="2487168"/>
            <a:ext cx="10515600" cy="1188720"/>
          </a:xfrm>
          <a:prstGeom prst="rect">
            <a:avLst/>
          </a:prstGeom>
          <a:noFill/>
          <a:ln/>
        </p:spPr>
        <p:txBody>
          <a:bodyPr wrap="square" lIns="0" tIns="0" rIns="0" bIns="0" rtlCol="0" anchor="ctr"/>
          <a:lstStyle/>
          <a:p>
            <a:pPr marL="0" indent="0">
              <a:buNone/>
            </a:pPr>
            <a:r>
              <a:rPr lang="en-US" sz="4600" b="1" dirty="0">
                <a:solidFill>
                  <a:srgbClr val="FFFFFF"/>
                </a:solidFill>
                <a:latin typeface="Bookman Old Style" pitchFamily="34" charset="0"/>
                <a:ea typeface="Bookman Old Style" pitchFamily="34" charset="-122"/>
                <a:cs typeface="Bookman Old Style" pitchFamily="34" charset="-120"/>
              </a:rPr>
              <a:t>Dress Code Policy</a:t>
            </a:r>
            <a:endParaRPr lang="en-US" sz="4600" dirty="0"/>
          </a:p>
        </p:txBody>
      </p:sp>
      <p:sp>
        <p:nvSpPr>
          <p:cNvPr id="10" name="Text 7"/>
          <p:cNvSpPr/>
          <p:nvPr/>
        </p:nvSpPr>
        <p:spPr>
          <a:xfrm>
            <a:off x="822960" y="5989320"/>
            <a:ext cx="8229600" cy="365760"/>
          </a:xfrm>
          <a:prstGeom prst="rect">
            <a:avLst/>
          </a:prstGeom>
          <a:noFill/>
          <a:ln/>
        </p:spPr>
        <p:txBody>
          <a:bodyPr wrap="square" lIns="0" tIns="0" rIns="0" bIns="0" rtlCol="0" anchor="ctr"/>
          <a:lstStyle/>
          <a:p>
            <a:pPr marL="0" indent="0">
              <a:buNone/>
            </a:pPr>
            <a:r>
              <a:rPr lang="en-US" sz="1400" dirty="0">
                <a:solidFill>
                  <a:srgbClr val="A8A6A0"/>
                </a:solidFill>
                <a:latin typeface="Calibri" pitchFamily="34" charset="0"/>
                <a:ea typeface="Calibri" pitchFamily="34" charset="-122"/>
                <a:cs typeface="Calibri" pitchFamily="34" charset="-120"/>
              </a:rPr>
              <a:t>Learning &amp; Development Resource  ·  SUNROOOF</a:t>
            </a:r>
            <a:endParaRPr lang="en-US" sz="1400" dirty="0">
              <a:solidFill>
                <a:srgbClr val="A8A6A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F1F1F"/>
        </a:solidFill>
        <a:effectLst/>
      </p:bgPr>
    </p:bg>
    <p:spTree>
      <p:nvGrpSpPr>
        <p:cNvPr id="1" name=""/>
        <p:cNvGrpSpPr/>
        <p:nvPr/>
      </p:nvGrpSpPr>
      <p:grpSpPr>
        <a:xfrm>
          <a:off x="0" y="0"/>
          <a:ext cx="0" cy="0"/>
          <a:chOff x="0" y="0"/>
          <a:chExt cx="0" cy="0"/>
        </a:xfrm>
      </p:grpSpPr>
      <p:sp>
        <p:nvSpPr>
          <p:cNvPr id="2" name="Shape 0"/>
          <p:cNvSpPr/>
          <p:nvPr/>
        </p:nvSpPr>
        <p:spPr>
          <a:xfrm>
            <a:off x="10149840" y="-1920240"/>
            <a:ext cx="4206240" cy="4206240"/>
          </a:xfrm>
          <a:prstGeom prst="ellipse">
            <a:avLst/>
          </a:prstGeom>
          <a:solidFill>
            <a:srgbClr val="3A3835">
              <a:alpha val="65000"/>
            </a:srgbClr>
          </a:solidFill>
          <a:ln/>
        </p:spPr>
        <p:txBody>
          <a:bodyPr/>
          <a:lstStyle/>
          <a:p>
            <a:endParaRPr lang="en-IN"/>
          </a:p>
        </p:txBody>
      </p:sp>
      <p:sp>
        <p:nvSpPr>
          <p:cNvPr id="3" name="Shape 1"/>
          <p:cNvSpPr/>
          <p:nvPr/>
        </p:nvSpPr>
        <p:spPr>
          <a:xfrm>
            <a:off x="-1463040" y="5394960"/>
            <a:ext cx="3108960" cy="3108960"/>
          </a:xfrm>
          <a:prstGeom prst="ellipse">
            <a:avLst/>
          </a:prstGeom>
          <a:solidFill>
            <a:srgbClr val="3A3835">
              <a:alpha val="65000"/>
            </a:srgbClr>
          </a:solidFill>
          <a:ln/>
        </p:spPr>
        <p:txBody>
          <a:bodyPr/>
          <a:lstStyle/>
          <a:p>
            <a:endParaRPr lang="en-IN"/>
          </a:p>
        </p:txBody>
      </p:sp>
      <p:sp>
        <p:nvSpPr>
          <p:cNvPr id="4" name="Text 2"/>
          <p:cNvSpPr/>
          <p:nvPr/>
        </p:nvSpPr>
        <p:spPr>
          <a:xfrm>
            <a:off x="640080" y="457200"/>
            <a:ext cx="8229600" cy="274320"/>
          </a:xfrm>
          <a:prstGeom prst="rect">
            <a:avLst/>
          </a:prstGeom>
          <a:noFill/>
          <a:ln/>
        </p:spPr>
        <p:txBody>
          <a:bodyPr wrap="square" lIns="0" tIns="0" rIns="0" bIns="0" rtlCol="0" anchor="ctr"/>
          <a:lstStyle/>
          <a:p>
            <a:pPr marL="0" indent="0">
              <a:buNone/>
            </a:pPr>
            <a:r>
              <a:rPr lang="en-US" sz="1150" b="1" kern="0" spc="240" dirty="0">
                <a:solidFill>
                  <a:srgbClr val="F07823"/>
                </a:solidFill>
                <a:latin typeface="Calibri" pitchFamily="34" charset="0"/>
                <a:ea typeface="Calibri" pitchFamily="34" charset="-122"/>
                <a:cs typeface="Calibri" pitchFamily="34" charset="-120"/>
              </a:rPr>
              <a:t>WHAT WE'LL COVER</a:t>
            </a:r>
            <a:endParaRPr lang="en-US" sz="1150" dirty="0"/>
          </a:p>
        </p:txBody>
      </p:sp>
      <p:sp>
        <p:nvSpPr>
          <p:cNvPr id="5" name="Text 3"/>
          <p:cNvSpPr/>
          <p:nvPr/>
        </p:nvSpPr>
        <p:spPr>
          <a:xfrm>
            <a:off x="640080" y="749808"/>
            <a:ext cx="10881360" cy="777240"/>
          </a:xfrm>
          <a:prstGeom prst="rect">
            <a:avLst/>
          </a:prstGeom>
          <a:noFill/>
          <a:ln/>
        </p:spPr>
        <p:txBody>
          <a:bodyPr wrap="square" lIns="0" tIns="0" rIns="0" bIns="0" rtlCol="0" anchor="ctr"/>
          <a:lstStyle/>
          <a:p>
            <a:pPr marL="0" indent="0">
              <a:buNone/>
            </a:pPr>
            <a:r>
              <a:rPr lang="en-US" sz="3000" b="1" dirty="0">
                <a:solidFill>
                  <a:srgbClr val="FFFFFF"/>
                </a:solidFill>
                <a:latin typeface="Bookman Old Style" pitchFamily="34" charset="0"/>
                <a:ea typeface="Bookman Old Style" pitchFamily="34" charset="-122"/>
                <a:cs typeface="Bookman Old Style" pitchFamily="34" charset="-120"/>
              </a:rPr>
              <a:t>Your Path Through This Module</a:t>
            </a:r>
            <a:endParaRPr lang="en-US" sz="3000" dirty="0"/>
          </a:p>
        </p:txBody>
      </p:sp>
      <p:sp>
        <p:nvSpPr>
          <p:cNvPr id="31" name="Shape 29"/>
          <p:cNvSpPr/>
          <p:nvPr/>
        </p:nvSpPr>
        <p:spPr>
          <a:xfrm>
            <a:off x="10140696" y="6579108"/>
            <a:ext cx="60350" cy="60350"/>
          </a:xfrm>
          <a:prstGeom prst="ellipse">
            <a:avLst/>
          </a:prstGeom>
          <a:solidFill>
            <a:srgbClr val="5C5B58"/>
          </a:solidFill>
          <a:ln/>
        </p:spPr>
        <p:txBody>
          <a:bodyPr/>
          <a:lstStyle/>
          <a:p>
            <a:endParaRPr lang="en-IN"/>
          </a:p>
        </p:txBody>
      </p:sp>
      <p:sp>
        <p:nvSpPr>
          <p:cNvPr id="32" name="Shape 30"/>
          <p:cNvSpPr/>
          <p:nvPr/>
        </p:nvSpPr>
        <p:spPr>
          <a:xfrm>
            <a:off x="10323576" y="6556248"/>
            <a:ext cx="118872" cy="118872"/>
          </a:xfrm>
          <a:prstGeom prst="ellipse">
            <a:avLst/>
          </a:prstGeom>
          <a:solidFill>
            <a:srgbClr val="F07823"/>
          </a:solidFill>
          <a:ln/>
        </p:spPr>
        <p:txBody>
          <a:bodyPr/>
          <a:lstStyle/>
          <a:p>
            <a:endParaRPr lang="en-IN"/>
          </a:p>
        </p:txBody>
      </p:sp>
      <p:sp>
        <p:nvSpPr>
          <p:cNvPr id="33" name="Shape 31"/>
          <p:cNvSpPr/>
          <p:nvPr/>
        </p:nvSpPr>
        <p:spPr>
          <a:xfrm>
            <a:off x="10506456" y="6579108"/>
            <a:ext cx="60350" cy="60350"/>
          </a:xfrm>
          <a:prstGeom prst="ellipse">
            <a:avLst/>
          </a:prstGeom>
          <a:solidFill>
            <a:srgbClr val="5C5B58"/>
          </a:solidFill>
          <a:ln/>
        </p:spPr>
        <p:txBody>
          <a:bodyPr/>
          <a:lstStyle/>
          <a:p>
            <a:endParaRPr lang="en-IN"/>
          </a:p>
        </p:txBody>
      </p:sp>
      <p:sp>
        <p:nvSpPr>
          <p:cNvPr id="34" name="Shape 32"/>
          <p:cNvSpPr/>
          <p:nvPr/>
        </p:nvSpPr>
        <p:spPr>
          <a:xfrm>
            <a:off x="10689336" y="6579108"/>
            <a:ext cx="60350" cy="60350"/>
          </a:xfrm>
          <a:prstGeom prst="ellipse">
            <a:avLst/>
          </a:prstGeom>
          <a:solidFill>
            <a:srgbClr val="5C5B58"/>
          </a:solidFill>
          <a:ln/>
        </p:spPr>
        <p:txBody>
          <a:bodyPr/>
          <a:lstStyle/>
          <a:p>
            <a:endParaRPr lang="en-IN"/>
          </a:p>
        </p:txBody>
      </p:sp>
      <p:sp>
        <p:nvSpPr>
          <p:cNvPr id="35" name="Shape 33"/>
          <p:cNvSpPr/>
          <p:nvPr/>
        </p:nvSpPr>
        <p:spPr>
          <a:xfrm>
            <a:off x="10872216" y="6579108"/>
            <a:ext cx="60350" cy="60350"/>
          </a:xfrm>
          <a:prstGeom prst="ellipse">
            <a:avLst/>
          </a:prstGeom>
          <a:solidFill>
            <a:srgbClr val="5C5B58"/>
          </a:solidFill>
          <a:ln/>
        </p:spPr>
        <p:txBody>
          <a:bodyPr/>
          <a:lstStyle/>
          <a:p>
            <a:endParaRPr lang="en-IN"/>
          </a:p>
        </p:txBody>
      </p:sp>
      <p:sp>
        <p:nvSpPr>
          <p:cNvPr id="36" name="Shape 34"/>
          <p:cNvSpPr/>
          <p:nvPr/>
        </p:nvSpPr>
        <p:spPr>
          <a:xfrm>
            <a:off x="11055096" y="6579108"/>
            <a:ext cx="60350" cy="60350"/>
          </a:xfrm>
          <a:prstGeom prst="ellipse">
            <a:avLst/>
          </a:prstGeom>
          <a:solidFill>
            <a:srgbClr val="5C5B58"/>
          </a:solidFill>
          <a:ln/>
        </p:spPr>
        <p:txBody>
          <a:bodyPr/>
          <a:lstStyle/>
          <a:p>
            <a:endParaRPr lang="en-IN"/>
          </a:p>
        </p:txBody>
      </p:sp>
      <p:sp>
        <p:nvSpPr>
          <p:cNvPr id="37" name="Shape 35"/>
          <p:cNvSpPr/>
          <p:nvPr/>
        </p:nvSpPr>
        <p:spPr>
          <a:xfrm>
            <a:off x="11237976" y="6579108"/>
            <a:ext cx="60350" cy="60350"/>
          </a:xfrm>
          <a:prstGeom prst="ellipse">
            <a:avLst/>
          </a:prstGeom>
          <a:solidFill>
            <a:srgbClr val="5C5B58"/>
          </a:solidFill>
          <a:ln/>
        </p:spPr>
        <p:txBody>
          <a:bodyPr/>
          <a:lstStyle/>
          <a:p>
            <a:endParaRPr lang="en-IN"/>
          </a:p>
        </p:txBody>
      </p:sp>
      <p:sp>
        <p:nvSpPr>
          <p:cNvPr id="38" name="Shape 36"/>
          <p:cNvSpPr/>
          <p:nvPr/>
        </p:nvSpPr>
        <p:spPr>
          <a:xfrm>
            <a:off x="11420856" y="6579108"/>
            <a:ext cx="60350" cy="60350"/>
          </a:xfrm>
          <a:prstGeom prst="ellipse">
            <a:avLst/>
          </a:prstGeom>
          <a:solidFill>
            <a:srgbClr val="5C5B58"/>
          </a:solidFill>
          <a:ln/>
        </p:spPr>
        <p:txBody>
          <a:bodyPr/>
          <a:lstStyle/>
          <a:p>
            <a:endParaRPr lang="en-IN"/>
          </a:p>
        </p:txBody>
      </p:sp>
      <p:sp>
        <p:nvSpPr>
          <p:cNvPr id="39" name="Shape 37"/>
          <p:cNvSpPr/>
          <p:nvPr/>
        </p:nvSpPr>
        <p:spPr>
          <a:xfrm>
            <a:off x="11603736" y="6579108"/>
            <a:ext cx="60350" cy="60350"/>
          </a:xfrm>
          <a:prstGeom prst="ellipse">
            <a:avLst/>
          </a:prstGeom>
          <a:solidFill>
            <a:srgbClr val="5C5B58"/>
          </a:solidFill>
          <a:ln/>
        </p:spPr>
        <p:txBody>
          <a:bodyPr/>
          <a:lstStyle/>
          <a:p>
            <a:endParaRPr lang="en-IN"/>
          </a:p>
        </p:txBody>
      </p:sp>
      <p:sp>
        <p:nvSpPr>
          <p:cNvPr id="40" name="Shape 38"/>
          <p:cNvSpPr/>
          <p:nvPr/>
        </p:nvSpPr>
        <p:spPr>
          <a:xfrm>
            <a:off x="11786616" y="6579108"/>
            <a:ext cx="60350" cy="60350"/>
          </a:xfrm>
          <a:prstGeom prst="ellipse">
            <a:avLst/>
          </a:prstGeom>
          <a:solidFill>
            <a:srgbClr val="5C5B58"/>
          </a:solidFill>
          <a:ln/>
        </p:spPr>
        <p:txBody>
          <a:bodyPr/>
          <a:lstStyle/>
          <a:p>
            <a:endParaRPr lang="en-IN"/>
          </a:p>
        </p:txBody>
      </p:sp>
      <p:sp>
        <p:nvSpPr>
          <p:cNvPr id="101" name="Shape 4"/>
          <p:cNvSpPr/>
          <p:nvPr/>
        </p:nvSpPr>
        <p:spPr>
          <a:xfrm>
            <a:off x="640080" y="1691640"/>
            <a:ext cx="5349240" cy="1100000"/>
          </a:xfrm>
          <a:prstGeom prst="roundRect">
            <a:avLst>
              <a:gd name="adj" fmla="val 8451"/>
            </a:avLst>
          </a:prstGeom>
          <a:solidFill>
            <a:srgbClr val="2A2A28"/>
          </a:solidFill>
          <a:ln/>
          <a:effectLst>
            <a:outerShdw blurRad="88900" dist="38100" dir="5400000" algn="bl" rotWithShape="0">
              <a:srgbClr val="000000">
                <a:alpha val="18000"/>
              </a:srgbClr>
            </a:outerShdw>
          </a:effectLst>
        </p:spPr>
        <p:txBody>
          <a:bodyPr/>
          <a:lstStyle/>
          <a:p>
            <a:endParaRPr lang="en-IN"/>
          </a:p>
        </p:txBody>
      </p:sp>
      <p:sp>
        <p:nvSpPr>
          <p:cNvPr id="102" name="Text 5"/>
          <p:cNvSpPr/>
          <p:nvPr/>
        </p:nvSpPr>
        <p:spPr>
          <a:xfrm>
            <a:off x="868680" y="1856232"/>
            <a:ext cx="822960" cy="457200"/>
          </a:xfrm>
          <a:prstGeom prst="rect">
            <a:avLst/>
          </a:prstGeom>
          <a:noFill/>
          <a:ln/>
        </p:spPr>
        <p:txBody>
          <a:bodyPr wrap="square" lIns="0" tIns="0" rIns="0" bIns="0" rtlCol="0" anchor="ctr"/>
          <a:lstStyle/>
          <a:p>
            <a:pPr marL="0" indent="0">
              <a:buNone/>
            </a:pPr>
            <a:r>
              <a:rPr lang="en-US" sz="2000" b="1" dirty="0">
                <a:solidFill>
                  <a:srgbClr val="F07823"/>
                </a:solidFill>
                <a:latin typeface="Bookman Old Style" pitchFamily="34" charset="0"/>
                <a:ea typeface="Bookman Old Style" pitchFamily="34" charset="-122"/>
                <a:cs typeface="Bookman Old Style" pitchFamily="34" charset="-120"/>
              </a:rPr>
              <a:t>01</a:t>
            </a:r>
            <a:endParaRPr lang="en-US" sz="2000" dirty="0"/>
          </a:p>
        </p:txBody>
      </p:sp>
      <p:sp>
        <p:nvSpPr>
          <p:cNvPr id="103" name="Text 6"/>
          <p:cNvSpPr/>
          <p:nvPr/>
        </p:nvSpPr>
        <p:spPr>
          <a:xfrm>
            <a:off x="1600200" y="1874520"/>
            <a:ext cx="4160520" cy="365760"/>
          </a:xfrm>
          <a:prstGeom prst="rect">
            <a:avLst/>
          </a:prstGeom>
          <a:noFill/>
          <a:ln/>
        </p:spPr>
        <p:txBody>
          <a:bodyPr wrap="square" lIns="0" tIns="0" rIns="0" bIns="0" rtlCol="0" anchor="ctr"/>
          <a:lstStyle/>
          <a:p>
            <a:pPr marL="0" indent="0">
              <a:buNone/>
            </a:pPr>
            <a:r>
              <a:rPr lang="en-US" b="1" dirty="0">
                <a:solidFill>
                  <a:srgbClr val="FFFFFF"/>
                </a:solidFill>
                <a:latin typeface="Bookman Old Style" pitchFamily="34" charset="0"/>
                <a:ea typeface="Bookman Old Style" pitchFamily="34" charset="-122"/>
                <a:cs typeface="Bookman Old Style" pitchFamily="34" charset="-120"/>
              </a:rPr>
              <a:t>Our Philosophy &amp; Vision</a:t>
            </a:r>
            <a:endParaRPr lang="en-US" dirty="0"/>
          </a:p>
        </p:txBody>
      </p:sp>
      <p:sp>
        <p:nvSpPr>
          <p:cNvPr id="104" name="Text 7"/>
          <p:cNvSpPr/>
          <p:nvPr/>
        </p:nvSpPr>
        <p:spPr>
          <a:xfrm>
            <a:off x="1600200" y="2258568"/>
            <a:ext cx="4160520" cy="548640"/>
          </a:xfrm>
          <a:prstGeom prst="rect">
            <a:avLst/>
          </a:prstGeom>
          <a:noFill/>
          <a:ln/>
        </p:spPr>
        <p:txBody>
          <a:bodyPr wrap="square" lIns="0" tIns="0" rIns="0" bIns="0" rtlCol="0" anchor="ctr"/>
          <a:lstStyle/>
          <a:p>
            <a:pPr marL="0" indent="0">
              <a:lnSpc>
                <a:spcPct val="115000"/>
              </a:lnSpc>
              <a:buNone/>
            </a:pPr>
            <a:r>
              <a:rPr lang="en-US" dirty="0">
                <a:solidFill>
                  <a:srgbClr val="A8A6A0"/>
                </a:solidFill>
                <a:latin typeface="Calibri" pitchFamily="34" charset="0"/>
                <a:ea typeface="Calibri" pitchFamily="34" charset="-122"/>
                <a:cs typeface="Calibri" pitchFamily="34" charset="-120"/>
              </a:rPr>
              <a:t>Why the policy exists</a:t>
            </a:r>
            <a:endParaRPr lang="en-US" dirty="0"/>
          </a:p>
        </p:txBody>
      </p:sp>
      <p:sp>
        <p:nvSpPr>
          <p:cNvPr id="105" name="Shape 4"/>
          <p:cNvSpPr/>
          <p:nvPr/>
        </p:nvSpPr>
        <p:spPr>
          <a:xfrm>
            <a:off x="6263640" y="1691640"/>
            <a:ext cx="5349240" cy="1100000"/>
          </a:xfrm>
          <a:prstGeom prst="roundRect">
            <a:avLst>
              <a:gd name="adj" fmla="val 8451"/>
            </a:avLst>
          </a:prstGeom>
          <a:solidFill>
            <a:srgbClr val="2A2A28"/>
          </a:solidFill>
          <a:ln/>
          <a:effectLst>
            <a:outerShdw blurRad="88900" dist="38100" dir="5400000" algn="bl" rotWithShape="0">
              <a:srgbClr val="000000">
                <a:alpha val="18000"/>
              </a:srgbClr>
            </a:outerShdw>
          </a:effectLst>
        </p:spPr>
        <p:txBody>
          <a:bodyPr/>
          <a:lstStyle/>
          <a:p>
            <a:endParaRPr lang="en-IN"/>
          </a:p>
        </p:txBody>
      </p:sp>
      <p:sp>
        <p:nvSpPr>
          <p:cNvPr id="106" name="Text 5"/>
          <p:cNvSpPr/>
          <p:nvPr/>
        </p:nvSpPr>
        <p:spPr>
          <a:xfrm>
            <a:off x="6492240" y="1856232"/>
            <a:ext cx="822960" cy="457200"/>
          </a:xfrm>
          <a:prstGeom prst="rect">
            <a:avLst/>
          </a:prstGeom>
          <a:noFill/>
          <a:ln/>
        </p:spPr>
        <p:txBody>
          <a:bodyPr wrap="square" lIns="0" tIns="0" rIns="0" bIns="0" rtlCol="0" anchor="ctr"/>
          <a:lstStyle/>
          <a:p>
            <a:pPr marL="0" indent="0">
              <a:buNone/>
            </a:pPr>
            <a:r>
              <a:rPr lang="en-US" sz="2000" b="1" dirty="0">
                <a:solidFill>
                  <a:srgbClr val="F07823"/>
                </a:solidFill>
                <a:latin typeface="Bookman Old Style" pitchFamily="34" charset="0"/>
                <a:ea typeface="Bookman Old Style" pitchFamily="34" charset="-122"/>
                <a:cs typeface="Bookman Old Style" pitchFamily="34" charset="-120"/>
              </a:rPr>
              <a:t>02</a:t>
            </a:r>
            <a:endParaRPr lang="en-US" sz="2000" dirty="0"/>
          </a:p>
        </p:txBody>
      </p:sp>
      <p:sp>
        <p:nvSpPr>
          <p:cNvPr id="107" name="Text 6"/>
          <p:cNvSpPr/>
          <p:nvPr/>
        </p:nvSpPr>
        <p:spPr>
          <a:xfrm>
            <a:off x="7223760" y="1874520"/>
            <a:ext cx="4160520" cy="365760"/>
          </a:xfrm>
          <a:prstGeom prst="rect">
            <a:avLst/>
          </a:prstGeom>
          <a:noFill/>
          <a:ln/>
        </p:spPr>
        <p:txBody>
          <a:bodyPr wrap="square" lIns="0" tIns="0" rIns="0" bIns="0" rtlCol="0" anchor="ctr"/>
          <a:lstStyle/>
          <a:p>
            <a:pPr marL="0" indent="0">
              <a:buNone/>
            </a:pPr>
            <a:r>
              <a:rPr lang="en-US" b="1" dirty="0">
                <a:solidFill>
                  <a:srgbClr val="FFFFFF"/>
                </a:solidFill>
                <a:latin typeface="Bookman Old Style" pitchFamily="34" charset="0"/>
                <a:ea typeface="Bookman Old Style" pitchFamily="34" charset="-122"/>
                <a:cs typeface="Bookman Old Style" pitchFamily="34" charset="-120"/>
              </a:rPr>
              <a:t>General Principles</a:t>
            </a:r>
            <a:endParaRPr lang="en-US" dirty="0"/>
          </a:p>
        </p:txBody>
      </p:sp>
      <p:sp>
        <p:nvSpPr>
          <p:cNvPr id="108" name="Text 7"/>
          <p:cNvSpPr/>
          <p:nvPr/>
        </p:nvSpPr>
        <p:spPr>
          <a:xfrm>
            <a:off x="7223760" y="2258568"/>
            <a:ext cx="4160520" cy="548640"/>
          </a:xfrm>
          <a:prstGeom prst="rect">
            <a:avLst/>
          </a:prstGeom>
          <a:noFill/>
          <a:ln/>
        </p:spPr>
        <p:txBody>
          <a:bodyPr wrap="square" lIns="0" tIns="0" rIns="0" bIns="0" rtlCol="0" anchor="ctr"/>
          <a:lstStyle/>
          <a:p>
            <a:pPr marL="0" indent="0">
              <a:lnSpc>
                <a:spcPct val="115000"/>
              </a:lnSpc>
              <a:buNone/>
            </a:pPr>
            <a:r>
              <a:rPr lang="en-US" dirty="0">
                <a:solidFill>
                  <a:srgbClr val="A8A6A0"/>
                </a:solidFill>
                <a:latin typeface="Calibri" pitchFamily="34" charset="0"/>
                <a:ea typeface="Calibri" pitchFamily="34" charset="-122"/>
                <a:cs typeface="Calibri" pitchFamily="34" charset="-120"/>
              </a:rPr>
              <a:t>The foundation for everyone</a:t>
            </a:r>
            <a:endParaRPr lang="en-US" dirty="0"/>
          </a:p>
        </p:txBody>
      </p:sp>
      <p:sp>
        <p:nvSpPr>
          <p:cNvPr id="109" name="Shape 4"/>
          <p:cNvSpPr/>
          <p:nvPr/>
        </p:nvSpPr>
        <p:spPr>
          <a:xfrm>
            <a:off x="640080" y="2881640"/>
            <a:ext cx="5349240" cy="1100000"/>
          </a:xfrm>
          <a:prstGeom prst="roundRect">
            <a:avLst>
              <a:gd name="adj" fmla="val 8451"/>
            </a:avLst>
          </a:prstGeom>
          <a:solidFill>
            <a:srgbClr val="2A2A28"/>
          </a:solidFill>
          <a:ln/>
          <a:effectLst>
            <a:outerShdw blurRad="88900" dist="38100" dir="5400000" algn="bl" rotWithShape="0">
              <a:srgbClr val="000000">
                <a:alpha val="18000"/>
              </a:srgbClr>
            </a:outerShdw>
          </a:effectLst>
        </p:spPr>
        <p:txBody>
          <a:bodyPr/>
          <a:lstStyle/>
          <a:p>
            <a:endParaRPr lang="en-IN"/>
          </a:p>
        </p:txBody>
      </p:sp>
      <p:sp>
        <p:nvSpPr>
          <p:cNvPr id="110" name="Text 5"/>
          <p:cNvSpPr/>
          <p:nvPr/>
        </p:nvSpPr>
        <p:spPr>
          <a:xfrm>
            <a:off x="868680" y="3046232"/>
            <a:ext cx="822960" cy="457200"/>
          </a:xfrm>
          <a:prstGeom prst="rect">
            <a:avLst/>
          </a:prstGeom>
          <a:noFill/>
          <a:ln/>
        </p:spPr>
        <p:txBody>
          <a:bodyPr wrap="square" lIns="0" tIns="0" rIns="0" bIns="0" rtlCol="0" anchor="ctr"/>
          <a:lstStyle/>
          <a:p>
            <a:pPr marL="0" indent="0">
              <a:buNone/>
            </a:pPr>
            <a:r>
              <a:rPr lang="en-US" sz="2000" b="1" dirty="0">
                <a:solidFill>
                  <a:srgbClr val="F07823"/>
                </a:solidFill>
                <a:latin typeface="Bookman Old Style" pitchFamily="34" charset="0"/>
                <a:ea typeface="Bookman Old Style" pitchFamily="34" charset="-122"/>
                <a:cs typeface="Bookman Old Style" pitchFamily="34" charset="-120"/>
              </a:rPr>
              <a:t>03</a:t>
            </a:r>
            <a:endParaRPr lang="en-US" sz="2000" dirty="0"/>
          </a:p>
        </p:txBody>
      </p:sp>
      <p:sp>
        <p:nvSpPr>
          <p:cNvPr id="111" name="Text 6"/>
          <p:cNvSpPr/>
          <p:nvPr/>
        </p:nvSpPr>
        <p:spPr>
          <a:xfrm>
            <a:off x="1600200" y="3064520"/>
            <a:ext cx="4160520" cy="365760"/>
          </a:xfrm>
          <a:prstGeom prst="rect">
            <a:avLst/>
          </a:prstGeom>
          <a:noFill/>
          <a:ln/>
        </p:spPr>
        <p:txBody>
          <a:bodyPr wrap="square" lIns="0" tIns="0" rIns="0" bIns="0" rtlCol="0" anchor="ctr"/>
          <a:lstStyle/>
          <a:p>
            <a:pPr marL="0" indent="0">
              <a:buNone/>
            </a:pPr>
            <a:r>
              <a:rPr lang="en-US" b="1" dirty="0">
                <a:solidFill>
                  <a:srgbClr val="FFFFFF"/>
                </a:solidFill>
                <a:latin typeface="Bookman Old Style" pitchFamily="34" charset="0"/>
                <a:ea typeface="Bookman Old Style" pitchFamily="34" charset="-122"/>
                <a:cs typeface="Bookman Old Style" pitchFamily="34" charset="-120"/>
              </a:rPr>
              <a:t>Guidelines for Men &amp; Women</a:t>
            </a:r>
            <a:endParaRPr lang="en-US" dirty="0"/>
          </a:p>
        </p:txBody>
      </p:sp>
      <p:sp>
        <p:nvSpPr>
          <p:cNvPr id="112" name="Text 7"/>
          <p:cNvSpPr/>
          <p:nvPr/>
        </p:nvSpPr>
        <p:spPr>
          <a:xfrm>
            <a:off x="1600200" y="3448568"/>
            <a:ext cx="4160520" cy="548640"/>
          </a:xfrm>
          <a:prstGeom prst="rect">
            <a:avLst/>
          </a:prstGeom>
          <a:noFill/>
          <a:ln/>
        </p:spPr>
        <p:txBody>
          <a:bodyPr wrap="square" lIns="0" tIns="0" rIns="0" bIns="0" rtlCol="0" anchor="ctr"/>
          <a:lstStyle/>
          <a:p>
            <a:pPr marL="0" indent="0">
              <a:lnSpc>
                <a:spcPct val="115000"/>
              </a:lnSpc>
              <a:buNone/>
            </a:pPr>
            <a:r>
              <a:rPr lang="en-US" dirty="0">
                <a:solidFill>
                  <a:srgbClr val="A8A6A0"/>
                </a:solidFill>
                <a:latin typeface="Calibri" pitchFamily="34" charset="0"/>
                <a:ea typeface="Calibri" pitchFamily="34" charset="-122"/>
                <a:cs typeface="Calibri" pitchFamily="34" charset="-120"/>
              </a:rPr>
              <a:t>Everyday attire &amp; client meetings</a:t>
            </a:r>
            <a:endParaRPr lang="en-US" dirty="0"/>
          </a:p>
        </p:txBody>
      </p:sp>
      <p:sp>
        <p:nvSpPr>
          <p:cNvPr id="113" name="Shape 4"/>
          <p:cNvSpPr/>
          <p:nvPr/>
        </p:nvSpPr>
        <p:spPr>
          <a:xfrm>
            <a:off x="6263640" y="2881640"/>
            <a:ext cx="5349240" cy="1100000"/>
          </a:xfrm>
          <a:prstGeom prst="roundRect">
            <a:avLst>
              <a:gd name="adj" fmla="val 8451"/>
            </a:avLst>
          </a:prstGeom>
          <a:solidFill>
            <a:srgbClr val="2A2A28"/>
          </a:solidFill>
          <a:ln/>
          <a:effectLst>
            <a:outerShdw blurRad="88900" dist="38100" dir="5400000" algn="bl" rotWithShape="0">
              <a:srgbClr val="000000">
                <a:alpha val="18000"/>
              </a:srgbClr>
            </a:outerShdw>
          </a:effectLst>
        </p:spPr>
        <p:txBody>
          <a:bodyPr/>
          <a:lstStyle/>
          <a:p>
            <a:endParaRPr lang="en-IN"/>
          </a:p>
        </p:txBody>
      </p:sp>
      <p:sp>
        <p:nvSpPr>
          <p:cNvPr id="114" name="Text 5"/>
          <p:cNvSpPr/>
          <p:nvPr/>
        </p:nvSpPr>
        <p:spPr>
          <a:xfrm>
            <a:off x="6492240" y="3046232"/>
            <a:ext cx="822960" cy="457200"/>
          </a:xfrm>
          <a:prstGeom prst="rect">
            <a:avLst/>
          </a:prstGeom>
          <a:noFill/>
          <a:ln/>
        </p:spPr>
        <p:txBody>
          <a:bodyPr wrap="square" lIns="0" tIns="0" rIns="0" bIns="0" rtlCol="0" anchor="ctr"/>
          <a:lstStyle/>
          <a:p>
            <a:pPr marL="0" indent="0">
              <a:buNone/>
            </a:pPr>
            <a:r>
              <a:rPr lang="en-US" sz="2000" b="1" dirty="0">
                <a:solidFill>
                  <a:srgbClr val="F07823"/>
                </a:solidFill>
                <a:latin typeface="Bookman Old Style" pitchFamily="34" charset="0"/>
                <a:ea typeface="Bookman Old Style" pitchFamily="34" charset="-122"/>
                <a:cs typeface="Bookman Old Style" pitchFamily="34" charset="-120"/>
              </a:rPr>
              <a:t>04</a:t>
            </a:r>
            <a:endParaRPr lang="en-US" sz="2000" dirty="0"/>
          </a:p>
        </p:txBody>
      </p:sp>
      <p:sp>
        <p:nvSpPr>
          <p:cNvPr id="115" name="Text 6"/>
          <p:cNvSpPr/>
          <p:nvPr/>
        </p:nvSpPr>
        <p:spPr>
          <a:xfrm>
            <a:off x="7223760" y="3064520"/>
            <a:ext cx="4160520" cy="365760"/>
          </a:xfrm>
          <a:prstGeom prst="rect">
            <a:avLst/>
          </a:prstGeom>
          <a:noFill/>
          <a:ln/>
        </p:spPr>
        <p:txBody>
          <a:bodyPr wrap="square" lIns="0" tIns="0" rIns="0" bIns="0" rtlCol="0" anchor="ctr"/>
          <a:lstStyle/>
          <a:p>
            <a:pPr marL="0" indent="0">
              <a:buNone/>
            </a:pPr>
            <a:r>
              <a:rPr lang="en-US" b="1" dirty="0">
                <a:solidFill>
                  <a:srgbClr val="FFFFFF"/>
                </a:solidFill>
                <a:latin typeface="Bookman Old Style" pitchFamily="34" charset="0"/>
                <a:ea typeface="Bookman Old Style" pitchFamily="34" charset="-122"/>
                <a:cs typeface="Bookman Old Style" pitchFamily="34" charset="-120"/>
              </a:rPr>
              <a:t>Grooming Standards</a:t>
            </a:r>
            <a:endParaRPr lang="en-US" dirty="0"/>
          </a:p>
        </p:txBody>
      </p:sp>
      <p:sp>
        <p:nvSpPr>
          <p:cNvPr id="116" name="Text 7"/>
          <p:cNvSpPr/>
          <p:nvPr/>
        </p:nvSpPr>
        <p:spPr>
          <a:xfrm>
            <a:off x="7223760" y="3448568"/>
            <a:ext cx="4160520" cy="548640"/>
          </a:xfrm>
          <a:prstGeom prst="rect">
            <a:avLst/>
          </a:prstGeom>
          <a:noFill/>
          <a:ln/>
        </p:spPr>
        <p:txBody>
          <a:bodyPr wrap="square" lIns="0" tIns="0" rIns="0" bIns="0" rtlCol="0" anchor="ctr"/>
          <a:lstStyle/>
          <a:p>
            <a:pPr marL="0" indent="0">
              <a:lnSpc>
                <a:spcPct val="115000"/>
              </a:lnSpc>
              <a:buNone/>
            </a:pPr>
            <a:r>
              <a:rPr lang="en-US" dirty="0">
                <a:solidFill>
                  <a:srgbClr val="A8A6A0"/>
                </a:solidFill>
                <a:latin typeface="Calibri" pitchFamily="34" charset="0"/>
                <a:ea typeface="Calibri" pitchFamily="34" charset="-122"/>
                <a:cs typeface="Calibri" pitchFamily="34" charset="-120"/>
              </a:rPr>
              <a:t>Presenting yourself with polish</a:t>
            </a:r>
            <a:endParaRPr lang="en-US" dirty="0"/>
          </a:p>
        </p:txBody>
      </p:sp>
      <p:sp>
        <p:nvSpPr>
          <p:cNvPr id="117" name="Shape 4"/>
          <p:cNvSpPr/>
          <p:nvPr/>
        </p:nvSpPr>
        <p:spPr>
          <a:xfrm>
            <a:off x="640080" y="4071640"/>
            <a:ext cx="5349240" cy="1100000"/>
          </a:xfrm>
          <a:prstGeom prst="roundRect">
            <a:avLst>
              <a:gd name="adj" fmla="val 8451"/>
            </a:avLst>
          </a:prstGeom>
          <a:solidFill>
            <a:srgbClr val="2A2A28"/>
          </a:solidFill>
          <a:ln/>
          <a:effectLst>
            <a:outerShdw blurRad="88900" dist="38100" dir="5400000" algn="bl" rotWithShape="0">
              <a:srgbClr val="000000">
                <a:alpha val="18000"/>
              </a:srgbClr>
            </a:outerShdw>
          </a:effectLst>
        </p:spPr>
        <p:txBody>
          <a:bodyPr/>
          <a:lstStyle/>
          <a:p>
            <a:endParaRPr lang="en-IN"/>
          </a:p>
        </p:txBody>
      </p:sp>
      <p:sp>
        <p:nvSpPr>
          <p:cNvPr id="118" name="Text 5"/>
          <p:cNvSpPr/>
          <p:nvPr/>
        </p:nvSpPr>
        <p:spPr>
          <a:xfrm>
            <a:off x="868680" y="4236232"/>
            <a:ext cx="822960" cy="457200"/>
          </a:xfrm>
          <a:prstGeom prst="rect">
            <a:avLst/>
          </a:prstGeom>
          <a:noFill/>
          <a:ln/>
        </p:spPr>
        <p:txBody>
          <a:bodyPr wrap="square" lIns="0" tIns="0" rIns="0" bIns="0" rtlCol="0" anchor="ctr"/>
          <a:lstStyle/>
          <a:p>
            <a:pPr marL="0" indent="0">
              <a:buNone/>
            </a:pPr>
            <a:r>
              <a:rPr lang="en-US" sz="2000" b="1" dirty="0">
                <a:solidFill>
                  <a:srgbClr val="F07823"/>
                </a:solidFill>
                <a:latin typeface="Bookman Old Style" pitchFamily="34" charset="0"/>
                <a:ea typeface="Bookman Old Style" pitchFamily="34" charset="-122"/>
                <a:cs typeface="Bookman Old Style" pitchFamily="34" charset="-120"/>
              </a:rPr>
              <a:t>05</a:t>
            </a:r>
            <a:endParaRPr lang="en-US" sz="2000" dirty="0"/>
          </a:p>
        </p:txBody>
      </p:sp>
      <p:sp>
        <p:nvSpPr>
          <p:cNvPr id="119" name="Text 6"/>
          <p:cNvSpPr/>
          <p:nvPr/>
        </p:nvSpPr>
        <p:spPr>
          <a:xfrm>
            <a:off x="1600200" y="4254520"/>
            <a:ext cx="4160520" cy="365760"/>
          </a:xfrm>
          <a:prstGeom prst="rect">
            <a:avLst/>
          </a:prstGeom>
          <a:noFill/>
          <a:ln/>
        </p:spPr>
        <p:txBody>
          <a:bodyPr wrap="square" lIns="0" tIns="0" rIns="0" bIns="0" rtlCol="0" anchor="ctr"/>
          <a:lstStyle/>
          <a:p>
            <a:pPr marL="0" indent="0">
              <a:buNone/>
            </a:pPr>
            <a:r>
              <a:rPr lang="en-US" b="1" dirty="0">
                <a:solidFill>
                  <a:srgbClr val="FFFFFF"/>
                </a:solidFill>
                <a:latin typeface="Bookman Old Style" pitchFamily="34" charset="0"/>
                <a:ea typeface="Bookman Old Style" pitchFamily="34" charset="-122"/>
                <a:cs typeface="Bookman Old Style" pitchFamily="34" charset="-120"/>
              </a:rPr>
              <a:t>Do's and Don'ts</a:t>
            </a:r>
            <a:endParaRPr lang="en-US" dirty="0"/>
          </a:p>
        </p:txBody>
      </p:sp>
      <p:sp>
        <p:nvSpPr>
          <p:cNvPr id="120" name="Text 7"/>
          <p:cNvSpPr/>
          <p:nvPr/>
        </p:nvSpPr>
        <p:spPr>
          <a:xfrm>
            <a:off x="1600200" y="4638568"/>
            <a:ext cx="4160520" cy="548640"/>
          </a:xfrm>
          <a:prstGeom prst="rect">
            <a:avLst/>
          </a:prstGeom>
          <a:noFill/>
          <a:ln/>
        </p:spPr>
        <p:txBody>
          <a:bodyPr wrap="square" lIns="0" tIns="0" rIns="0" bIns="0" rtlCol="0" anchor="ctr"/>
          <a:lstStyle/>
          <a:p>
            <a:pPr marL="0" indent="0">
              <a:lnSpc>
                <a:spcPct val="115000"/>
              </a:lnSpc>
              <a:buNone/>
            </a:pPr>
            <a:r>
              <a:rPr lang="en-US" dirty="0">
                <a:solidFill>
                  <a:srgbClr val="A8A6A0"/>
                </a:solidFill>
                <a:latin typeface="Calibri" pitchFamily="34" charset="0"/>
                <a:ea typeface="Calibri" pitchFamily="34" charset="-122"/>
                <a:cs typeface="Calibri" pitchFamily="34" charset="-120"/>
              </a:rPr>
              <a:t>The quick-reference view</a:t>
            </a:r>
            <a:endParaRPr lang="en-US" dirty="0"/>
          </a:p>
        </p:txBody>
      </p:sp>
      <p:sp>
        <p:nvSpPr>
          <p:cNvPr id="121" name="Shape 4"/>
          <p:cNvSpPr/>
          <p:nvPr/>
        </p:nvSpPr>
        <p:spPr>
          <a:xfrm>
            <a:off x="6263640" y="4071640"/>
            <a:ext cx="5349240" cy="1100000"/>
          </a:xfrm>
          <a:prstGeom prst="roundRect">
            <a:avLst>
              <a:gd name="adj" fmla="val 8451"/>
            </a:avLst>
          </a:prstGeom>
          <a:solidFill>
            <a:srgbClr val="2A2A28"/>
          </a:solidFill>
          <a:ln/>
          <a:effectLst>
            <a:outerShdw blurRad="88900" dist="38100" dir="5400000" algn="bl" rotWithShape="0">
              <a:srgbClr val="000000">
                <a:alpha val="18000"/>
              </a:srgbClr>
            </a:outerShdw>
          </a:effectLst>
        </p:spPr>
        <p:txBody>
          <a:bodyPr/>
          <a:lstStyle/>
          <a:p>
            <a:endParaRPr lang="en-IN"/>
          </a:p>
        </p:txBody>
      </p:sp>
      <p:sp>
        <p:nvSpPr>
          <p:cNvPr id="122" name="Text 5"/>
          <p:cNvSpPr/>
          <p:nvPr/>
        </p:nvSpPr>
        <p:spPr>
          <a:xfrm>
            <a:off x="6492240" y="4236232"/>
            <a:ext cx="822960" cy="457200"/>
          </a:xfrm>
          <a:prstGeom prst="rect">
            <a:avLst/>
          </a:prstGeom>
          <a:noFill/>
          <a:ln/>
        </p:spPr>
        <p:txBody>
          <a:bodyPr wrap="square" lIns="0" tIns="0" rIns="0" bIns="0" rtlCol="0" anchor="ctr"/>
          <a:lstStyle/>
          <a:p>
            <a:pPr marL="0" indent="0">
              <a:buNone/>
            </a:pPr>
            <a:r>
              <a:rPr lang="en-US" sz="2000" b="1" dirty="0">
                <a:solidFill>
                  <a:srgbClr val="F07823"/>
                </a:solidFill>
                <a:latin typeface="Bookman Old Style" pitchFamily="34" charset="0"/>
                <a:ea typeface="Bookman Old Style" pitchFamily="34" charset="-122"/>
                <a:cs typeface="Bookman Old Style" pitchFamily="34" charset="-120"/>
              </a:rPr>
              <a:t>06</a:t>
            </a:r>
            <a:endParaRPr lang="en-US" sz="2000" dirty="0"/>
          </a:p>
        </p:txBody>
      </p:sp>
      <p:sp>
        <p:nvSpPr>
          <p:cNvPr id="123" name="Text 6"/>
          <p:cNvSpPr/>
          <p:nvPr/>
        </p:nvSpPr>
        <p:spPr>
          <a:xfrm>
            <a:off x="7223760" y="4254520"/>
            <a:ext cx="4160520" cy="365760"/>
          </a:xfrm>
          <a:prstGeom prst="rect">
            <a:avLst/>
          </a:prstGeom>
          <a:noFill/>
          <a:ln/>
        </p:spPr>
        <p:txBody>
          <a:bodyPr wrap="square" lIns="0" tIns="0" rIns="0" bIns="0" rtlCol="0" anchor="ctr"/>
          <a:lstStyle/>
          <a:p>
            <a:pPr marL="0" indent="0">
              <a:buNone/>
            </a:pPr>
            <a:r>
              <a:rPr lang="en-US" b="1" dirty="0">
                <a:solidFill>
                  <a:srgbClr val="FFFFFF"/>
                </a:solidFill>
                <a:latin typeface="Bookman Old Style" pitchFamily="34" charset="0"/>
                <a:ea typeface="Bookman Old Style" pitchFamily="34" charset="-122"/>
                <a:cs typeface="Bookman Old Style" pitchFamily="34" charset="-120"/>
              </a:rPr>
              <a:t>Compliance</a:t>
            </a:r>
            <a:endParaRPr lang="en-US" dirty="0"/>
          </a:p>
        </p:txBody>
      </p:sp>
      <p:sp>
        <p:nvSpPr>
          <p:cNvPr id="124" name="Text 7"/>
          <p:cNvSpPr/>
          <p:nvPr/>
        </p:nvSpPr>
        <p:spPr>
          <a:xfrm>
            <a:off x="7223760" y="4638568"/>
            <a:ext cx="4160520" cy="548640"/>
          </a:xfrm>
          <a:prstGeom prst="rect">
            <a:avLst/>
          </a:prstGeom>
          <a:noFill/>
          <a:ln/>
        </p:spPr>
        <p:txBody>
          <a:bodyPr wrap="square" lIns="0" tIns="0" rIns="0" bIns="0" rtlCol="0" anchor="ctr"/>
          <a:lstStyle/>
          <a:p>
            <a:pPr marL="0" indent="0">
              <a:lnSpc>
                <a:spcPct val="115000"/>
              </a:lnSpc>
              <a:buNone/>
            </a:pPr>
            <a:r>
              <a:rPr lang="en-US" dirty="0">
                <a:solidFill>
                  <a:srgbClr val="A8A6A0"/>
                </a:solidFill>
                <a:latin typeface="Calibri" pitchFamily="34" charset="0"/>
                <a:ea typeface="Calibri" pitchFamily="34" charset="-122"/>
                <a:cs typeface="Calibri" pitchFamily="34" charset="-120"/>
              </a:rPr>
              <a:t>What's expected of you</a:t>
            </a:r>
            <a:endParaRPr lang="en-US" dirty="0"/>
          </a:p>
        </p:txBody>
      </p:sp>
      <p:sp>
        <p:nvSpPr>
          <p:cNvPr id="125" name="Shape 4"/>
          <p:cNvSpPr/>
          <p:nvPr/>
        </p:nvSpPr>
        <p:spPr>
          <a:xfrm>
            <a:off x="640080" y="5261640"/>
            <a:ext cx="5349240" cy="1100000"/>
          </a:xfrm>
          <a:prstGeom prst="roundRect">
            <a:avLst>
              <a:gd name="adj" fmla="val 8451"/>
            </a:avLst>
          </a:prstGeom>
          <a:solidFill>
            <a:srgbClr val="2A2A28"/>
          </a:solidFill>
          <a:ln/>
          <a:effectLst>
            <a:outerShdw blurRad="88900" dist="38100" dir="5400000" algn="bl" rotWithShape="0">
              <a:srgbClr val="000000">
                <a:alpha val="18000"/>
              </a:srgbClr>
            </a:outerShdw>
          </a:effectLst>
        </p:spPr>
        <p:txBody>
          <a:bodyPr/>
          <a:lstStyle/>
          <a:p>
            <a:endParaRPr lang="en-IN"/>
          </a:p>
        </p:txBody>
      </p:sp>
      <p:sp>
        <p:nvSpPr>
          <p:cNvPr id="126" name="Text 5"/>
          <p:cNvSpPr/>
          <p:nvPr/>
        </p:nvSpPr>
        <p:spPr>
          <a:xfrm>
            <a:off x="868680" y="5426232"/>
            <a:ext cx="822960" cy="457200"/>
          </a:xfrm>
          <a:prstGeom prst="rect">
            <a:avLst/>
          </a:prstGeom>
          <a:noFill/>
          <a:ln/>
        </p:spPr>
        <p:txBody>
          <a:bodyPr wrap="square" lIns="0" tIns="0" rIns="0" bIns="0" rtlCol="0" anchor="ctr"/>
          <a:lstStyle/>
          <a:p>
            <a:pPr marL="0" indent="0">
              <a:buNone/>
            </a:pPr>
            <a:r>
              <a:rPr lang="en-US" sz="2000" b="1" dirty="0">
                <a:solidFill>
                  <a:srgbClr val="F07823"/>
                </a:solidFill>
                <a:latin typeface="Bookman Old Style" pitchFamily="34" charset="0"/>
                <a:ea typeface="Bookman Old Style" pitchFamily="34" charset="-122"/>
                <a:cs typeface="Bookman Old Style" pitchFamily="34" charset="-120"/>
              </a:rPr>
              <a:t>07</a:t>
            </a:r>
            <a:endParaRPr lang="en-US" sz="2000" dirty="0"/>
          </a:p>
        </p:txBody>
      </p:sp>
      <p:sp>
        <p:nvSpPr>
          <p:cNvPr id="127" name="Text 6"/>
          <p:cNvSpPr/>
          <p:nvPr/>
        </p:nvSpPr>
        <p:spPr>
          <a:xfrm>
            <a:off x="1600200" y="5444520"/>
            <a:ext cx="4160520" cy="365760"/>
          </a:xfrm>
          <a:prstGeom prst="rect">
            <a:avLst/>
          </a:prstGeom>
          <a:noFill/>
          <a:ln/>
        </p:spPr>
        <p:txBody>
          <a:bodyPr wrap="square" lIns="0" tIns="0" rIns="0" bIns="0" rtlCol="0" anchor="ctr"/>
          <a:lstStyle/>
          <a:p>
            <a:pPr marL="0" indent="0">
              <a:buNone/>
            </a:pPr>
            <a:r>
              <a:rPr lang="en-US" b="1" dirty="0">
                <a:solidFill>
                  <a:srgbClr val="FFFFFF"/>
                </a:solidFill>
                <a:latin typeface="Bookman Old Style" pitchFamily="34" charset="0"/>
                <a:ea typeface="Bookman Old Style" pitchFamily="34" charset="-122"/>
                <a:cs typeface="Bookman Old Style" pitchFamily="34" charset="-120"/>
              </a:rPr>
              <a:t>Corrective Measures</a:t>
            </a:r>
            <a:endParaRPr lang="en-US" dirty="0"/>
          </a:p>
        </p:txBody>
      </p:sp>
      <p:sp>
        <p:nvSpPr>
          <p:cNvPr id="128" name="Text 7"/>
          <p:cNvSpPr/>
          <p:nvPr/>
        </p:nvSpPr>
        <p:spPr>
          <a:xfrm>
            <a:off x="1600200" y="5828568"/>
            <a:ext cx="4160520" cy="548640"/>
          </a:xfrm>
          <a:prstGeom prst="rect">
            <a:avLst/>
          </a:prstGeom>
          <a:noFill/>
          <a:ln/>
        </p:spPr>
        <p:txBody>
          <a:bodyPr wrap="square" lIns="0" tIns="0" rIns="0" bIns="0" rtlCol="0" anchor="ctr"/>
          <a:lstStyle/>
          <a:p>
            <a:pPr marL="0" indent="0">
              <a:lnSpc>
                <a:spcPct val="115000"/>
              </a:lnSpc>
              <a:buNone/>
            </a:pPr>
            <a:r>
              <a:rPr lang="en-US" dirty="0">
                <a:solidFill>
                  <a:srgbClr val="A8A6A0"/>
                </a:solidFill>
                <a:latin typeface="Calibri" pitchFamily="34" charset="0"/>
                <a:ea typeface="Calibri" pitchFamily="34" charset="-122"/>
                <a:cs typeface="Calibri" pitchFamily="34" charset="-120"/>
              </a:rPr>
              <a:t>Upholding the brand's image</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F1F1F"/>
        </a:solidFill>
        <a:effectLst/>
      </p:bgPr>
    </p:bg>
    <p:spTree>
      <p:nvGrpSpPr>
        <p:cNvPr id="1" name=""/>
        <p:cNvGrpSpPr/>
        <p:nvPr/>
      </p:nvGrpSpPr>
      <p:grpSpPr>
        <a:xfrm>
          <a:off x="0" y="0"/>
          <a:ext cx="0" cy="0"/>
          <a:chOff x="0" y="0"/>
          <a:chExt cx="0" cy="0"/>
        </a:xfrm>
      </p:grpSpPr>
      <p:sp>
        <p:nvSpPr>
          <p:cNvPr id="2" name="Shape 0"/>
          <p:cNvSpPr/>
          <p:nvPr/>
        </p:nvSpPr>
        <p:spPr>
          <a:xfrm>
            <a:off x="10149840" y="-1920240"/>
            <a:ext cx="4206240" cy="4206240"/>
          </a:xfrm>
          <a:prstGeom prst="ellipse">
            <a:avLst/>
          </a:prstGeom>
          <a:solidFill>
            <a:srgbClr val="3A3835">
              <a:alpha val="65000"/>
            </a:srgbClr>
          </a:solidFill>
          <a:ln/>
        </p:spPr>
        <p:txBody>
          <a:bodyPr/>
          <a:lstStyle/>
          <a:p>
            <a:endParaRPr lang="en-IN"/>
          </a:p>
        </p:txBody>
      </p:sp>
      <p:sp>
        <p:nvSpPr>
          <p:cNvPr id="3" name="Shape 1"/>
          <p:cNvSpPr/>
          <p:nvPr/>
        </p:nvSpPr>
        <p:spPr>
          <a:xfrm>
            <a:off x="-1463040" y="5394960"/>
            <a:ext cx="3108960" cy="3108960"/>
          </a:xfrm>
          <a:prstGeom prst="ellipse">
            <a:avLst/>
          </a:prstGeom>
          <a:solidFill>
            <a:srgbClr val="3A3835">
              <a:alpha val="65000"/>
            </a:srgbClr>
          </a:solidFill>
          <a:ln/>
        </p:spPr>
        <p:txBody>
          <a:bodyPr/>
          <a:lstStyle/>
          <a:p>
            <a:endParaRPr lang="en-IN"/>
          </a:p>
        </p:txBody>
      </p:sp>
      <p:sp>
        <p:nvSpPr>
          <p:cNvPr id="4" name="Text 2"/>
          <p:cNvSpPr/>
          <p:nvPr/>
        </p:nvSpPr>
        <p:spPr>
          <a:xfrm>
            <a:off x="640080" y="457200"/>
            <a:ext cx="8229600" cy="274320"/>
          </a:xfrm>
          <a:prstGeom prst="rect">
            <a:avLst/>
          </a:prstGeom>
          <a:noFill/>
          <a:ln/>
        </p:spPr>
        <p:txBody>
          <a:bodyPr wrap="square" lIns="0" tIns="0" rIns="0" bIns="0" rtlCol="0" anchor="ctr"/>
          <a:lstStyle/>
          <a:p>
            <a:pPr marL="0" indent="0">
              <a:buNone/>
            </a:pPr>
            <a:r>
              <a:rPr lang="en-US" sz="1600" b="1" kern="0" spc="240" dirty="0">
                <a:solidFill>
                  <a:srgbClr val="F07823"/>
                </a:solidFill>
                <a:latin typeface="Calibri" pitchFamily="34" charset="0"/>
                <a:ea typeface="Calibri" pitchFamily="34" charset="-122"/>
                <a:cs typeface="Calibri" pitchFamily="34" charset="-120"/>
              </a:rPr>
              <a:t>OUR PHILOSOPHY</a:t>
            </a:r>
            <a:endParaRPr lang="en-US" sz="1600" dirty="0"/>
          </a:p>
        </p:txBody>
      </p:sp>
      <p:sp>
        <p:nvSpPr>
          <p:cNvPr id="5" name="Text 3"/>
          <p:cNvSpPr/>
          <p:nvPr/>
        </p:nvSpPr>
        <p:spPr>
          <a:xfrm>
            <a:off x="640080" y="749808"/>
            <a:ext cx="10881360" cy="777240"/>
          </a:xfrm>
          <a:prstGeom prst="rect">
            <a:avLst/>
          </a:prstGeom>
          <a:noFill/>
          <a:ln/>
        </p:spPr>
        <p:txBody>
          <a:bodyPr wrap="square" lIns="0" tIns="0" rIns="0" bIns="0" rtlCol="0" anchor="ctr"/>
          <a:lstStyle/>
          <a:p>
            <a:pPr marL="0" indent="0">
              <a:buNone/>
            </a:pPr>
            <a:r>
              <a:rPr lang="en-US" sz="3000" b="1" dirty="0">
                <a:solidFill>
                  <a:srgbClr val="FFFFFF"/>
                </a:solidFill>
                <a:latin typeface="Bookman Old Style" pitchFamily="34" charset="0"/>
                <a:ea typeface="Bookman Old Style" pitchFamily="34" charset="-122"/>
                <a:cs typeface="Bookman Old Style" pitchFamily="34" charset="-120"/>
              </a:rPr>
              <a:t>Why the Dress Code Matters at SUNROOOF</a:t>
            </a:r>
            <a:endParaRPr lang="en-US" sz="3000" dirty="0"/>
          </a:p>
        </p:txBody>
      </p:sp>
      <p:sp>
        <p:nvSpPr>
          <p:cNvPr id="6" name="Shape 4"/>
          <p:cNvSpPr/>
          <p:nvPr/>
        </p:nvSpPr>
        <p:spPr>
          <a:xfrm>
            <a:off x="640080" y="1691640"/>
            <a:ext cx="6537960" cy="4343400"/>
          </a:xfrm>
          <a:prstGeom prst="roundRect">
            <a:avLst>
              <a:gd name="adj" fmla="val 2526"/>
            </a:avLst>
          </a:prstGeom>
          <a:solidFill>
            <a:srgbClr val="2A2A28"/>
          </a:solidFill>
          <a:ln/>
          <a:effectLst>
            <a:outerShdw blurRad="88900" dist="38100" dir="5400000" algn="bl" rotWithShape="0">
              <a:srgbClr val="000000">
                <a:alpha val="18000"/>
              </a:srgbClr>
            </a:outerShdw>
          </a:effectLst>
        </p:spPr>
        <p:txBody>
          <a:bodyPr/>
          <a:lstStyle/>
          <a:p>
            <a:endParaRPr lang="en-IN"/>
          </a:p>
        </p:txBody>
      </p:sp>
      <p:sp>
        <p:nvSpPr>
          <p:cNvPr id="7" name="Text 5"/>
          <p:cNvSpPr/>
          <p:nvPr/>
        </p:nvSpPr>
        <p:spPr>
          <a:xfrm>
            <a:off x="960120" y="1874520"/>
            <a:ext cx="914400" cy="685800"/>
          </a:xfrm>
          <a:prstGeom prst="rect">
            <a:avLst/>
          </a:prstGeom>
          <a:noFill/>
          <a:ln/>
        </p:spPr>
        <p:txBody>
          <a:bodyPr wrap="square" lIns="0" tIns="0" rIns="0" bIns="0" rtlCol="0" anchor="ctr"/>
          <a:lstStyle/>
          <a:p>
            <a:pPr marL="0" indent="0">
              <a:buNone/>
            </a:pPr>
            <a:r>
              <a:rPr lang="en-US" sz="5000" b="1" dirty="0">
                <a:solidFill>
                  <a:srgbClr val="F07823"/>
                </a:solidFill>
                <a:latin typeface="Bookman Old Style" pitchFamily="34" charset="0"/>
                <a:ea typeface="Bookman Old Style" pitchFamily="34" charset="-122"/>
                <a:cs typeface="Bookman Old Style" pitchFamily="34" charset="-120"/>
              </a:rPr>
              <a:t>“</a:t>
            </a:r>
            <a:endParaRPr lang="en-US" sz="5000" dirty="0"/>
          </a:p>
        </p:txBody>
      </p:sp>
      <p:sp>
        <p:nvSpPr>
          <p:cNvPr id="8" name="Text 6"/>
          <p:cNvSpPr/>
          <p:nvPr/>
        </p:nvSpPr>
        <p:spPr>
          <a:xfrm>
            <a:off x="1005840" y="2331720"/>
            <a:ext cx="5852160" cy="1417320"/>
          </a:xfrm>
          <a:prstGeom prst="rect">
            <a:avLst/>
          </a:prstGeom>
          <a:noFill/>
          <a:ln/>
        </p:spPr>
        <p:txBody>
          <a:bodyPr wrap="square" lIns="0" tIns="0" rIns="0" bIns="0" rtlCol="0" anchor="t"/>
          <a:lstStyle/>
          <a:p>
            <a:pPr marL="0" indent="0">
              <a:lnSpc>
                <a:spcPct val="120000"/>
              </a:lnSpc>
              <a:buNone/>
            </a:pPr>
            <a:r>
              <a:rPr lang="en-US" sz="2000" i="1" dirty="0">
                <a:solidFill>
                  <a:srgbClr val="FFFFFF"/>
                </a:solidFill>
                <a:latin typeface="Bookman Old Style" pitchFamily="34" charset="0"/>
                <a:ea typeface="Bookman Old Style" pitchFamily="34" charset="-122"/>
                <a:cs typeface="Bookman Old Style" pitchFamily="34" charset="-120"/>
              </a:rPr>
              <a:t>Our workplace environment should reflect professionalism, mutual respect, and comfort for everyone.</a:t>
            </a:r>
            <a:endParaRPr lang="en-US" sz="2000" dirty="0"/>
          </a:p>
        </p:txBody>
      </p:sp>
      <p:sp>
        <p:nvSpPr>
          <p:cNvPr id="10" name="Text 8"/>
          <p:cNvSpPr/>
          <p:nvPr/>
        </p:nvSpPr>
        <p:spPr>
          <a:xfrm>
            <a:off x="1005840" y="4091940"/>
            <a:ext cx="5897880" cy="1600200"/>
          </a:xfrm>
          <a:prstGeom prst="rect">
            <a:avLst/>
          </a:prstGeom>
          <a:noFill/>
          <a:ln/>
        </p:spPr>
        <p:txBody>
          <a:bodyPr wrap="square" lIns="0" tIns="0" rIns="0" bIns="0" rtlCol="0" anchor="t"/>
          <a:lstStyle/>
          <a:p>
            <a:pPr>
              <a:lnSpc>
                <a:spcPct val="128000"/>
              </a:lnSpc>
            </a:pPr>
            <a:r>
              <a:rPr lang="en-IN" sz="1600" dirty="0">
                <a:solidFill>
                  <a:srgbClr val="E8E6E1"/>
                </a:solidFill>
              </a:rPr>
              <a:t>At SUNROOOF, every interaction is a reflection of who we are a luxury brand built on precision, care, and comfort. Our dress code isn't about restricting who you are; it's simply an extension of the same elegance and comfort we promise every client, worn by the people who bring it to life.</a:t>
            </a:r>
            <a:endParaRPr lang="en-US" sz="1600" dirty="0">
              <a:solidFill>
                <a:srgbClr val="A8A6A0"/>
              </a:solidFill>
            </a:endParaRPr>
          </a:p>
        </p:txBody>
      </p:sp>
      <p:sp>
        <p:nvSpPr>
          <p:cNvPr id="24" name="Shape 19"/>
          <p:cNvSpPr/>
          <p:nvPr/>
        </p:nvSpPr>
        <p:spPr>
          <a:xfrm>
            <a:off x="10140696" y="6579108"/>
            <a:ext cx="60350" cy="60350"/>
          </a:xfrm>
          <a:prstGeom prst="ellipse">
            <a:avLst/>
          </a:prstGeom>
          <a:solidFill>
            <a:srgbClr val="5C5B58"/>
          </a:solidFill>
          <a:ln/>
        </p:spPr>
        <p:txBody>
          <a:bodyPr/>
          <a:lstStyle/>
          <a:p>
            <a:endParaRPr lang="en-IN"/>
          </a:p>
        </p:txBody>
      </p:sp>
      <p:sp>
        <p:nvSpPr>
          <p:cNvPr id="25" name="Shape 20"/>
          <p:cNvSpPr/>
          <p:nvPr/>
        </p:nvSpPr>
        <p:spPr>
          <a:xfrm>
            <a:off x="10323576" y="6579108"/>
            <a:ext cx="60350" cy="60350"/>
          </a:xfrm>
          <a:prstGeom prst="ellipse">
            <a:avLst/>
          </a:prstGeom>
          <a:solidFill>
            <a:srgbClr val="5C5B58"/>
          </a:solidFill>
          <a:ln/>
        </p:spPr>
        <p:txBody>
          <a:bodyPr/>
          <a:lstStyle/>
          <a:p>
            <a:endParaRPr lang="en-IN"/>
          </a:p>
        </p:txBody>
      </p:sp>
      <p:sp>
        <p:nvSpPr>
          <p:cNvPr id="26" name="Shape 21"/>
          <p:cNvSpPr/>
          <p:nvPr/>
        </p:nvSpPr>
        <p:spPr>
          <a:xfrm>
            <a:off x="10506456" y="6556248"/>
            <a:ext cx="118872" cy="118872"/>
          </a:xfrm>
          <a:prstGeom prst="ellipse">
            <a:avLst/>
          </a:prstGeom>
          <a:solidFill>
            <a:srgbClr val="F07823"/>
          </a:solidFill>
          <a:ln/>
        </p:spPr>
        <p:txBody>
          <a:bodyPr/>
          <a:lstStyle/>
          <a:p>
            <a:endParaRPr lang="en-IN"/>
          </a:p>
        </p:txBody>
      </p:sp>
      <p:sp>
        <p:nvSpPr>
          <p:cNvPr id="27" name="Shape 22"/>
          <p:cNvSpPr/>
          <p:nvPr/>
        </p:nvSpPr>
        <p:spPr>
          <a:xfrm>
            <a:off x="10689336" y="6579108"/>
            <a:ext cx="60350" cy="60350"/>
          </a:xfrm>
          <a:prstGeom prst="ellipse">
            <a:avLst/>
          </a:prstGeom>
          <a:solidFill>
            <a:srgbClr val="5C5B58"/>
          </a:solidFill>
          <a:ln/>
        </p:spPr>
        <p:txBody>
          <a:bodyPr/>
          <a:lstStyle/>
          <a:p>
            <a:endParaRPr lang="en-IN"/>
          </a:p>
        </p:txBody>
      </p:sp>
      <p:sp>
        <p:nvSpPr>
          <p:cNvPr id="28" name="Shape 23"/>
          <p:cNvSpPr/>
          <p:nvPr/>
        </p:nvSpPr>
        <p:spPr>
          <a:xfrm>
            <a:off x="10872216" y="6579108"/>
            <a:ext cx="60350" cy="60350"/>
          </a:xfrm>
          <a:prstGeom prst="ellipse">
            <a:avLst/>
          </a:prstGeom>
          <a:solidFill>
            <a:srgbClr val="5C5B58"/>
          </a:solidFill>
          <a:ln/>
        </p:spPr>
        <p:txBody>
          <a:bodyPr/>
          <a:lstStyle/>
          <a:p>
            <a:endParaRPr lang="en-IN"/>
          </a:p>
        </p:txBody>
      </p:sp>
      <p:sp>
        <p:nvSpPr>
          <p:cNvPr id="29" name="Shape 24"/>
          <p:cNvSpPr/>
          <p:nvPr/>
        </p:nvSpPr>
        <p:spPr>
          <a:xfrm>
            <a:off x="11055096" y="6579108"/>
            <a:ext cx="60350" cy="60350"/>
          </a:xfrm>
          <a:prstGeom prst="ellipse">
            <a:avLst/>
          </a:prstGeom>
          <a:solidFill>
            <a:srgbClr val="5C5B58"/>
          </a:solidFill>
          <a:ln/>
        </p:spPr>
        <p:txBody>
          <a:bodyPr/>
          <a:lstStyle/>
          <a:p>
            <a:endParaRPr lang="en-IN"/>
          </a:p>
        </p:txBody>
      </p:sp>
      <p:sp>
        <p:nvSpPr>
          <p:cNvPr id="30" name="Shape 25"/>
          <p:cNvSpPr/>
          <p:nvPr/>
        </p:nvSpPr>
        <p:spPr>
          <a:xfrm>
            <a:off x="11237976" y="6579108"/>
            <a:ext cx="60350" cy="60350"/>
          </a:xfrm>
          <a:prstGeom prst="ellipse">
            <a:avLst/>
          </a:prstGeom>
          <a:solidFill>
            <a:srgbClr val="5C5B58"/>
          </a:solidFill>
          <a:ln/>
        </p:spPr>
        <p:txBody>
          <a:bodyPr/>
          <a:lstStyle/>
          <a:p>
            <a:endParaRPr lang="en-IN"/>
          </a:p>
        </p:txBody>
      </p:sp>
      <p:sp>
        <p:nvSpPr>
          <p:cNvPr id="31" name="Shape 26"/>
          <p:cNvSpPr/>
          <p:nvPr/>
        </p:nvSpPr>
        <p:spPr>
          <a:xfrm>
            <a:off x="11420856" y="6579108"/>
            <a:ext cx="60350" cy="60350"/>
          </a:xfrm>
          <a:prstGeom prst="ellipse">
            <a:avLst/>
          </a:prstGeom>
          <a:solidFill>
            <a:srgbClr val="5C5B58"/>
          </a:solidFill>
          <a:ln/>
        </p:spPr>
        <p:txBody>
          <a:bodyPr/>
          <a:lstStyle/>
          <a:p>
            <a:endParaRPr lang="en-IN"/>
          </a:p>
        </p:txBody>
      </p:sp>
      <p:sp>
        <p:nvSpPr>
          <p:cNvPr id="32" name="Shape 27"/>
          <p:cNvSpPr/>
          <p:nvPr/>
        </p:nvSpPr>
        <p:spPr>
          <a:xfrm>
            <a:off x="11603736" y="6579108"/>
            <a:ext cx="60350" cy="60350"/>
          </a:xfrm>
          <a:prstGeom prst="ellipse">
            <a:avLst/>
          </a:prstGeom>
          <a:solidFill>
            <a:srgbClr val="5C5B58"/>
          </a:solidFill>
          <a:ln/>
        </p:spPr>
        <p:txBody>
          <a:bodyPr/>
          <a:lstStyle/>
          <a:p>
            <a:endParaRPr lang="en-IN"/>
          </a:p>
        </p:txBody>
      </p:sp>
      <p:sp>
        <p:nvSpPr>
          <p:cNvPr id="33" name="Shape 28"/>
          <p:cNvSpPr/>
          <p:nvPr/>
        </p:nvSpPr>
        <p:spPr>
          <a:xfrm>
            <a:off x="11786616" y="6579108"/>
            <a:ext cx="60350" cy="60350"/>
          </a:xfrm>
          <a:prstGeom prst="ellipse">
            <a:avLst/>
          </a:prstGeom>
          <a:solidFill>
            <a:srgbClr val="5C5B58"/>
          </a:solidFill>
          <a:ln/>
        </p:spPr>
        <p:txBody>
          <a:bodyPr/>
          <a:lstStyle/>
          <a:p>
            <a:endParaRPr lang="en-IN"/>
          </a:p>
        </p:txBody>
      </p:sp>
      <p:sp>
        <p:nvSpPr>
          <p:cNvPr id="34" name="Rounded Rectangle 33"/>
          <p:cNvSpPr/>
          <p:nvPr/>
        </p:nvSpPr>
        <p:spPr>
          <a:xfrm>
            <a:off x="7478040" y="1691640"/>
            <a:ext cx="4073880" cy="4343400"/>
          </a:xfrm>
          <a:prstGeom prst="roundRect">
            <a:avLst>
              <a:gd name="adj" fmla="val 4500"/>
            </a:avLst>
          </a:prstGeom>
          <a:solidFill>
            <a:srgbClr val="403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7778040" y="1971640"/>
            <a:ext cx="685800" cy="685800"/>
          </a:xfrm>
          <a:prstGeom prst="ellipse">
            <a:avLst/>
          </a:prstGeom>
          <a:solidFill>
            <a:srgbClr val="F078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6" name="Picture 35" descr="icon_bulb.png"/>
          <p:cNvPicPr>
            <a:picLocks noChangeAspect="1"/>
          </p:cNvPicPr>
          <p:nvPr/>
        </p:nvPicPr>
        <p:blipFill>
          <a:blip r:embed="rId3"/>
          <a:stretch>
            <a:fillRect/>
          </a:stretch>
        </p:blipFill>
        <p:spPr>
          <a:xfrm>
            <a:off x="7928040" y="2121640"/>
            <a:ext cx="385800" cy="385800"/>
          </a:xfrm>
          <a:prstGeom prst="rect">
            <a:avLst/>
          </a:prstGeom>
        </p:spPr>
      </p:pic>
      <p:sp>
        <p:nvSpPr>
          <p:cNvPr id="37" name="TextBox 36"/>
          <p:cNvSpPr txBox="1"/>
          <p:nvPr/>
        </p:nvSpPr>
        <p:spPr>
          <a:xfrm>
            <a:off x="7778040" y="2777440"/>
            <a:ext cx="3473880" cy="500000"/>
          </a:xfrm>
          <a:prstGeom prst="rect">
            <a:avLst/>
          </a:prstGeom>
          <a:noFill/>
        </p:spPr>
        <p:txBody>
          <a:bodyPr wrap="square">
            <a:spAutoFit/>
          </a:bodyPr>
          <a:lstStyle/>
          <a:p>
            <a:r>
              <a:rPr sz="2200" b="1">
                <a:solidFill>
                  <a:srgbClr val="FFFFFF"/>
                </a:solidFill>
                <a:latin typeface="Bookman Old Style"/>
              </a:rPr>
              <a:t>Why It Matters</a:t>
            </a:r>
          </a:p>
        </p:txBody>
      </p:sp>
      <p:sp>
        <p:nvSpPr>
          <p:cNvPr id="38" name="TextBox 37"/>
          <p:cNvSpPr txBox="1"/>
          <p:nvPr/>
        </p:nvSpPr>
        <p:spPr>
          <a:xfrm>
            <a:off x="7778040" y="3337440"/>
            <a:ext cx="3473880" cy="1528624"/>
          </a:xfrm>
          <a:prstGeom prst="rect">
            <a:avLst/>
          </a:prstGeom>
          <a:noFill/>
        </p:spPr>
        <p:txBody>
          <a:bodyPr wrap="square">
            <a:spAutoFit/>
          </a:bodyPr>
          <a:lstStyle/>
          <a:p>
            <a:pPr>
              <a:spcAft>
                <a:spcPts val="1400"/>
              </a:spcAft>
            </a:pPr>
            <a:r>
              <a:rPr sz="1400" dirty="0">
                <a:solidFill>
                  <a:srgbClr val="F0EEE8"/>
                </a:solidFill>
                <a:latin typeface="Calibri"/>
              </a:rPr>
              <a:t>•  Builds trust with every client interaction</a:t>
            </a:r>
          </a:p>
          <a:p>
            <a:pPr>
              <a:spcAft>
                <a:spcPts val="1400"/>
              </a:spcAft>
            </a:pPr>
            <a:r>
              <a:rPr sz="1400" dirty="0">
                <a:solidFill>
                  <a:srgbClr val="F0EEE8"/>
                </a:solidFill>
                <a:latin typeface="Calibri"/>
              </a:rPr>
              <a:t>•  Reflects your own professionalism and confidence</a:t>
            </a:r>
          </a:p>
          <a:p>
            <a:pPr>
              <a:spcAft>
                <a:spcPts val="1400"/>
              </a:spcAft>
            </a:pPr>
            <a:r>
              <a:rPr sz="1400" dirty="0">
                <a:solidFill>
                  <a:srgbClr val="F0EEE8"/>
                </a:solidFill>
                <a:latin typeface="Calibri"/>
              </a:rPr>
              <a:t>•  Protects the reputation you and </a:t>
            </a:r>
            <a:r>
              <a:rPr lang="en-IN" sz="1400" dirty="0">
                <a:solidFill>
                  <a:srgbClr val="F0EEE8"/>
                </a:solidFill>
                <a:latin typeface="Calibri"/>
              </a:rPr>
              <a:t>SUNROOOF</a:t>
            </a:r>
            <a:r>
              <a:rPr sz="1400" dirty="0">
                <a:solidFill>
                  <a:srgbClr val="F0EEE8"/>
                </a:solidFill>
                <a:latin typeface="Calibri"/>
              </a:rPr>
              <a:t> share</a:t>
            </a:r>
          </a:p>
        </p:txBody>
      </p:sp>
      <p:sp>
        <p:nvSpPr>
          <p:cNvPr id="39" name="TextBox 38"/>
          <p:cNvSpPr txBox="1"/>
          <p:nvPr/>
        </p:nvSpPr>
        <p:spPr>
          <a:xfrm>
            <a:off x="7778040" y="5475040"/>
            <a:ext cx="3473880" cy="460000"/>
          </a:xfrm>
          <a:prstGeom prst="rect">
            <a:avLst/>
          </a:prstGeom>
          <a:noFill/>
        </p:spPr>
        <p:txBody>
          <a:bodyPr wrap="square">
            <a:spAutoFit/>
          </a:bodyPr>
          <a:lstStyle/>
          <a:p>
            <a:r>
              <a:rPr sz="1200" i="1" dirty="0">
                <a:solidFill>
                  <a:srgbClr val="F07823"/>
                </a:solidFill>
                <a:latin typeface="Calibri"/>
              </a:rPr>
              <a:t>Culture isn't just what we say — it's what we choose to wear, every single day.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F1F1F"/>
        </a:solidFill>
        <a:effectLst/>
      </p:bgPr>
    </p:bg>
    <p:spTree>
      <p:nvGrpSpPr>
        <p:cNvPr id="1" name=""/>
        <p:cNvGrpSpPr/>
        <p:nvPr/>
      </p:nvGrpSpPr>
      <p:grpSpPr>
        <a:xfrm>
          <a:off x="0" y="0"/>
          <a:ext cx="0" cy="0"/>
          <a:chOff x="0" y="0"/>
          <a:chExt cx="0" cy="0"/>
        </a:xfrm>
      </p:grpSpPr>
      <p:sp>
        <p:nvSpPr>
          <p:cNvPr id="2" name="Shape 0"/>
          <p:cNvSpPr/>
          <p:nvPr/>
        </p:nvSpPr>
        <p:spPr>
          <a:xfrm>
            <a:off x="10149840" y="-1920240"/>
            <a:ext cx="4206240" cy="4206240"/>
          </a:xfrm>
          <a:prstGeom prst="ellipse">
            <a:avLst/>
          </a:prstGeom>
          <a:solidFill>
            <a:srgbClr val="3A3835">
              <a:alpha val="65000"/>
            </a:srgbClr>
          </a:solidFill>
          <a:ln/>
        </p:spPr>
        <p:txBody>
          <a:bodyPr/>
          <a:lstStyle/>
          <a:p>
            <a:endParaRPr lang="en-IN"/>
          </a:p>
        </p:txBody>
      </p:sp>
      <p:sp>
        <p:nvSpPr>
          <p:cNvPr id="3" name="Shape 1"/>
          <p:cNvSpPr/>
          <p:nvPr/>
        </p:nvSpPr>
        <p:spPr>
          <a:xfrm>
            <a:off x="-1463040" y="5394960"/>
            <a:ext cx="3108960" cy="3108960"/>
          </a:xfrm>
          <a:prstGeom prst="ellipse">
            <a:avLst/>
          </a:prstGeom>
          <a:solidFill>
            <a:srgbClr val="3A3835">
              <a:alpha val="65000"/>
            </a:srgbClr>
          </a:solidFill>
          <a:ln/>
        </p:spPr>
        <p:txBody>
          <a:bodyPr/>
          <a:lstStyle/>
          <a:p>
            <a:endParaRPr lang="en-IN"/>
          </a:p>
        </p:txBody>
      </p:sp>
      <p:sp>
        <p:nvSpPr>
          <p:cNvPr id="5" name="Text 3"/>
          <p:cNvSpPr/>
          <p:nvPr/>
        </p:nvSpPr>
        <p:spPr>
          <a:xfrm>
            <a:off x="640080" y="749808"/>
            <a:ext cx="10881360" cy="777240"/>
          </a:xfrm>
          <a:prstGeom prst="rect">
            <a:avLst/>
          </a:prstGeom>
          <a:noFill/>
          <a:ln/>
        </p:spPr>
        <p:txBody>
          <a:bodyPr wrap="square" lIns="0" tIns="0" rIns="0" bIns="0" rtlCol="0" anchor="ctr"/>
          <a:lstStyle/>
          <a:p>
            <a:pPr marL="0" indent="0">
              <a:buNone/>
            </a:pPr>
            <a:r>
              <a:rPr lang="en-US" sz="3000" b="1" dirty="0">
                <a:solidFill>
                  <a:srgbClr val="FFFFFF"/>
                </a:solidFill>
                <a:latin typeface="Bookman Old Style" pitchFamily="34" charset="0"/>
                <a:ea typeface="Bookman Old Style" pitchFamily="34" charset="-122"/>
                <a:cs typeface="Bookman Old Style" pitchFamily="34" charset="-120"/>
              </a:rPr>
              <a:t>General Principles — for Every Team Member</a:t>
            </a:r>
            <a:endParaRPr lang="en-US" sz="3000" dirty="0"/>
          </a:p>
        </p:txBody>
      </p:sp>
      <p:sp>
        <p:nvSpPr>
          <p:cNvPr id="6" name="Shape 4"/>
          <p:cNvSpPr/>
          <p:nvPr/>
        </p:nvSpPr>
        <p:spPr>
          <a:xfrm>
            <a:off x="640080" y="1691640"/>
            <a:ext cx="5349240" cy="1847088"/>
          </a:xfrm>
          <a:prstGeom prst="roundRect">
            <a:avLst>
              <a:gd name="adj" fmla="val 5941"/>
            </a:avLst>
          </a:prstGeom>
          <a:solidFill>
            <a:srgbClr val="2A2A28"/>
          </a:solidFill>
          <a:ln/>
          <a:effectLst>
            <a:outerShdw blurRad="88900" dist="38100" dir="5400000" algn="bl" rotWithShape="0">
              <a:srgbClr val="000000">
                <a:alpha val="18000"/>
              </a:srgbClr>
            </a:outerShdw>
          </a:effectLst>
        </p:spPr>
        <p:txBody>
          <a:bodyPr/>
          <a:lstStyle/>
          <a:p>
            <a:endParaRPr lang="en-IN"/>
          </a:p>
        </p:txBody>
      </p:sp>
      <p:sp>
        <p:nvSpPr>
          <p:cNvPr id="7" name="Shape 5"/>
          <p:cNvSpPr/>
          <p:nvPr/>
        </p:nvSpPr>
        <p:spPr>
          <a:xfrm>
            <a:off x="850392" y="1920240"/>
            <a:ext cx="813816" cy="813816"/>
          </a:xfrm>
          <a:prstGeom prst="ellipse">
            <a:avLst/>
          </a:prstGeom>
          <a:ln w="15875">
            <a:solidFill>
              <a:srgbClr val="F07823"/>
            </a:solidFill>
            <a:prstDash val="solid"/>
          </a:ln>
        </p:spPr>
        <p:txBody>
          <a:bodyPr/>
          <a:lstStyle/>
          <a:p>
            <a:endParaRPr lang="en-IN"/>
          </a:p>
        </p:txBody>
      </p:sp>
      <p:sp>
        <p:nvSpPr>
          <p:cNvPr id="8" name="Shape 6"/>
          <p:cNvSpPr/>
          <p:nvPr/>
        </p:nvSpPr>
        <p:spPr>
          <a:xfrm>
            <a:off x="914400" y="1984248"/>
            <a:ext cx="685800" cy="685800"/>
          </a:xfrm>
          <a:prstGeom prst="ellipse">
            <a:avLst/>
          </a:prstGeom>
          <a:solidFill>
            <a:srgbClr val="403F3D"/>
          </a:solidFill>
          <a:ln/>
        </p:spPr>
        <p:txBody>
          <a:bodyPr/>
          <a:lstStyle/>
          <a:p>
            <a:endParaRPr lang="en-IN"/>
          </a:p>
        </p:txBody>
      </p:sp>
      <p:pic>
        <p:nvPicPr>
          <p:cNvPr id="9" name="Image 0" descr="/home/claude/dresscode/icons2/usertie_white.png"/>
          <p:cNvPicPr>
            <a:picLocks noChangeAspect="1"/>
          </p:cNvPicPr>
          <p:nvPr/>
        </p:nvPicPr>
        <p:blipFill>
          <a:blip r:embed="rId3"/>
          <a:stretch>
            <a:fillRect/>
          </a:stretch>
        </p:blipFill>
        <p:spPr>
          <a:xfrm>
            <a:off x="1006983" y="2076831"/>
            <a:ext cx="500634" cy="500634"/>
          </a:xfrm>
          <a:prstGeom prst="rect">
            <a:avLst/>
          </a:prstGeom>
        </p:spPr>
      </p:pic>
      <p:sp>
        <p:nvSpPr>
          <p:cNvPr id="10" name="Text 7"/>
          <p:cNvSpPr/>
          <p:nvPr/>
        </p:nvSpPr>
        <p:spPr>
          <a:xfrm>
            <a:off x="1828800" y="1965960"/>
            <a:ext cx="3886200" cy="365760"/>
          </a:xfrm>
          <a:prstGeom prst="rect">
            <a:avLst/>
          </a:prstGeom>
          <a:noFill/>
          <a:ln/>
        </p:spPr>
        <p:txBody>
          <a:bodyPr wrap="square" lIns="0" tIns="0" rIns="0" bIns="0" rtlCol="0" anchor="ctr"/>
          <a:lstStyle/>
          <a:p>
            <a:pPr marL="0" indent="0">
              <a:buNone/>
            </a:pPr>
            <a:r>
              <a:rPr lang="en-US" b="1" dirty="0">
                <a:solidFill>
                  <a:srgbClr val="FFFFFF"/>
                </a:solidFill>
                <a:latin typeface="Bookman Old Style" pitchFamily="34" charset="0"/>
                <a:ea typeface="Bookman Old Style" pitchFamily="34" charset="-122"/>
                <a:cs typeface="Bookman Old Style" pitchFamily="34" charset="-120"/>
              </a:rPr>
              <a:t>Professional &amp; Presentable</a:t>
            </a:r>
            <a:endParaRPr lang="en-US" dirty="0"/>
          </a:p>
        </p:txBody>
      </p:sp>
      <p:sp>
        <p:nvSpPr>
          <p:cNvPr id="11" name="Text 8"/>
          <p:cNvSpPr/>
          <p:nvPr/>
        </p:nvSpPr>
        <p:spPr>
          <a:xfrm>
            <a:off x="1828800" y="2350008"/>
            <a:ext cx="3886200" cy="1051560"/>
          </a:xfrm>
          <a:prstGeom prst="rect">
            <a:avLst/>
          </a:prstGeom>
          <a:noFill/>
          <a:ln/>
        </p:spPr>
        <p:txBody>
          <a:bodyPr wrap="square" lIns="0" tIns="0" rIns="0" bIns="0" rtlCol="0" anchor="t"/>
          <a:lstStyle/>
          <a:p>
            <a:pPr marL="0" indent="0">
              <a:lnSpc>
                <a:spcPct val="122000"/>
              </a:lnSpc>
              <a:buNone/>
            </a:pPr>
            <a:r>
              <a:rPr lang="en-US" sz="1600" dirty="0">
                <a:solidFill>
                  <a:srgbClr val="E8E6E1"/>
                </a:solidFill>
                <a:latin typeface="Calibri" pitchFamily="34" charset="0"/>
                <a:ea typeface="Calibri" pitchFamily="34" charset="-122"/>
                <a:cs typeface="Calibri" pitchFamily="34" charset="-120"/>
              </a:rPr>
              <a:t>Attire should be professional and presentable at all times.</a:t>
            </a:r>
            <a:endParaRPr lang="en-US" sz="1600" dirty="0"/>
          </a:p>
        </p:txBody>
      </p:sp>
      <p:sp>
        <p:nvSpPr>
          <p:cNvPr id="12" name="Shape 9"/>
          <p:cNvSpPr/>
          <p:nvPr/>
        </p:nvSpPr>
        <p:spPr>
          <a:xfrm>
            <a:off x="6263640" y="1691640"/>
            <a:ext cx="5349240" cy="1847088"/>
          </a:xfrm>
          <a:prstGeom prst="roundRect">
            <a:avLst>
              <a:gd name="adj" fmla="val 5941"/>
            </a:avLst>
          </a:prstGeom>
          <a:solidFill>
            <a:srgbClr val="2A2A28"/>
          </a:solidFill>
          <a:ln/>
          <a:effectLst>
            <a:outerShdw blurRad="88900" dist="38100" dir="5400000" algn="bl" rotWithShape="0">
              <a:srgbClr val="000000">
                <a:alpha val="18000"/>
              </a:srgbClr>
            </a:outerShdw>
          </a:effectLst>
        </p:spPr>
        <p:txBody>
          <a:bodyPr/>
          <a:lstStyle/>
          <a:p>
            <a:endParaRPr lang="en-IN"/>
          </a:p>
        </p:txBody>
      </p:sp>
      <p:sp>
        <p:nvSpPr>
          <p:cNvPr id="13" name="Shape 10"/>
          <p:cNvSpPr/>
          <p:nvPr/>
        </p:nvSpPr>
        <p:spPr>
          <a:xfrm>
            <a:off x="6473952" y="1920240"/>
            <a:ext cx="813816" cy="813816"/>
          </a:xfrm>
          <a:prstGeom prst="ellipse">
            <a:avLst/>
          </a:prstGeom>
          <a:ln w="15875">
            <a:solidFill>
              <a:srgbClr val="F07823"/>
            </a:solidFill>
            <a:prstDash val="solid"/>
          </a:ln>
        </p:spPr>
        <p:txBody>
          <a:bodyPr/>
          <a:lstStyle/>
          <a:p>
            <a:endParaRPr lang="en-IN"/>
          </a:p>
        </p:txBody>
      </p:sp>
      <p:sp>
        <p:nvSpPr>
          <p:cNvPr id="14" name="Shape 11"/>
          <p:cNvSpPr/>
          <p:nvPr/>
        </p:nvSpPr>
        <p:spPr>
          <a:xfrm>
            <a:off x="6537960" y="1984248"/>
            <a:ext cx="685800" cy="685800"/>
          </a:xfrm>
          <a:prstGeom prst="ellipse">
            <a:avLst/>
          </a:prstGeom>
          <a:solidFill>
            <a:srgbClr val="403F3D"/>
          </a:solidFill>
          <a:ln/>
        </p:spPr>
        <p:txBody>
          <a:bodyPr/>
          <a:lstStyle/>
          <a:p>
            <a:endParaRPr lang="en-IN"/>
          </a:p>
        </p:txBody>
      </p:sp>
      <p:pic>
        <p:nvPicPr>
          <p:cNvPr id="15" name="Image 1" descr="/home/claude/dresscode/icons2/leaf_white.png"/>
          <p:cNvPicPr>
            <a:picLocks noChangeAspect="1"/>
          </p:cNvPicPr>
          <p:nvPr/>
        </p:nvPicPr>
        <p:blipFill>
          <a:blip r:embed="rId4"/>
          <a:stretch>
            <a:fillRect/>
          </a:stretch>
        </p:blipFill>
        <p:spPr>
          <a:xfrm>
            <a:off x="6630543" y="2076831"/>
            <a:ext cx="500634" cy="500634"/>
          </a:xfrm>
          <a:prstGeom prst="rect">
            <a:avLst/>
          </a:prstGeom>
        </p:spPr>
      </p:pic>
      <p:sp>
        <p:nvSpPr>
          <p:cNvPr id="16" name="Text 12"/>
          <p:cNvSpPr/>
          <p:nvPr/>
        </p:nvSpPr>
        <p:spPr>
          <a:xfrm>
            <a:off x="7452360" y="1965960"/>
            <a:ext cx="3886200" cy="365760"/>
          </a:xfrm>
          <a:prstGeom prst="rect">
            <a:avLst/>
          </a:prstGeom>
          <a:noFill/>
          <a:ln/>
        </p:spPr>
        <p:txBody>
          <a:bodyPr wrap="square" lIns="0" tIns="0" rIns="0" bIns="0" rtlCol="0" anchor="ctr"/>
          <a:lstStyle/>
          <a:p>
            <a:pPr marL="0" indent="0">
              <a:buNone/>
            </a:pPr>
            <a:r>
              <a:rPr lang="en-US" b="1" dirty="0">
                <a:solidFill>
                  <a:srgbClr val="FFFFFF"/>
                </a:solidFill>
                <a:latin typeface="Bookman Old Style" pitchFamily="34" charset="0"/>
              </a:rPr>
              <a:t>Neat &amp; Modest</a:t>
            </a:r>
          </a:p>
        </p:txBody>
      </p:sp>
      <p:sp>
        <p:nvSpPr>
          <p:cNvPr id="17" name="Text 13"/>
          <p:cNvSpPr/>
          <p:nvPr/>
        </p:nvSpPr>
        <p:spPr>
          <a:xfrm>
            <a:off x="7452360" y="2350008"/>
            <a:ext cx="3886200" cy="1051560"/>
          </a:xfrm>
          <a:prstGeom prst="rect">
            <a:avLst/>
          </a:prstGeom>
          <a:noFill/>
          <a:ln/>
        </p:spPr>
        <p:txBody>
          <a:bodyPr wrap="square" lIns="0" tIns="0" rIns="0" bIns="0" rtlCol="0" anchor="t"/>
          <a:lstStyle/>
          <a:p>
            <a:pPr>
              <a:lnSpc>
                <a:spcPct val="122000"/>
              </a:lnSpc>
            </a:pPr>
            <a:r>
              <a:rPr lang="en-US" sz="1600" dirty="0">
                <a:solidFill>
                  <a:srgbClr val="E8E6E1"/>
                </a:solidFill>
                <a:latin typeface="Calibri" pitchFamily="34" charset="0"/>
                <a:ea typeface="Calibri" pitchFamily="34" charset="-122"/>
                <a:cs typeface="Calibri" pitchFamily="34" charset="-120"/>
              </a:rPr>
              <a:t>Dress in a manner that is neat, modest, and appropriate for a professional workplace.</a:t>
            </a:r>
          </a:p>
        </p:txBody>
      </p:sp>
      <p:sp>
        <p:nvSpPr>
          <p:cNvPr id="18" name="Shape 14"/>
          <p:cNvSpPr/>
          <p:nvPr/>
        </p:nvSpPr>
        <p:spPr>
          <a:xfrm>
            <a:off x="640080" y="3813048"/>
            <a:ext cx="5349240" cy="1847088"/>
          </a:xfrm>
          <a:prstGeom prst="roundRect">
            <a:avLst>
              <a:gd name="adj" fmla="val 5941"/>
            </a:avLst>
          </a:prstGeom>
          <a:solidFill>
            <a:srgbClr val="2A2A28"/>
          </a:solidFill>
          <a:ln/>
          <a:effectLst>
            <a:outerShdw blurRad="88900" dist="38100" dir="5400000" algn="bl" rotWithShape="0">
              <a:srgbClr val="000000">
                <a:alpha val="18000"/>
              </a:srgbClr>
            </a:outerShdw>
          </a:effectLst>
        </p:spPr>
        <p:txBody>
          <a:bodyPr/>
          <a:lstStyle/>
          <a:p>
            <a:endParaRPr lang="en-IN"/>
          </a:p>
        </p:txBody>
      </p:sp>
      <p:sp>
        <p:nvSpPr>
          <p:cNvPr id="19" name="Shape 15"/>
          <p:cNvSpPr/>
          <p:nvPr/>
        </p:nvSpPr>
        <p:spPr>
          <a:xfrm>
            <a:off x="850392" y="4041648"/>
            <a:ext cx="813816" cy="813816"/>
          </a:xfrm>
          <a:prstGeom prst="ellipse">
            <a:avLst/>
          </a:prstGeom>
          <a:ln w="15875">
            <a:solidFill>
              <a:srgbClr val="F07823"/>
            </a:solidFill>
            <a:prstDash val="solid"/>
          </a:ln>
        </p:spPr>
        <p:txBody>
          <a:bodyPr/>
          <a:lstStyle/>
          <a:p>
            <a:endParaRPr lang="en-IN"/>
          </a:p>
        </p:txBody>
      </p:sp>
      <p:sp>
        <p:nvSpPr>
          <p:cNvPr id="20" name="Shape 16"/>
          <p:cNvSpPr/>
          <p:nvPr/>
        </p:nvSpPr>
        <p:spPr>
          <a:xfrm>
            <a:off x="914400" y="4105656"/>
            <a:ext cx="685800" cy="685800"/>
          </a:xfrm>
          <a:prstGeom prst="ellipse">
            <a:avLst/>
          </a:prstGeom>
          <a:solidFill>
            <a:srgbClr val="403F3D"/>
          </a:solidFill>
          <a:ln/>
        </p:spPr>
        <p:txBody>
          <a:bodyPr/>
          <a:lstStyle/>
          <a:p>
            <a:endParaRPr lang="en-IN"/>
          </a:p>
        </p:txBody>
      </p:sp>
      <p:pic>
        <p:nvPicPr>
          <p:cNvPr id="21" name="Image 2" descr="/home/claude/dresscode/icons2/tshirt_white.png"/>
          <p:cNvPicPr>
            <a:picLocks noChangeAspect="1"/>
          </p:cNvPicPr>
          <p:nvPr/>
        </p:nvPicPr>
        <p:blipFill>
          <a:blip r:embed="rId5"/>
          <a:stretch>
            <a:fillRect/>
          </a:stretch>
        </p:blipFill>
        <p:spPr>
          <a:xfrm>
            <a:off x="1006983" y="4198239"/>
            <a:ext cx="500634" cy="500634"/>
          </a:xfrm>
          <a:prstGeom prst="rect">
            <a:avLst/>
          </a:prstGeom>
        </p:spPr>
      </p:pic>
      <p:sp>
        <p:nvSpPr>
          <p:cNvPr id="22" name="Text 17"/>
          <p:cNvSpPr/>
          <p:nvPr/>
        </p:nvSpPr>
        <p:spPr>
          <a:xfrm>
            <a:off x="1828800" y="4087368"/>
            <a:ext cx="3886200" cy="365760"/>
          </a:xfrm>
          <a:prstGeom prst="rect">
            <a:avLst/>
          </a:prstGeom>
          <a:noFill/>
          <a:ln/>
        </p:spPr>
        <p:txBody>
          <a:bodyPr wrap="square" lIns="0" tIns="0" rIns="0" bIns="0" rtlCol="0" anchor="ctr"/>
          <a:lstStyle/>
          <a:p>
            <a:pPr marL="0" indent="0">
              <a:buNone/>
            </a:pPr>
            <a:r>
              <a:rPr lang="en-US" b="1" dirty="0">
                <a:solidFill>
                  <a:srgbClr val="FFFFFF"/>
                </a:solidFill>
                <a:latin typeface="Bookman Old Style" pitchFamily="34" charset="0"/>
                <a:ea typeface="Bookman Old Style" pitchFamily="34" charset="-122"/>
                <a:cs typeface="Bookman Old Style" pitchFamily="34" charset="-120"/>
              </a:rPr>
              <a:t>Well-Fitted &amp; Ironed</a:t>
            </a:r>
            <a:endParaRPr lang="en-US" dirty="0"/>
          </a:p>
        </p:txBody>
      </p:sp>
      <p:sp>
        <p:nvSpPr>
          <p:cNvPr id="23" name="Text 18"/>
          <p:cNvSpPr/>
          <p:nvPr/>
        </p:nvSpPr>
        <p:spPr>
          <a:xfrm>
            <a:off x="1828800" y="4471416"/>
            <a:ext cx="3886200" cy="1051560"/>
          </a:xfrm>
          <a:prstGeom prst="rect">
            <a:avLst/>
          </a:prstGeom>
          <a:noFill/>
          <a:ln/>
        </p:spPr>
        <p:txBody>
          <a:bodyPr wrap="square" lIns="0" tIns="0" rIns="0" bIns="0" rtlCol="0" anchor="t"/>
          <a:lstStyle/>
          <a:p>
            <a:pPr marL="0" indent="0">
              <a:lnSpc>
                <a:spcPct val="122000"/>
              </a:lnSpc>
              <a:buNone/>
            </a:pPr>
            <a:r>
              <a:rPr lang="en-US" sz="1600" dirty="0">
                <a:solidFill>
                  <a:srgbClr val="E8E6E1"/>
                </a:solidFill>
                <a:latin typeface="Calibri" pitchFamily="34" charset="0"/>
                <a:ea typeface="Calibri" pitchFamily="34" charset="-122"/>
                <a:cs typeface="Calibri" pitchFamily="34" charset="-120"/>
              </a:rPr>
              <a:t>Clean, well-fitted attire that's put together.</a:t>
            </a:r>
            <a:endParaRPr lang="en-US" sz="1600" dirty="0"/>
          </a:p>
        </p:txBody>
      </p:sp>
      <p:sp>
        <p:nvSpPr>
          <p:cNvPr id="24" name="Shape 19"/>
          <p:cNvSpPr/>
          <p:nvPr/>
        </p:nvSpPr>
        <p:spPr>
          <a:xfrm>
            <a:off x="6263640" y="3813048"/>
            <a:ext cx="5349240" cy="1847088"/>
          </a:xfrm>
          <a:prstGeom prst="roundRect">
            <a:avLst>
              <a:gd name="adj" fmla="val 5941"/>
            </a:avLst>
          </a:prstGeom>
          <a:solidFill>
            <a:srgbClr val="2A2A28"/>
          </a:solidFill>
          <a:ln/>
          <a:effectLst>
            <a:outerShdw blurRad="88900" dist="38100" dir="5400000" algn="bl" rotWithShape="0">
              <a:srgbClr val="000000">
                <a:alpha val="18000"/>
              </a:srgbClr>
            </a:outerShdw>
          </a:effectLst>
        </p:spPr>
        <p:txBody>
          <a:bodyPr/>
          <a:lstStyle/>
          <a:p>
            <a:endParaRPr lang="en-IN"/>
          </a:p>
        </p:txBody>
      </p:sp>
      <p:sp>
        <p:nvSpPr>
          <p:cNvPr id="25" name="Shape 20"/>
          <p:cNvSpPr/>
          <p:nvPr/>
        </p:nvSpPr>
        <p:spPr>
          <a:xfrm>
            <a:off x="6473952" y="4041648"/>
            <a:ext cx="813816" cy="813816"/>
          </a:xfrm>
          <a:prstGeom prst="ellipse">
            <a:avLst/>
          </a:prstGeom>
          <a:ln w="15875">
            <a:solidFill>
              <a:srgbClr val="F07823"/>
            </a:solidFill>
            <a:prstDash val="solid"/>
          </a:ln>
        </p:spPr>
        <p:txBody>
          <a:bodyPr/>
          <a:lstStyle/>
          <a:p>
            <a:endParaRPr lang="en-IN"/>
          </a:p>
        </p:txBody>
      </p:sp>
      <p:sp>
        <p:nvSpPr>
          <p:cNvPr id="26" name="Shape 21"/>
          <p:cNvSpPr/>
          <p:nvPr/>
        </p:nvSpPr>
        <p:spPr>
          <a:xfrm>
            <a:off x="6537960" y="4105656"/>
            <a:ext cx="685800" cy="685800"/>
          </a:xfrm>
          <a:prstGeom prst="ellipse">
            <a:avLst/>
          </a:prstGeom>
          <a:solidFill>
            <a:srgbClr val="403F3D"/>
          </a:solidFill>
          <a:ln/>
        </p:spPr>
        <p:txBody>
          <a:bodyPr/>
          <a:lstStyle/>
          <a:p>
            <a:endParaRPr lang="en-IN"/>
          </a:p>
        </p:txBody>
      </p:sp>
      <p:pic>
        <p:nvPicPr>
          <p:cNvPr id="27" name="Image 3" descr="/home/claude/dresscode/icons2/handshelping_white.png"/>
          <p:cNvPicPr>
            <a:picLocks noChangeAspect="1"/>
          </p:cNvPicPr>
          <p:nvPr/>
        </p:nvPicPr>
        <p:blipFill>
          <a:blip r:embed="rId6"/>
          <a:stretch>
            <a:fillRect/>
          </a:stretch>
        </p:blipFill>
        <p:spPr>
          <a:xfrm>
            <a:off x="6630543" y="4198239"/>
            <a:ext cx="500634" cy="500634"/>
          </a:xfrm>
          <a:prstGeom prst="rect">
            <a:avLst/>
          </a:prstGeom>
        </p:spPr>
      </p:pic>
      <p:sp>
        <p:nvSpPr>
          <p:cNvPr id="28" name="Text 22"/>
          <p:cNvSpPr/>
          <p:nvPr/>
        </p:nvSpPr>
        <p:spPr>
          <a:xfrm>
            <a:off x="7452360" y="4087368"/>
            <a:ext cx="3886200" cy="365760"/>
          </a:xfrm>
          <a:prstGeom prst="rect">
            <a:avLst/>
          </a:prstGeom>
          <a:noFill/>
          <a:ln/>
        </p:spPr>
        <p:txBody>
          <a:bodyPr wrap="square" lIns="0" tIns="0" rIns="0" bIns="0" rtlCol="0" anchor="ctr"/>
          <a:lstStyle/>
          <a:p>
            <a:pPr marL="0" indent="0">
              <a:buNone/>
            </a:pPr>
            <a:r>
              <a:rPr lang="en-US" b="1" dirty="0">
                <a:solidFill>
                  <a:srgbClr val="FFFFFF"/>
                </a:solidFill>
                <a:latin typeface="Bookman Old Style" pitchFamily="34" charset="0"/>
                <a:ea typeface="Bookman Old Style" pitchFamily="34" charset="-122"/>
                <a:cs typeface="Bookman Old Style" pitchFamily="34" charset="-120"/>
              </a:rPr>
              <a:t>Respectful &amp; Comfortable</a:t>
            </a:r>
            <a:endParaRPr lang="en-US" dirty="0"/>
          </a:p>
        </p:txBody>
      </p:sp>
      <p:sp>
        <p:nvSpPr>
          <p:cNvPr id="29" name="Text 23"/>
          <p:cNvSpPr/>
          <p:nvPr/>
        </p:nvSpPr>
        <p:spPr>
          <a:xfrm>
            <a:off x="7452360" y="4471416"/>
            <a:ext cx="3886200" cy="1051560"/>
          </a:xfrm>
          <a:prstGeom prst="rect">
            <a:avLst/>
          </a:prstGeom>
          <a:noFill/>
          <a:ln/>
        </p:spPr>
        <p:txBody>
          <a:bodyPr wrap="square" lIns="0" tIns="0" rIns="0" bIns="0" rtlCol="0" anchor="t"/>
          <a:lstStyle/>
          <a:p>
            <a:pPr marL="0" indent="0">
              <a:lnSpc>
                <a:spcPct val="122000"/>
              </a:lnSpc>
              <a:buNone/>
            </a:pPr>
            <a:r>
              <a:rPr lang="en-US" sz="1600" dirty="0">
                <a:solidFill>
                  <a:srgbClr val="E8E6E1"/>
                </a:solidFill>
                <a:latin typeface="Calibri" pitchFamily="34" charset="0"/>
                <a:ea typeface="Calibri" pitchFamily="34" charset="-122"/>
                <a:cs typeface="Calibri" pitchFamily="34" charset="-120"/>
              </a:rPr>
              <a:t>Maintains a respectful, comfortable environment for all colleagues.</a:t>
            </a:r>
            <a:endParaRPr lang="en-US" sz="1600" dirty="0"/>
          </a:p>
        </p:txBody>
      </p:sp>
      <p:sp>
        <p:nvSpPr>
          <p:cNvPr id="31" name="Shape 25"/>
          <p:cNvSpPr/>
          <p:nvPr/>
        </p:nvSpPr>
        <p:spPr>
          <a:xfrm>
            <a:off x="10140696" y="6579108"/>
            <a:ext cx="60350" cy="60350"/>
          </a:xfrm>
          <a:prstGeom prst="ellipse">
            <a:avLst/>
          </a:prstGeom>
          <a:solidFill>
            <a:srgbClr val="5C5B58"/>
          </a:solidFill>
          <a:ln/>
        </p:spPr>
        <p:txBody>
          <a:bodyPr/>
          <a:lstStyle/>
          <a:p>
            <a:endParaRPr lang="en-IN"/>
          </a:p>
        </p:txBody>
      </p:sp>
      <p:sp>
        <p:nvSpPr>
          <p:cNvPr id="32" name="Shape 26"/>
          <p:cNvSpPr/>
          <p:nvPr/>
        </p:nvSpPr>
        <p:spPr>
          <a:xfrm>
            <a:off x="10323576" y="6579108"/>
            <a:ext cx="60350" cy="60350"/>
          </a:xfrm>
          <a:prstGeom prst="ellipse">
            <a:avLst/>
          </a:prstGeom>
          <a:solidFill>
            <a:srgbClr val="5C5B58"/>
          </a:solidFill>
          <a:ln/>
        </p:spPr>
        <p:txBody>
          <a:bodyPr/>
          <a:lstStyle/>
          <a:p>
            <a:endParaRPr lang="en-IN"/>
          </a:p>
        </p:txBody>
      </p:sp>
      <p:sp>
        <p:nvSpPr>
          <p:cNvPr id="33" name="Shape 27"/>
          <p:cNvSpPr/>
          <p:nvPr/>
        </p:nvSpPr>
        <p:spPr>
          <a:xfrm>
            <a:off x="10506456" y="6579108"/>
            <a:ext cx="60350" cy="60350"/>
          </a:xfrm>
          <a:prstGeom prst="ellipse">
            <a:avLst/>
          </a:prstGeom>
          <a:solidFill>
            <a:srgbClr val="5C5B58"/>
          </a:solidFill>
          <a:ln/>
        </p:spPr>
        <p:txBody>
          <a:bodyPr/>
          <a:lstStyle/>
          <a:p>
            <a:endParaRPr lang="en-IN"/>
          </a:p>
        </p:txBody>
      </p:sp>
      <p:sp>
        <p:nvSpPr>
          <p:cNvPr id="34" name="Shape 28"/>
          <p:cNvSpPr/>
          <p:nvPr/>
        </p:nvSpPr>
        <p:spPr>
          <a:xfrm>
            <a:off x="10689336" y="6556248"/>
            <a:ext cx="118872" cy="118872"/>
          </a:xfrm>
          <a:prstGeom prst="ellipse">
            <a:avLst/>
          </a:prstGeom>
          <a:solidFill>
            <a:srgbClr val="F07823"/>
          </a:solidFill>
          <a:ln/>
        </p:spPr>
        <p:txBody>
          <a:bodyPr/>
          <a:lstStyle/>
          <a:p>
            <a:endParaRPr lang="en-IN"/>
          </a:p>
        </p:txBody>
      </p:sp>
      <p:sp>
        <p:nvSpPr>
          <p:cNvPr id="35" name="Shape 29"/>
          <p:cNvSpPr/>
          <p:nvPr/>
        </p:nvSpPr>
        <p:spPr>
          <a:xfrm>
            <a:off x="10872216" y="6579108"/>
            <a:ext cx="60350" cy="60350"/>
          </a:xfrm>
          <a:prstGeom prst="ellipse">
            <a:avLst/>
          </a:prstGeom>
          <a:solidFill>
            <a:srgbClr val="5C5B58"/>
          </a:solidFill>
          <a:ln/>
        </p:spPr>
        <p:txBody>
          <a:bodyPr/>
          <a:lstStyle/>
          <a:p>
            <a:endParaRPr lang="en-IN"/>
          </a:p>
        </p:txBody>
      </p:sp>
      <p:sp>
        <p:nvSpPr>
          <p:cNvPr id="36" name="Shape 30"/>
          <p:cNvSpPr/>
          <p:nvPr/>
        </p:nvSpPr>
        <p:spPr>
          <a:xfrm>
            <a:off x="11055096" y="6579108"/>
            <a:ext cx="60350" cy="60350"/>
          </a:xfrm>
          <a:prstGeom prst="ellipse">
            <a:avLst/>
          </a:prstGeom>
          <a:solidFill>
            <a:srgbClr val="5C5B58"/>
          </a:solidFill>
          <a:ln/>
        </p:spPr>
        <p:txBody>
          <a:bodyPr/>
          <a:lstStyle/>
          <a:p>
            <a:endParaRPr lang="en-IN"/>
          </a:p>
        </p:txBody>
      </p:sp>
      <p:sp>
        <p:nvSpPr>
          <p:cNvPr id="37" name="Shape 31"/>
          <p:cNvSpPr/>
          <p:nvPr/>
        </p:nvSpPr>
        <p:spPr>
          <a:xfrm>
            <a:off x="11237976" y="6579108"/>
            <a:ext cx="60350" cy="60350"/>
          </a:xfrm>
          <a:prstGeom prst="ellipse">
            <a:avLst/>
          </a:prstGeom>
          <a:solidFill>
            <a:srgbClr val="5C5B58"/>
          </a:solidFill>
          <a:ln/>
        </p:spPr>
        <p:txBody>
          <a:bodyPr/>
          <a:lstStyle/>
          <a:p>
            <a:endParaRPr lang="en-IN"/>
          </a:p>
        </p:txBody>
      </p:sp>
      <p:sp>
        <p:nvSpPr>
          <p:cNvPr id="38" name="Shape 32"/>
          <p:cNvSpPr/>
          <p:nvPr/>
        </p:nvSpPr>
        <p:spPr>
          <a:xfrm>
            <a:off x="11420856" y="6579108"/>
            <a:ext cx="60350" cy="60350"/>
          </a:xfrm>
          <a:prstGeom prst="ellipse">
            <a:avLst/>
          </a:prstGeom>
          <a:solidFill>
            <a:srgbClr val="5C5B58"/>
          </a:solidFill>
          <a:ln/>
        </p:spPr>
        <p:txBody>
          <a:bodyPr/>
          <a:lstStyle/>
          <a:p>
            <a:endParaRPr lang="en-IN"/>
          </a:p>
        </p:txBody>
      </p:sp>
      <p:sp>
        <p:nvSpPr>
          <p:cNvPr id="39" name="Shape 33"/>
          <p:cNvSpPr/>
          <p:nvPr/>
        </p:nvSpPr>
        <p:spPr>
          <a:xfrm>
            <a:off x="11603736" y="6579108"/>
            <a:ext cx="60350" cy="60350"/>
          </a:xfrm>
          <a:prstGeom prst="ellipse">
            <a:avLst/>
          </a:prstGeom>
          <a:solidFill>
            <a:srgbClr val="5C5B58"/>
          </a:solidFill>
          <a:ln/>
        </p:spPr>
        <p:txBody>
          <a:bodyPr/>
          <a:lstStyle/>
          <a:p>
            <a:endParaRPr lang="en-IN"/>
          </a:p>
        </p:txBody>
      </p:sp>
      <p:sp>
        <p:nvSpPr>
          <p:cNvPr id="40" name="Shape 34"/>
          <p:cNvSpPr/>
          <p:nvPr/>
        </p:nvSpPr>
        <p:spPr>
          <a:xfrm>
            <a:off x="11786616" y="6579108"/>
            <a:ext cx="60350" cy="60350"/>
          </a:xfrm>
          <a:prstGeom prst="ellipse">
            <a:avLst/>
          </a:prstGeom>
          <a:solidFill>
            <a:srgbClr val="5C5B58"/>
          </a:solidFill>
          <a:ln/>
        </p:spPr>
        <p:txBody>
          <a:bodyPr/>
          <a:lstStyle/>
          <a:p>
            <a:endParaRPr lang="en-IN"/>
          </a:p>
        </p:txBody>
      </p:sp>
      <p:sp>
        <p:nvSpPr>
          <p:cNvPr id="41" name="Rounded Rectangle 40"/>
          <p:cNvSpPr/>
          <p:nvPr/>
        </p:nvSpPr>
        <p:spPr>
          <a:xfrm>
            <a:off x="640080" y="5790000"/>
            <a:ext cx="10972800" cy="620000"/>
          </a:xfrm>
          <a:prstGeom prst="roundRect">
            <a:avLst>
              <a:gd name="adj" fmla="val 12000"/>
            </a:avLst>
          </a:prstGeom>
          <a:solidFill>
            <a:srgbClr val="403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790080" y="5890000"/>
            <a:ext cx="420000" cy="420000"/>
          </a:xfrm>
          <a:prstGeom prst="ellipse">
            <a:avLst/>
          </a:prstGeom>
          <a:solidFill>
            <a:srgbClr val="F078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3" name="Picture 42" descr="icon_doubt.png"/>
          <p:cNvPicPr>
            <a:picLocks noChangeAspect="1"/>
          </p:cNvPicPr>
          <p:nvPr/>
        </p:nvPicPr>
        <p:blipFill>
          <a:blip r:embed="rId7"/>
          <a:stretch>
            <a:fillRect/>
          </a:stretch>
        </p:blipFill>
        <p:spPr>
          <a:xfrm>
            <a:off x="880080" y="5980000"/>
            <a:ext cx="240000" cy="240000"/>
          </a:xfrm>
          <a:prstGeom prst="rect">
            <a:avLst/>
          </a:prstGeom>
        </p:spPr>
      </p:pic>
      <p:sp>
        <p:nvSpPr>
          <p:cNvPr id="44" name="TextBox 43"/>
          <p:cNvSpPr txBox="1"/>
          <p:nvPr/>
        </p:nvSpPr>
        <p:spPr>
          <a:xfrm>
            <a:off x="1390080" y="5790000"/>
            <a:ext cx="10022800" cy="620000"/>
          </a:xfrm>
          <a:prstGeom prst="rect">
            <a:avLst/>
          </a:prstGeom>
          <a:noFill/>
        </p:spPr>
        <p:txBody>
          <a:bodyPr wrap="square" anchor="ctr">
            <a:spAutoFit/>
          </a:bodyPr>
          <a:lstStyle/>
          <a:p>
            <a:r>
              <a:rPr sz="1600" b="1">
                <a:solidFill>
                  <a:srgbClr val="F07823"/>
                </a:solidFill>
                <a:latin typeface="Bookman Old Style"/>
              </a:rPr>
              <a:t>When in Doubt: </a:t>
            </a:r>
            <a:r>
              <a:rPr sz="1400">
                <a:solidFill>
                  <a:srgbClr val="FFFFFF"/>
                </a:solidFill>
                <a:latin typeface="Calibri"/>
              </a:rPr>
              <a:t>Choose the more professional, understated option. It's easy to remember, and guides judgment gently.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F1F1F"/>
        </a:solidFill>
        <a:effectLst/>
      </p:bgPr>
    </p:bg>
    <p:spTree>
      <p:nvGrpSpPr>
        <p:cNvPr id="1" name=""/>
        <p:cNvGrpSpPr/>
        <p:nvPr/>
      </p:nvGrpSpPr>
      <p:grpSpPr>
        <a:xfrm>
          <a:off x="0" y="0"/>
          <a:ext cx="0" cy="0"/>
          <a:chOff x="0" y="0"/>
          <a:chExt cx="0" cy="0"/>
        </a:xfrm>
      </p:grpSpPr>
      <p:sp>
        <p:nvSpPr>
          <p:cNvPr id="2" name="Shape 0"/>
          <p:cNvSpPr/>
          <p:nvPr/>
        </p:nvSpPr>
        <p:spPr>
          <a:xfrm>
            <a:off x="10149840" y="-1920240"/>
            <a:ext cx="4206240" cy="4206240"/>
          </a:xfrm>
          <a:prstGeom prst="ellipse">
            <a:avLst/>
          </a:prstGeom>
          <a:solidFill>
            <a:srgbClr val="3A3835">
              <a:alpha val="65000"/>
            </a:srgbClr>
          </a:solidFill>
          <a:ln/>
        </p:spPr>
        <p:txBody>
          <a:bodyPr/>
          <a:lstStyle/>
          <a:p>
            <a:endParaRPr lang="en-IN"/>
          </a:p>
        </p:txBody>
      </p:sp>
      <p:sp>
        <p:nvSpPr>
          <p:cNvPr id="3" name="Shape 1"/>
          <p:cNvSpPr/>
          <p:nvPr/>
        </p:nvSpPr>
        <p:spPr>
          <a:xfrm>
            <a:off x="-1463040" y="5394960"/>
            <a:ext cx="3108960" cy="3108960"/>
          </a:xfrm>
          <a:prstGeom prst="ellipse">
            <a:avLst/>
          </a:prstGeom>
          <a:solidFill>
            <a:srgbClr val="3A3835">
              <a:alpha val="65000"/>
            </a:srgbClr>
          </a:solidFill>
          <a:ln/>
        </p:spPr>
        <p:txBody>
          <a:bodyPr/>
          <a:lstStyle/>
          <a:p>
            <a:endParaRPr lang="en-IN"/>
          </a:p>
        </p:txBody>
      </p:sp>
      <p:sp>
        <p:nvSpPr>
          <p:cNvPr id="4" name="Text 2"/>
          <p:cNvSpPr/>
          <p:nvPr/>
        </p:nvSpPr>
        <p:spPr>
          <a:xfrm>
            <a:off x="640080" y="457200"/>
            <a:ext cx="8229600" cy="274320"/>
          </a:xfrm>
          <a:prstGeom prst="rect">
            <a:avLst/>
          </a:prstGeom>
          <a:noFill/>
          <a:ln/>
        </p:spPr>
        <p:txBody>
          <a:bodyPr wrap="square" lIns="0" tIns="0" rIns="0" bIns="0" rtlCol="0" anchor="ctr"/>
          <a:lstStyle/>
          <a:p>
            <a:pPr marL="0" indent="0">
              <a:buNone/>
            </a:pPr>
            <a:r>
              <a:rPr lang="en-US" b="1" kern="0" spc="240" dirty="0">
                <a:solidFill>
                  <a:srgbClr val="F07823"/>
                </a:solidFill>
                <a:latin typeface="Calibri" pitchFamily="34" charset="0"/>
                <a:ea typeface="Calibri" pitchFamily="34" charset="-122"/>
                <a:cs typeface="Calibri" pitchFamily="34" charset="-120"/>
              </a:rPr>
              <a:t>GUIDELINES FOR MEN</a:t>
            </a:r>
            <a:endParaRPr lang="en-US" dirty="0"/>
          </a:p>
        </p:txBody>
      </p:sp>
      <p:sp>
        <p:nvSpPr>
          <p:cNvPr id="5" name="Text 3"/>
          <p:cNvSpPr/>
          <p:nvPr/>
        </p:nvSpPr>
        <p:spPr>
          <a:xfrm>
            <a:off x="640080" y="749808"/>
            <a:ext cx="10881360" cy="777240"/>
          </a:xfrm>
          <a:prstGeom prst="rect">
            <a:avLst/>
          </a:prstGeom>
          <a:noFill/>
          <a:ln/>
        </p:spPr>
        <p:txBody>
          <a:bodyPr wrap="square" lIns="0" tIns="0" rIns="0" bIns="0" rtlCol="0" anchor="ctr"/>
          <a:lstStyle/>
          <a:p>
            <a:pPr marL="0" indent="0">
              <a:buNone/>
            </a:pPr>
            <a:r>
              <a:rPr lang="en-US" sz="3000" b="1" dirty="0">
                <a:solidFill>
                  <a:srgbClr val="FFFFFF"/>
                </a:solidFill>
                <a:latin typeface="Bookman Old Style" pitchFamily="34" charset="0"/>
                <a:ea typeface="Bookman Old Style" pitchFamily="34" charset="-122"/>
                <a:cs typeface="Bookman Old Style" pitchFamily="34" charset="-120"/>
              </a:rPr>
              <a:t>Everyday Attire &amp; Client Meetings</a:t>
            </a:r>
            <a:endParaRPr lang="en-US" sz="3000" dirty="0"/>
          </a:p>
        </p:txBody>
      </p:sp>
      <p:sp>
        <p:nvSpPr>
          <p:cNvPr id="6" name="Shape 4"/>
          <p:cNvSpPr/>
          <p:nvPr/>
        </p:nvSpPr>
        <p:spPr>
          <a:xfrm>
            <a:off x="640080" y="1691640"/>
            <a:ext cx="5394960" cy="4434840"/>
          </a:xfrm>
          <a:prstGeom prst="roundRect">
            <a:avLst>
              <a:gd name="adj" fmla="val 2474"/>
            </a:avLst>
          </a:prstGeom>
          <a:solidFill>
            <a:srgbClr val="2A2A28"/>
          </a:solidFill>
          <a:ln/>
          <a:effectLst>
            <a:outerShdw blurRad="88900" dist="38100" dir="5400000" algn="bl" rotWithShape="0">
              <a:srgbClr val="000000">
                <a:alpha val="18000"/>
              </a:srgbClr>
            </a:outerShdw>
          </a:effectLst>
        </p:spPr>
        <p:txBody>
          <a:bodyPr/>
          <a:lstStyle/>
          <a:p>
            <a:endParaRPr lang="en-IN"/>
          </a:p>
        </p:txBody>
      </p:sp>
      <p:sp>
        <p:nvSpPr>
          <p:cNvPr id="7" name="Shape 5"/>
          <p:cNvSpPr/>
          <p:nvPr/>
        </p:nvSpPr>
        <p:spPr>
          <a:xfrm>
            <a:off x="915198" y="1818638"/>
            <a:ext cx="552414" cy="507088"/>
          </a:xfrm>
          <a:prstGeom prst="ellipse">
            <a:avLst/>
          </a:prstGeom>
          <a:solidFill>
            <a:srgbClr val="8FAE9B"/>
          </a:solidFill>
          <a:ln/>
        </p:spPr>
        <p:txBody>
          <a:bodyPr/>
          <a:lstStyle/>
          <a:p>
            <a:endParaRPr lang="en-IN"/>
          </a:p>
        </p:txBody>
      </p:sp>
      <p:pic>
        <p:nvPicPr>
          <p:cNvPr id="8" name="Image 0" descr="/home/claude/dresscode/icons2/tshirt_white.png"/>
          <p:cNvPicPr>
            <a:picLocks noChangeAspect="1"/>
          </p:cNvPicPr>
          <p:nvPr/>
        </p:nvPicPr>
        <p:blipFill>
          <a:blip r:embed="rId3"/>
          <a:stretch>
            <a:fillRect/>
          </a:stretch>
        </p:blipFill>
        <p:spPr>
          <a:xfrm>
            <a:off x="1002915" y="1897008"/>
            <a:ext cx="373806" cy="373806"/>
          </a:xfrm>
          <a:prstGeom prst="rect">
            <a:avLst/>
          </a:prstGeom>
        </p:spPr>
      </p:pic>
      <p:sp>
        <p:nvSpPr>
          <p:cNvPr id="9" name="Text 6"/>
          <p:cNvSpPr/>
          <p:nvPr/>
        </p:nvSpPr>
        <p:spPr>
          <a:xfrm>
            <a:off x="1723644" y="1819329"/>
            <a:ext cx="4114800" cy="365760"/>
          </a:xfrm>
          <a:prstGeom prst="rect">
            <a:avLst/>
          </a:prstGeom>
          <a:noFill/>
          <a:ln/>
        </p:spPr>
        <p:txBody>
          <a:bodyPr wrap="square" lIns="0" tIns="0" rIns="0" bIns="0" rtlCol="0" anchor="ctr"/>
          <a:lstStyle/>
          <a:p>
            <a:pPr marL="0" indent="0">
              <a:buNone/>
            </a:pPr>
            <a:r>
              <a:rPr lang="en-US" sz="1600" b="1" dirty="0">
                <a:solidFill>
                  <a:srgbClr val="FFFFFF"/>
                </a:solidFill>
                <a:latin typeface="Bookman Old Style" pitchFamily="34" charset="0"/>
                <a:ea typeface="Bookman Old Style" pitchFamily="34" charset="-122"/>
                <a:cs typeface="Bookman Old Style" pitchFamily="34" charset="-120"/>
              </a:rPr>
              <a:t>Everyday Attire</a:t>
            </a:r>
            <a:endParaRPr lang="en-US" sz="1600" dirty="0"/>
          </a:p>
        </p:txBody>
      </p:sp>
      <p:sp>
        <p:nvSpPr>
          <p:cNvPr id="10" name="Text 7"/>
          <p:cNvSpPr/>
          <p:nvPr/>
        </p:nvSpPr>
        <p:spPr>
          <a:xfrm>
            <a:off x="1045165" y="2331427"/>
            <a:ext cx="4929250" cy="2183169"/>
          </a:xfrm>
          <a:prstGeom prst="rect">
            <a:avLst/>
          </a:prstGeom>
          <a:noFill/>
          <a:ln/>
        </p:spPr>
        <p:txBody>
          <a:bodyPr wrap="square" lIns="0" tIns="0" rIns="0" bIns="0" rtlCol="0" anchor="t"/>
          <a:lstStyle/>
          <a:p>
            <a:pPr marL="342900" indent="-342900">
              <a:lnSpc>
                <a:spcPct val="120000"/>
              </a:lnSpc>
              <a:spcAft>
                <a:spcPts val="1000"/>
              </a:spcAft>
              <a:buSzPct val="100000"/>
              <a:buChar char="•"/>
            </a:pPr>
            <a:r>
              <a:rPr lang="en-US" sz="1600" dirty="0">
                <a:solidFill>
                  <a:srgbClr val="E8E6E1"/>
                </a:solidFill>
                <a:latin typeface="Calibri" pitchFamily="34" charset="0"/>
                <a:ea typeface="Calibri" pitchFamily="34" charset="-122"/>
                <a:cs typeface="Calibri" pitchFamily="34" charset="-120"/>
              </a:rPr>
              <a:t>Collared shirts (long or short sleeved), tucked into trousers, linen pants, or chinos</a:t>
            </a:r>
            <a:endParaRPr lang="en-US" sz="1600" dirty="0"/>
          </a:p>
          <a:p>
            <a:pPr marL="342900" indent="-342900">
              <a:lnSpc>
                <a:spcPct val="120000"/>
              </a:lnSpc>
              <a:spcAft>
                <a:spcPts val="1000"/>
              </a:spcAft>
              <a:buSzPct val="100000"/>
              <a:buChar char="•"/>
            </a:pPr>
            <a:r>
              <a:rPr lang="en-US" sz="1600" dirty="0">
                <a:solidFill>
                  <a:srgbClr val="E8E6E1"/>
                </a:solidFill>
                <a:latin typeface="Calibri" pitchFamily="34" charset="0"/>
                <a:ea typeface="Calibri" pitchFamily="34" charset="-122"/>
                <a:cs typeface="Calibri" pitchFamily="34" charset="-120"/>
              </a:rPr>
              <a:t>Smart casuals — Polo T-shirts with smart jeans (for non-client-dealing members only)</a:t>
            </a:r>
            <a:endParaRPr lang="en-US" sz="1600" dirty="0"/>
          </a:p>
          <a:p>
            <a:pPr marL="342900" indent="-342900">
              <a:lnSpc>
                <a:spcPct val="120000"/>
              </a:lnSpc>
              <a:spcAft>
                <a:spcPts val="1000"/>
              </a:spcAft>
              <a:buSzPct val="100000"/>
              <a:buChar char="•"/>
            </a:pPr>
            <a:r>
              <a:rPr lang="en-US" sz="1600" dirty="0">
                <a:solidFill>
                  <a:srgbClr val="E8E6E1"/>
                </a:solidFill>
                <a:latin typeface="Calibri" pitchFamily="34" charset="0"/>
                <a:ea typeface="Calibri" pitchFamily="34" charset="-122"/>
                <a:cs typeface="Calibri" pitchFamily="34" charset="-120"/>
              </a:rPr>
              <a:t>Clean, well-fitted clothing that’s looks put together</a:t>
            </a:r>
          </a:p>
          <a:p>
            <a:pPr marL="342900" indent="-342900">
              <a:lnSpc>
                <a:spcPct val="120000"/>
              </a:lnSpc>
              <a:spcAft>
                <a:spcPts val="1000"/>
              </a:spcAft>
              <a:buSzPct val="100000"/>
              <a:buChar char="•"/>
            </a:pPr>
            <a:r>
              <a:rPr lang="en-US" sz="1600" dirty="0">
                <a:solidFill>
                  <a:srgbClr val="E8E6E1"/>
                </a:solidFill>
                <a:latin typeface="Calibri" pitchFamily="34" charset="0"/>
                <a:ea typeface="Calibri" pitchFamily="34" charset="-122"/>
                <a:cs typeface="Calibri" pitchFamily="34" charset="-120"/>
              </a:rPr>
              <a:t>Closed shoes or neat sneakers</a:t>
            </a:r>
            <a:endParaRPr lang="en-US" sz="1600" dirty="0"/>
          </a:p>
        </p:txBody>
      </p:sp>
      <p:sp>
        <p:nvSpPr>
          <p:cNvPr id="11" name="Shape 8"/>
          <p:cNvSpPr/>
          <p:nvPr/>
        </p:nvSpPr>
        <p:spPr>
          <a:xfrm>
            <a:off x="960120" y="4544278"/>
            <a:ext cx="4800600" cy="0"/>
          </a:xfrm>
          <a:prstGeom prst="line">
            <a:avLst/>
          </a:prstGeom>
          <a:noFill/>
          <a:ln w="9525">
            <a:solidFill>
              <a:srgbClr val="4A4844"/>
            </a:solidFill>
            <a:prstDash val="solid"/>
          </a:ln>
        </p:spPr>
        <p:txBody>
          <a:bodyPr/>
          <a:lstStyle/>
          <a:p>
            <a:endParaRPr lang="en-IN"/>
          </a:p>
        </p:txBody>
      </p:sp>
      <p:sp>
        <p:nvSpPr>
          <p:cNvPr id="12" name="Shape 9"/>
          <p:cNvSpPr/>
          <p:nvPr/>
        </p:nvSpPr>
        <p:spPr>
          <a:xfrm>
            <a:off x="976104" y="4614163"/>
            <a:ext cx="525780" cy="548637"/>
          </a:xfrm>
          <a:prstGeom prst="ellipse">
            <a:avLst/>
          </a:prstGeom>
          <a:solidFill>
            <a:srgbClr val="403F3D"/>
          </a:solidFill>
          <a:ln/>
        </p:spPr>
        <p:txBody>
          <a:bodyPr/>
          <a:lstStyle/>
          <a:p>
            <a:endParaRPr lang="en-IN"/>
          </a:p>
        </p:txBody>
      </p:sp>
      <p:pic>
        <p:nvPicPr>
          <p:cNvPr id="13" name="Image 1" descr="/home/claude/dresscode/icons2/cut_white.png"/>
          <p:cNvPicPr>
            <a:picLocks noChangeAspect="1"/>
          </p:cNvPicPr>
          <p:nvPr/>
        </p:nvPicPr>
        <p:blipFill>
          <a:blip r:embed="rId4"/>
          <a:stretch>
            <a:fillRect/>
          </a:stretch>
        </p:blipFill>
        <p:spPr>
          <a:xfrm>
            <a:off x="1056187" y="4721603"/>
            <a:ext cx="333756" cy="333756"/>
          </a:xfrm>
          <a:prstGeom prst="rect">
            <a:avLst/>
          </a:prstGeom>
        </p:spPr>
      </p:pic>
      <p:sp>
        <p:nvSpPr>
          <p:cNvPr id="14" name="Text 10"/>
          <p:cNvSpPr/>
          <p:nvPr/>
        </p:nvSpPr>
        <p:spPr>
          <a:xfrm>
            <a:off x="1723644" y="4721603"/>
            <a:ext cx="2743200" cy="274320"/>
          </a:xfrm>
          <a:prstGeom prst="rect">
            <a:avLst/>
          </a:prstGeom>
          <a:noFill/>
          <a:ln/>
        </p:spPr>
        <p:txBody>
          <a:bodyPr wrap="square" lIns="0" tIns="0" rIns="0" bIns="0" rtlCol="0" anchor="ctr"/>
          <a:lstStyle/>
          <a:p>
            <a:pPr marL="0" indent="0">
              <a:buNone/>
            </a:pPr>
            <a:r>
              <a:rPr lang="en-US" sz="1600" b="1" dirty="0">
                <a:solidFill>
                  <a:srgbClr val="FFFFFF"/>
                </a:solidFill>
                <a:latin typeface="Bookman Old Style" pitchFamily="34" charset="0"/>
                <a:ea typeface="Bookman Old Style" pitchFamily="34" charset="-122"/>
                <a:cs typeface="Bookman Old Style" pitchFamily="34" charset="-120"/>
              </a:rPr>
              <a:t>Grooming tips</a:t>
            </a:r>
            <a:endParaRPr lang="en-US" sz="1600" dirty="0"/>
          </a:p>
        </p:txBody>
      </p:sp>
      <p:sp>
        <p:nvSpPr>
          <p:cNvPr id="15" name="Text 11"/>
          <p:cNvSpPr/>
          <p:nvPr/>
        </p:nvSpPr>
        <p:spPr>
          <a:xfrm>
            <a:off x="1037844" y="5316693"/>
            <a:ext cx="4800600" cy="548640"/>
          </a:xfrm>
          <a:prstGeom prst="rect">
            <a:avLst/>
          </a:prstGeom>
          <a:noFill/>
          <a:ln/>
        </p:spPr>
        <p:txBody>
          <a:bodyPr wrap="square" lIns="0" tIns="0" rIns="0" bIns="0" rtlCol="0" anchor="ctr"/>
          <a:lstStyle/>
          <a:p>
            <a:pPr marL="0" indent="0">
              <a:lnSpc>
                <a:spcPct val="120000"/>
              </a:lnSpc>
              <a:buNone/>
            </a:pPr>
            <a:r>
              <a:rPr lang="en-US" sz="1600" dirty="0">
                <a:solidFill>
                  <a:srgbClr val="E8E6E1"/>
                </a:solidFill>
                <a:latin typeface="Calibri" pitchFamily="34" charset="0"/>
                <a:ea typeface="Calibri" pitchFamily="34" charset="-122"/>
                <a:cs typeface="Calibri" pitchFamily="34" charset="-120"/>
              </a:rPr>
              <a:t>Neat hair and well-maintained facial hair — attention to detail makes all the difference.</a:t>
            </a:r>
          </a:p>
        </p:txBody>
      </p:sp>
      <p:sp>
        <p:nvSpPr>
          <p:cNvPr id="16" name="Shape 12"/>
          <p:cNvSpPr/>
          <p:nvPr/>
        </p:nvSpPr>
        <p:spPr>
          <a:xfrm>
            <a:off x="6172200" y="1691640"/>
            <a:ext cx="5394960" cy="4434840"/>
          </a:xfrm>
          <a:prstGeom prst="roundRect">
            <a:avLst>
              <a:gd name="adj" fmla="val 2474"/>
            </a:avLst>
          </a:prstGeom>
          <a:solidFill>
            <a:srgbClr val="403F3D"/>
          </a:solidFill>
          <a:ln/>
          <a:effectLst>
            <a:outerShdw blurRad="88900" dist="38100" dir="5400000" algn="bl" rotWithShape="0">
              <a:srgbClr val="000000">
                <a:alpha val="18000"/>
              </a:srgbClr>
            </a:outerShdw>
          </a:effectLst>
        </p:spPr>
        <p:txBody>
          <a:bodyPr/>
          <a:lstStyle/>
          <a:p>
            <a:endParaRPr lang="en-IN"/>
          </a:p>
        </p:txBody>
      </p:sp>
      <p:sp>
        <p:nvSpPr>
          <p:cNvPr id="17" name="Shape 13"/>
          <p:cNvSpPr/>
          <p:nvPr/>
        </p:nvSpPr>
        <p:spPr>
          <a:xfrm>
            <a:off x="6492240" y="1849848"/>
            <a:ext cx="566928" cy="566928"/>
          </a:xfrm>
          <a:prstGeom prst="ellipse">
            <a:avLst/>
          </a:prstGeom>
          <a:solidFill>
            <a:srgbClr val="F07823"/>
          </a:solidFill>
          <a:ln/>
        </p:spPr>
        <p:txBody>
          <a:bodyPr/>
          <a:lstStyle/>
          <a:p>
            <a:endParaRPr lang="en-IN" dirty="0"/>
          </a:p>
        </p:txBody>
      </p:sp>
      <p:pic>
        <p:nvPicPr>
          <p:cNvPr id="18" name="Image 2" descr="/home/claude/dresscode/icons2/briefcase_dark.png"/>
          <p:cNvPicPr>
            <a:picLocks noChangeAspect="1"/>
          </p:cNvPicPr>
          <p:nvPr/>
        </p:nvPicPr>
        <p:blipFill>
          <a:blip r:embed="rId5"/>
          <a:stretch>
            <a:fillRect/>
          </a:stretch>
        </p:blipFill>
        <p:spPr>
          <a:xfrm>
            <a:off x="6568775" y="1911869"/>
            <a:ext cx="413857" cy="413857"/>
          </a:xfrm>
          <a:prstGeom prst="rect">
            <a:avLst/>
          </a:prstGeom>
        </p:spPr>
      </p:pic>
      <p:sp>
        <p:nvSpPr>
          <p:cNvPr id="19" name="Text 14"/>
          <p:cNvSpPr/>
          <p:nvPr/>
        </p:nvSpPr>
        <p:spPr>
          <a:xfrm>
            <a:off x="7162002" y="2103120"/>
            <a:ext cx="4114800" cy="365760"/>
          </a:xfrm>
          <a:prstGeom prst="rect">
            <a:avLst/>
          </a:prstGeom>
          <a:noFill/>
          <a:ln/>
        </p:spPr>
        <p:txBody>
          <a:bodyPr wrap="square" lIns="0" tIns="0" rIns="0" bIns="0" rtlCol="0" anchor="ctr"/>
          <a:lstStyle/>
          <a:p>
            <a:r>
              <a:rPr lang="en-US" sz="1600" b="1" dirty="0">
                <a:solidFill>
                  <a:srgbClr val="FFFFFF"/>
                </a:solidFill>
                <a:latin typeface="Bookman Old Style" pitchFamily="34" charset="0"/>
                <a:ea typeface="Bookman Old Style" pitchFamily="34" charset="-122"/>
                <a:cs typeface="Bookman Old Style" pitchFamily="34" charset="-120"/>
              </a:rPr>
              <a:t>Client Meetings</a:t>
            </a:r>
            <a:r>
              <a:rPr lang="en-US" b="1" dirty="0">
                <a:solidFill>
                  <a:srgbClr val="FFFFFF"/>
                </a:solidFill>
                <a:latin typeface="Bookman Old Style" pitchFamily="34" charset="0"/>
                <a:ea typeface="Bookman Old Style" pitchFamily="34" charset="-122"/>
                <a:cs typeface="Bookman Old Style" pitchFamily="34" charset="-120"/>
              </a:rPr>
              <a:t> (</a:t>
            </a:r>
            <a:r>
              <a:rPr lang="en-US" sz="1600" b="1" dirty="0">
                <a:solidFill>
                  <a:srgbClr val="FFFFFF"/>
                </a:solidFill>
                <a:latin typeface="Bookman Old Style" pitchFamily="34" charset="0"/>
                <a:ea typeface="Bookman Old Style" pitchFamily="34" charset="-122"/>
                <a:cs typeface="Bookman Old Style" pitchFamily="34" charset="-120"/>
              </a:rPr>
              <a:t>For Sales team &amp; Client facing roles</a:t>
            </a:r>
            <a:r>
              <a:rPr lang="en-US" b="1" dirty="0">
                <a:solidFill>
                  <a:srgbClr val="FFFFFF"/>
                </a:solidFill>
                <a:latin typeface="Bookman Old Style" pitchFamily="34" charset="0"/>
                <a:ea typeface="Bookman Old Style" pitchFamily="34" charset="-122"/>
                <a:cs typeface="Bookman Old Style" pitchFamily="34" charset="-120"/>
              </a:rPr>
              <a:t>)</a:t>
            </a:r>
            <a:endParaRPr lang="en-US" dirty="0"/>
          </a:p>
          <a:p>
            <a:pPr marL="0" indent="0">
              <a:buNone/>
            </a:pPr>
            <a:endParaRPr lang="en-US" sz="1600" dirty="0"/>
          </a:p>
        </p:txBody>
      </p:sp>
      <p:sp>
        <p:nvSpPr>
          <p:cNvPr id="20" name="Text 15"/>
          <p:cNvSpPr/>
          <p:nvPr/>
        </p:nvSpPr>
        <p:spPr>
          <a:xfrm>
            <a:off x="6568775" y="2574984"/>
            <a:ext cx="4800600" cy="3664767"/>
          </a:xfrm>
          <a:prstGeom prst="rect">
            <a:avLst/>
          </a:prstGeom>
          <a:noFill/>
          <a:ln/>
        </p:spPr>
        <p:txBody>
          <a:bodyPr wrap="square" lIns="0" tIns="0" rIns="0" bIns="0" rtlCol="0" anchor="t"/>
          <a:lstStyle/>
          <a:p>
            <a:pPr marL="342900" indent="-342900">
              <a:lnSpc>
                <a:spcPct val="120000"/>
              </a:lnSpc>
              <a:spcAft>
                <a:spcPts val="1000"/>
              </a:spcAft>
              <a:buSzPct val="100000"/>
              <a:buChar char="•"/>
            </a:pPr>
            <a:r>
              <a:rPr lang="en-US" sz="1600" dirty="0">
                <a:solidFill>
                  <a:srgbClr val="F0EEE8"/>
                </a:solidFill>
                <a:latin typeface="Calibri" pitchFamily="34" charset="0"/>
                <a:ea typeface="Calibri" pitchFamily="34" charset="-122"/>
                <a:cs typeface="Calibri" pitchFamily="34" charset="-120"/>
              </a:rPr>
              <a:t>Blazers as appropriate</a:t>
            </a:r>
          </a:p>
          <a:p>
            <a:pPr marL="342900" indent="-342900">
              <a:lnSpc>
                <a:spcPct val="120000"/>
              </a:lnSpc>
              <a:spcAft>
                <a:spcPts val="1000"/>
              </a:spcAft>
              <a:buSzPct val="100000"/>
              <a:buChar char="•"/>
            </a:pPr>
            <a:r>
              <a:rPr lang="en-IN" sz="1600" dirty="0">
                <a:solidFill>
                  <a:srgbClr val="F0EEE8"/>
                </a:solidFill>
                <a:latin typeface="Calibri" pitchFamily="34" charset="0"/>
                <a:ea typeface="Calibri" pitchFamily="34" charset="-122"/>
                <a:cs typeface="Calibri" pitchFamily="34" charset="-120"/>
              </a:rPr>
              <a:t>Collared shirts in solid colours or subtle textures (avoid loud prints, big checks, prints), tucked in</a:t>
            </a:r>
          </a:p>
          <a:p>
            <a:pPr marL="342900" indent="-342900">
              <a:lnSpc>
                <a:spcPct val="120000"/>
              </a:lnSpc>
              <a:spcAft>
                <a:spcPts val="1000"/>
              </a:spcAft>
              <a:buSzPct val="100000"/>
              <a:buChar char="•"/>
            </a:pPr>
            <a:r>
              <a:rPr lang="en-IN" sz="1600" dirty="0">
                <a:solidFill>
                  <a:srgbClr val="F0EEE8"/>
                </a:solidFill>
                <a:latin typeface="Calibri" pitchFamily="34" charset="0"/>
                <a:ea typeface="Calibri" pitchFamily="34" charset="-122"/>
                <a:cs typeface="Calibri" pitchFamily="34" charset="-120"/>
              </a:rPr>
              <a:t>Formal trousers, linen pants or well-fitted chinos in neutral tones like — navy, charcoal, beige, black</a:t>
            </a:r>
          </a:p>
          <a:p>
            <a:pPr marL="342900" indent="-342900">
              <a:lnSpc>
                <a:spcPct val="120000"/>
              </a:lnSpc>
              <a:spcAft>
                <a:spcPts val="1000"/>
              </a:spcAft>
              <a:buSzPct val="100000"/>
              <a:buChar char="•"/>
            </a:pPr>
            <a:r>
              <a:rPr lang="en-IN" sz="1600" dirty="0">
                <a:solidFill>
                  <a:srgbClr val="F0EEE8"/>
                </a:solidFill>
                <a:latin typeface="Calibri" pitchFamily="34" charset="0"/>
                <a:ea typeface="Calibri" pitchFamily="34" charset="-122"/>
                <a:cs typeface="Calibri" pitchFamily="34" charset="-120"/>
              </a:rPr>
              <a:t>Leather shoes or loafers, well-maintained, with a matching belt</a:t>
            </a:r>
          </a:p>
          <a:p>
            <a:pPr marL="342900" indent="-342900">
              <a:lnSpc>
                <a:spcPct val="120000"/>
              </a:lnSpc>
              <a:spcAft>
                <a:spcPts val="1000"/>
              </a:spcAft>
              <a:buSzPct val="100000"/>
              <a:buChar char="•"/>
            </a:pPr>
            <a:r>
              <a:rPr lang="en-IN" sz="1600" dirty="0">
                <a:solidFill>
                  <a:srgbClr val="F0EEE8"/>
                </a:solidFill>
                <a:latin typeface="Calibri" pitchFamily="34" charset="0"/>
                <a:ea typeface="Calibri" pitchFamily="34" charset="-122"/>
                <a:cs typeface="Calibri" pitchFamily="34" charset="-120"/>
              </a:rPr>
              <a:t>Trimmed hair/beard, minimal accessories </a:t>
            </a:r>
          </a:p>
          <a:p>
            <a:pPr>
              <a:lnSpc>
                <a:spcPct val="120000"/>
              </a:lnSpc>
              <a:spcAft>
                <a:spcPts val="1000"/>
              </a:spcAft>
              <a:buSzPct val="100000"/>
            </a:pPr>
            <a:br>
              <a:rPr lang="en-US" sz="1600" dirty="0">
                <a:solidFill>
                  <a:srgbClr val="F0EEE8"/>
                </a:solidFill>
                <a:latin typeface="Calibri" pitchFamily="34" charset="0"/>
                <a:ea typeface="Calibri" pitchFamily="34" charset="-122"/>
                <a:cs typeface="Calibri" pitchFamily="34" charset="-120"/>
              </a:rPr>
            </a:br>
            <a:br>
              <a:rPr lang="en-US" sz="1600" dirty="0">
                <a:solidFill>
                  <a:srgbClr val="A8A6A0"/>
                </a:solidFill>
                <a:latin typeface="Calibri" pitchFamily="34" charset="0"/>
                <a:ea typeface="Calibri" pitchFamily="34" charset="-122"/>
                <a:cs typeface="Calibri" pitchFamily="34" charset="-120"/>
              </a:rPr>
            </a:br>
            <a:endParaRPr lang="en-US" sz="1600" dirty="0">
              <a:solidFill>
                <a:srgbClr val="A8A6A0"/>
              </a:solidFill>
            </a:endParaRPr>
          </a:p>
        </p:txBody>
      </p:sp>
      <p:sp>
        <p:nvSpPr>
          <p:cNvPr id="24" name="Shape 19"/>
          <p:cNvSpPr/>
          <p:nvPr/>
        </p:nvSpPr>
        <p:spPr>
          <a:xfrm>
            <a:off x="10140696" y="6579108"/>
            <a:ext cx="60350" cy="60350"/>
          </a:xfrm>
          <a:prstGeom prst="ellipse">
            <a:avLst/>
          </a:prstGeom>
          <a:solidFill>
            <a:srgbClr val="5C5B58"/>
          </a:solidFill>
          <a:ln/>
        </p:spPr>
        <p:txBody>
          <a:bodyPr/>
          <a:lstStyle/>
          <a:p>
            <a:endParaRPr lang="en-IN"/>
          </a:p>
        </p:txBody>
      </p:sp>
      <p:sp>
        <p:nvSpPr>
          <p:cNvPr id="25" name="Shape 20"/>
          <p:cNvSpPr/>
          <p:nvPr/>
        </p:nvSpPr>
        <p:spPr>
          <a:xfrm>
            <a:off x="10323576" y="6579108"/>
            <a:ext cx="60350" cy="60350"/>
          </a:xfrm>
          <a:prstGeom prst="ellipse">
            <a:avLst/>
          </a:prstGeom>
          <a:solidFill>
            <a:srgbClr val="5C5B58"/>
          </a:solidFill>
          <a:ln/>
        </p:spPr>
        <p:txBody>
          <a:bodyPr/>
          <a:lstStyle/>
          <a:p>
            <a:endParaRPr lang="en-IN"/>
          </a:p>
        </p:txBody>
      </p:sp>
      <p:sp>
        <p:nvSpPr>
          <p:cNvPr id="26" name="Shape 21"/>
          <p:cNvSpPr/>
          <p:nvPr/>
        </p:nvSpPr>
        <p:spPr>
          <a:xfrm>
            <a:off x="10506456" y="6579108"/>
            <a:ext cx="60350" cy="60350"/>
          </a:xfrm>
          <a:prstGeom prst="ellipse">
            <a:avLst/>
          </a:prstGeom>
          <a:solidFill>
            <a:srgbClr val="5C5B58"/>
          </a:solidFill>
          <a:ln/>
        </p:spPr>
        <p:txBody>
          <a:bodyPr/>
          <a:lstStyle/>
          <a:p>
            <a:endParaRPr lang="en-IN"/>
          </a:p>
        </p:txBody>
      </p:sp>
      <p:sp>
        <p:nvSpPr>
          <p:cNvPr id="27" name="Shape 22"/>
          <p:cNvSpPr/>
          <p:nvPr/>
        </p:nvSpPr>
        <p:spPr>
          <a:xfrm>
            <a:off x="10689336" y="6579108"/>
            <a:ext cx="60350" cy="60350"/>
          </a:xfrm>
          <a:prstGeom prst="ellipse">
            <a:avLst/>
          </a:prstGeom>
          <a:solidFill>
            <a:srgbClr val="5C5B58"/>
          </a:solidFill>
          <a:ln/>
        </p:spPr>
        <p:txBody>
          <a:bodyPr/>
          <a:lstStyle/>
          <a:p>
            <a:endParaRPr lang="en-IN"/>
          </a:p>
        </p:txBody>
      </p:sp>
      <p:sp>
        <p:nvSpPr>
          <p:cNvPr id="28" name="Shape 23"/>
          <p:cNvSpPr/>
          <p:nvPr/>
        </p:nvSpPr>
        <p:spPr>
          <a:xfrm>
            <a:off x="10872216" y="6556248"/>
            <a:ext cx="118872" cy="118872"/>
          </a:xfrm>
          <a:prstGeom prst="ellipse">
            <a:avLst/>
          </a:prstGeom>
          <a:solidFill>
            <a:srgbClr val="F07823"/>
          </a:solidFill>
          <a:ln/>
        </p:spPr>
        <p:txBody>
          <a:bodyPr/>
          <a:lstStyle/>
          <a:p>
            <a:endParaRPr lang="en-IN"/>
          </a:p>
        </p:txBody>
      </p:sp>
      <p:sp>
        <p:nvSpPr>
          <p:cNvPr id="29" name="Shape 24"/>
          <p:cNvSpPr/>
          <p:nvPr/>
        </p:nvSpPr>
        <p:spPr>
          <a:xfrm>
            <a:off x="11055096" y="6579108"/>
            <a:ext cx="60350" cy="60350"/>
          </a:xfrm>
          <a:prstGeom prst="ellipse">
            <a:avLst/>
          </a:prstGeom>
          <a:solidFill>
            <a:srgbClr val="5C5B58"/>
          </a:solidFill>
          <a:ln/>
        </p:spPr>
        <p:txBody>
          <a:bodyPr/>
          <a:lstStyle/>
          <a:p>
            <a:endParaRPr lang="en-IN"/>
          </a:p>
        </p:txBody>
      </p:sp>
      <p:sp>
        <p:nvSpPr>
          <p:cNvPr id="30" name="Shape 25"/>
          <p:cNvSpPr/>
          <p:nvPr/>
        </p:nvSpPr>
        <p:spPr>
          <a:xfrm>
            <a:off x="11237976" y="6579108"/>
            <a:ext cx="60350" cy="60350"/>
          </a:xfrm>
          <a:prstGeom prst="ellipse">
            <a:avLst/>
          </a:prstGeom>
          <a:solidFill>
            <a:srgbClr val="5C5B58"/>
          </a:solidFill>
          <a:ln/>
        </p:spPr>
        <p:txBody>
          <a:bodyPr/>
          <a:lstStyle/>
          <a:p>
            <a:endParaRPr lang="en-IN"/>
          </a:p>
        </p:txBody>
      </p:sp>
      <p:sp>
        <p:nvSpPr>
          <p:cNvPr id="31" name="Shape 26"/>
          <p:cNvSpPr/>
          <p:nvPr/>
        </p:nvSpPr>
        <p:spPr>
          <a:xfrm>
            <a:off x="11420856" y="6579108"/>
            <a:ext cx="60350" cy="60350"/>
          </a:xfrm>
          <a:prstGeom prst="ellipse">
            <a:avLst/>
          </a:prstGeom>
          <a:solidFill>
            <a:srgbClr val="5C5B58"/>
          </a:solidFill>
          <a:ln/>
        </p:spPr>
        <p:txBody>
          <a:bodyPr/>
          <a:lstStyle/>
          <a:p>
            <a:endParaRPr lang="en-IN"/>
          </a:p>
        </p:txBody>
      </p:sp>
      <p:sp>
        <p:nvSpPr>
          <p:cNvPr id="32" name="Shape 27"/>
          <p:cNvSpPr/>
          <p:nvPr/>
        </p:nvSpPr>
        <p:spPr>
          <a:xfrm>
            <a:off x="11603736" y="6579108"/>
            <a:ext cx="60350" cy="60350"/>
          </a:xfrm>
          <a:prstGeom prst="ellipse">
            <a:avLst/>
          </a:prstGeom>
          <a:solidFill>
            <a:srgbClr val="5C5B58"/>
          </a:solidFill>
          <a:ln/>
        </p:spPr>
        <p:txBody>
          <a:bodyPr/>
          <a:lstStyle/>
          <a:p>
            <a:endParaRPr lang="en-IN"/>
          </a:p>
        </p:txBody>
      </p:sp>
      <p:sp>
        <p:nvSpPr>
          <p:cNvPr id="33" name="Shape 28"/>
          <p:cNvSpPr/>
          <p:nvPr/>
        </p:nvSpPr>
        <p:spPr>
          <a:xfrm>
            <a:off x="11786616" y="6579108"/>
            <a:ext cx="60350" cy="60350"/>
          </a:xfrm>
          <a:prstGeom prst="ellipse">
            <a:avLst/>
          </a:prstGeom>
          <a:solidFill>
            <a:srgbClr val="5C5B58"/>
          </a:solidFill>
          <a:ln/>
        </p:spPr>
        <p:txBody>
          <a:bodyPr/>
          <a:lstStyle/>
          <a:p>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F1F1F"/>
        </a:solidFill>
        <a:effectLst/>
      </p:bgPr>
    </p:bg>
    <p:spTree>
      <p:nvGrpSpPr>
        <p:cNvPr id="1" name=""/>
        <p:cNvGrpSpPr/>
        <p:nvPr/>
      </p:nvGrpSpPr>
      <p:grpSpPr>
        <a:xfrm>
          <a:off x="0" y="0"/>
          <a:ext cx="0" cy="0"/>
          <a:chOff x="0" y="0"/>
          <a:chExt cx="0" cy="0"/>
        </a:xfrm>
      </p:grpSpPr>
      <p:sp>
        <p:nvSpPr>
          <p:cNvPr id="2" name="Shape 0"/>
          <p:cNvSpPr/>
          <p:nvPr/>
        </p:nvSpPr>
        <p:spPr>
          <a:xfrm>
            <a:off x="10149840" y="-1920240"/>
            <a:ext cx="4206240" cy="4206240"/>
          </a:xfrm>
          <a:prstGeom prst="ellipse">
            <a:avLst/>
          </a:prstGeom>
          <a:solidFill>
            <a:srgbClr val="3A3835">
              <a:alpha val="65000"/>
            </a:srgbClr>
          </a:solidFill>
          <a:ln/>
        </p:spPr>
        <p:txBody>
          <a:bodyPr/>
          <a:lstStyle/>
          <a:p>
            <a:endParaRPr lang="en-IN"/>
          </a:p>
        </p:txBody>
      </p:sp>
      <p:sp>
        <p:nvSpPr>
          <p:cNvPr id="3" name="Shape 1"/>
          <p:cNvSpPr/>
          <p:nvPr/>
        </p:nvSpPr>
        <p:spPr>
          <a:xfrm>
            <a:off x="-1463040" y="5394960"/>
            <a:ext cx="3108960" cy="3108960"/>
          </a:xfrm>
          <a:prstGeom prst="ellipse">
            <a:avLst/>
          </a:prstGeom>
          <a:solidFill>
            <a:srgbClr val="3A3835">
              <a:alpha val="65000"/>
            </a:srgbClr>
          </a:solidFill>
          <a:ln/>
        </p:spPr>
        <p:txBody>
          <a:bodyPr/>
          <a:lstStyle/>
          <a:p>
            <a:endParaRPr lang="en-IN"/>
          </a:p>
        </p:txBody>
      </p:sp>
      <p:sp>
        <p:nvSpPr>
          <p:cNvPr id="4" name="Text 2"/>
          <p:cNvSpPr/>
          <p:nvPr/>
        </p:nvSpPr>
        <p:spPr>
          <a:xfrm>
            <a:off x="640080" y="457200"/>
            <a:ext cx="8229600" cy="274320"/>
          </a:xfrm>
          <a:prstGeom prst="rect">
            <a:avLst/>
          </a:prstGeom>
          <a:noFill/>
          <a:ln/>
        </p:spPr>
        <p:txBody>
          <a:bodyPr wrap="square" lIns="0" tIns="0" rIns="0" bIns="0" rtlCol="0" anchor="ctr"/>
          <a:lstStyle/>
          <a:p>
            <a:pPr marL="0" indent="0">
              <a:buNone/>
            </a:pPr>
            <a:r>
              <a:rPr lang="en-US" b="1" kern="0" spc="240" dirty="0">
                <a:solidFill>
                  <a:srgbClr val="F07823"/>
                </a:solidFill>
                <a:latin typeface="Calibri" pitchFamily="34" charset="0"/>
                <a:ea typeface="Calibri" pitchFamily="34" charset="-122"/>
                <a:cs typeface="Calibri" pitchFamily="34" charset="-120"/>
              </a:rPr>
              <a:t>GUIDELINES FOR WOMEN</a:t>
            </a:r>
            <a:endParaRPr lang="en-US" b="1" dirty="0"/>
          </a:p>
        </p:txBody>
      </p:sp>
      <p:sp>
        <p:nvSpPr>
          <p:cNvPr id="5" name="Text 3"/>
          <p:cNvSpPr/>
          <p:nvPr/>
        </p:nvSpPr>
        <p:spPr>
          <a:xfrm>
            <a:off x="640080" y="749808"/>
            <a:ext cx="10881360" cy="777240"/>
          </a:xfrm>
          <a:prstGeom prst="rect">
            <a:avLst/>
          </a:prstGeom>
          <a:noFill/>
          <a:ln/>
        </p:spPr>
        <p:txBody>
          <a:bodyPr wrap="square" lIns="0" tIns="0" rIns="0" bIns="0" rtlCol="0" anchor="ctr"/>
          <a:lstStyle/>
          <a:p>
            <a:r>
              <a:rPr lang="en-US" sz="3000" b="1" dirty="0">
                <a:solidFill>
                  <a:srgbClr val="FFFFFF"/>
                </a:solidFill>
                <a:latin typeface="Bookman Old Style" pitchFamily="34" charset="0"/>
                <a:ea typeface="Bookman Old Style" pitchFamily="34" charset="-122"/>
                <a:cs typeface="Bookman Old Style" pitchFamily="34" charset="-120"/>
              </a:rPr>
              <a:t>Everyday Attire &amp; Client Meetings</a:t>
            </a:r>
            <a:endParaRPr lang="en-US" sz="3000" dirty="0"/>
          </a:p>
        </p:txBody>
      </p:sp>
      <p:sp>
        <p:nvSpPr>
          <p:cNvPr id="12" name="Text 9"/>
          <p:cNvSpPr/>
          <p:nvPr/>
        </p:nvSpPr>
        <p:spPr>
          <a:xfrm>
            <a:off x="960120" y="4892040"/>
            <a:ext cx="4800600" cy="777240"/>
          </a:xfrm>
          <a:prstGeom prst="rect">
            <a:avLst/>
          </a:prstGeom>
          <a:noFill/>
          <a:ln/>
        </p:spPr>
        <p:txBody>
          <a:bodyPr wrap="square" lIns="0" tIns="0" rIns="0" bIns="0" rtlCol="0" anchor="t"/>
          <a:lstStyle/>
          <a:p>
            <a:pPr marL="0" indent="0">
              <a:lnSpc>
                <a:spcPct val="125000"/>
              </a:lnSpc>
              <a:buNone/>
            </a:pPr>
            <a:endParaRPr lang="en-US" sz="1300" dirty="0"/>
          </a:p>
        </p:txBody>
      </p:sp>
      <p:sp>
        <p:nvSpPr>
          <p:cNvPr id="19" name="Shape 15"/>
          <p:cNvSpPr/>
          <p:nvPr/>
        </p:nvSpPr>
        <p:spPr>
          <a:xfrm>
            <a:off x="10140696" y="6579108"/>
            <a:ext cx="60350" cy="60350"/>
          </a:xfrm>
          <a:prstGeom prst="ellipse">
            <a:avLst/>
          </a:prstGeom>
          <a:solidFill>
            <a:srgbClr val="5C5B58"/>
          </a:solidFill>
          <a:ln/>
        </p:spPr>
        <p:txBody>
          <a:bodyPr/>
          <a:lstStyle/>
          <a:p>
            <a:endParaRPr lang="en-IN"/>
          </a:p>
        </p:txBody>
      </p:sp>
      <p:sp>
        <p:nvSpPr>
          <p:cNvPr id="20" name="Shape 16"/>
          <p:cNvSpPr/>
          <p:nvPr/>
        </p:nvSpPr>
        <p:spPr>
          <a:xfrm>
            <a:off x="10323576" y="6579108"/>
            <a:ext cx="60350" cy="60350"/>
          </a:xfrm>
          <a:prstGeom prst="ellipse">
            <a:avLst/>
          </a:prstGeom>
          <a:solidFill>
            <a:srgbClr val="5C5B58"/>
          </a:solidFill>
          <a:ln/>
        </p:spPr>
        <p:txBody>
          <a:bodyPr/>
          <a:lstStyle/>
          <a:p>
            <a:endParaRPr lang="en-IN"/>
          </a:p>
        </p:txBody>
      </p:sp>
      <p:sp>
        <p:nvSpPr>
          <p:cNvPr id="21" name="Shape 17"/>
          <p:cNvSpPr/>
          <p:nvPr/>
        </p:nvSpPr>
        <p:spPr>
          <a:xfrm>
            <a:off x="10506456" y="6579108"/>
            <a:ext cx="60350" cy="60350"/>
          </a:xfrm>
          <a:prstGeom prst="ellipse">
            <a:avLst/>
          </a:prstGeom>
          <a:solidFill>
            <a:srgbClr val="5C5B58"/>
          </a:solidFill>
          <a:ln/>
        </p:spPr>
        <p:txBody>
          <a:bodyPr/>
          <a:lstStyle/>
          <a:p>
            <a:endParaRPr lang="en-IN"/>
          </a:p>
        </p:txBody>
      </p:sp>
      <p:sp>
        <p:nvSpPr>
          <p:cNvPr id="22" name="Shape 18"/>
          <p:cNvSpPr/>
          <p:nvPr/>
        </p:nvSpPr>
        <p:spPr>
          <a:xfrm>
            <a:off x="10689336" y="6579108"/>
            <a:ext cx="60350" cy="60350"/>
          </a:xfrm>
          <a:prstGeom prst="ellipse">
            <a:avLst/>
          </a:prstGeom>
          <a:solidFill>
            <a:srgbClr val="5C5B58"/>
          </a:solidFill>
          <a:ln/>
        </p:spPr>
        <p:txBody>
          <a:bodyPr/>
          <a:lstStyle/>
          <a:p>
            <a:endParaRPr lang="en-IN"/>
          </a:p>
        </p:txBody>
      </p:sp>
      <p:sp>
        <p:nvSpPr>
          <p:cNvPr id="23" name="Shape 19"/>
          <p:cNvSpPr/>
          <p:nvPr/>
        </p:nvSpPr>
        <p:spPr>
          <a:xfrm>
            <a:off x="10872216" y="6579108"/>
            <a:ext cx="60350" cy="60350"/>
          </a:xfrm>
          <a:prstGeom prst="ellipse">
            <a:avLst/>
          </a:prstGeom>
          <a:solidFill>
            <a:srgbClr val="5C5B58"/>
          </a:solidFill>
          <a:ln/>
        </p:spPr>
        <p:txBody>
          <a:bodyPr/>
          <a:lstStyle/>
          <a:p>
            <a:endParaRPr lang="en-IN"/>
          </a:p>
        </p:txBody>
      </p:sp>
      <p:sp>
        <p:nvSpPr>
          <p:cNvPr id="24" name="Shape 20"/>
          <p:cNvSpPr/>
          <p:nvPr/>
        </p:nvSpPr>
        <p:spPr>
          <a:xfrm>
            <a:off x="11055096" y="6556248"/>
            <a:ext cx="118872" cy="118872"/>
          </a:xfrm>
          <a:prstGeom prst="ellipse">
            <a:avLst/>
          </a:prstGeom>
          <a:solidFill>
            <a:srgbClr val="F07823"/>
          </a:solidFill>
          <a:ln/>
        </p:spPr>
        <p:txBody>
          <a:bodyPr/>
          <a:lstStyle/>
          <a:p>
            <a:endParaRPr lang="en-IN"/>
          </a:p>
        </p:txBody>
      </p:sp>
      <p:sp>
        <p:nvSpPr>
          <p:cNvPr id="25" name="Shape 21"/>
          <p:cNvSpPr/>
          <p:nvPr/>
        </p:nvSpPr>
        <p:spPr>
          <a:xfrm>
            <a:off x="11237976" y="6579108"/>
            <a:ext cx="60350" cy="60350"/>
          </a:xfrm>
          <a:prstGeom prst="ellipse">
            <a:avLst/>
          </a:prstGeom>
          <a:solidFill>
            <a:srgbClr val="5C5B58"/>
          </a:solidFill>
          <a:ln/>
        </p:spPr>
        <p:txBody>
          <a:bodyPr/>
          <a:lstStyle/>
          <a:p>
            <a:endParaRPr lang="en-IN"/>
          </a:p>
        </p:txBody>
      </p:sp>
      <p:sp>
        <p:nvSpPr>
          <p:cNvPr id="26" name="Shape 22"/>
          <p:cNvSpPr/>
          <p:nvPr/>
        </p:nvSpPr>
        <p:spPr>
          <a:xfrm>
            <a:off x="11420856" y="6579108"/>
            <a:ext cx="60350" cy="60350"/>
          </a:xfrm>
          <a:prstGeom prst="ellipse">
            <a:avLst/>
          </a:prstGeom>
          <a:solidFill>
            <a:srgbClr val="5C5B58"/>
          </a:solidFill>
          <a:ln/>
        </p:spPr>
        <p:txBody>
          <a:bodyPr/>
          <a:lstStyle/>
          <a:p>
            <a:endParaRPr lang="en-IN"/>
          </a:p>
        </p:txBody>
      </p:sp>
      <p:sp>
        <p:nvSpPr>
          <p:cNvPr id="27" name="Shape 23"/>
          <p:cNvSpPr/>
          <p:nvPr/>
        </p:nvSpPr>
        <p:spPr>
          <a:xfrm>
            <a:off x="11603736" y="6579108"/>
            <a:ext cx="60350" cy="60350"/>
          </a:xfrm>
          <a:prstGeom prst="ellipse">
            <a:avLst/>
          </a:prstGeom>
          <a:solidFill>
            <a:srgbClr val="5C5B58"/>
          </a:solidFill>
          <a:ln/>
        </p:spPr>
        <p:txBody>
          <a:bodyPr/>
          <a:lstStyle/>
          <a:p>
            <a:endParaRPr lang="en-IN"/>
          </a:p>
        </p:txBody>
      </p:sp>
      <p:sp>
        <p:nvSpPr>
          <p:cNvPr id="28" name="Shape 24"/>
          <p:cNvSpPr/>
          <p:nvPr/>
        </p:nvSpPr>
        <p:spPr>
          <a:xfrm>
            <a:off x="11786616" y="6579108"/>
            <a:ext cx="60350" cy="60350"/>
          </a:xfrm>
          <a:prstGeom prst="ellipse">
            <a:avLst/>
          </a:prstGeom>
          <a:solidFill>
            <a:srgbClr val="5C5B58"/>
          </a:solidFill>
          <a:ln/>
        </p:spPr>
        <p:txBody>
          <a:bodyPr/>
          <a:lstStyle/>
          <a:p>
            <a:endParaRPr lang="en-IN"/>
          </a:p>
        </p:txBody>
      </p:sp>
      <p:sp>
        <p:nvSpPr>
          <p:cNvPr id="30" name="Shape 4">
            <a:extLst>
              <a:ext uri="{FF2B5EF4-FFF2-40B4-BE49-F238E27FC236}">
                <a16:creationId xmlns:a16="http://schemas.microsoft.com/office/drawing/2014/main" id="{5664943F-00F6-9740-956E-A42763F615BD}"/>
              </a:ext>
            </a:extLst>
          </p:cNvPr>
          <p:cNvSpPr/>
          <p:nvPr/>
        </p:nvSpPr>
        <p:spPr>
          <a:xfrm>
            <a:off x="640080" y="1691640"/>
            <a:ext cx="5394960" cy="4434840"/>
          </a:xfrm>
          <a:prstGeom prst="roundRect">
            <a:avLst>
              <a:gd name="adj" fmla="val 2474"/>
            </a:avLst>
          </a:prstGeom>
          <a:solidFill>
            <a:srgbClr val="2A2A28"/>
          </a:solidFill>
          <a:ln/>
          <a:effectLst>
            <a:outerShdw blurRad="88900" dist="38100" dir="5400000" algn="bl" rotWithShape="0">
              <a:srgbClr val="000000">
                <a:alpha val="18000"/>
              </a:srgbClr>
            </a:outerShdw>
          </a:effectLst>
        </p:spPr>
        <p:txBody>
          <a:bodyPr/>
          <a:lstStyle/>
          <a:p>
            <a:endParaRPr lang="en-IN"/>
          </a:p>
        </p:txBody>
      </p:sp>
      <p:sp>
        <p:nvSpPr>
          <p:cNvPr id="32" name="Shape 5">
            <a:extLst>
              <a:ext uri="{FF2B5EF4-FFF2-40B4-BE49-F238E27FC236}">
                <a16:creationId xmlns:a16="http://schemas.microsoft.com/office/drawing/2014/main" id="{24A3E382-3A09-42B1-9C74-CD487AC162C3}"/>
              </a:ext>
            </a:extLst>
          </p:cNvPr>
          <p:cNvSpPr/>
          <p:nvPr/>
        </p:nvSpPr>
        <p:spPr>
          <a:xfrm>
            <a:off x="974634" y="1818638"/>
            <a:ext cx="566928" cy="566928"/>
          </a:xfrm>
          <a:prstGeom prst="ellipse">
            <a:avLst/>
          </a:prstGeom>
          <a:solidFill>
            <a:srgbClr val="8FAE9B"/>
          </a:solidFill>
          <a:ln/>
        </p:spPr>
        <p:txBody>
          <a:bodyPr/>
          <a:lstStyle/>
          <a:p>
            <a:endParaRPr lang="en-IN"/>
          </a:p>
        </p:txBody>
      </p:sp>
      <p:pic>
        <p:nvPicPr>
          <p:cNvPr id="34" name="Image 0" descr="/home/claude/dresscode/icons2/tshirt_white.png">
            <a:extLst>
              <a:ext uri="{FF2B5EF4-FFF2-40B4-BE49-F238E27FC236}">
                <a16:creationId xmlns:a16="http://schemas.microsoft.com/office/drawing/2014/main" id="{D4888D14-C42D-1A6C-A8F3-3FA380BF6A5A}"/>
              </a:ext>
            </a:extLst>
          </p:cNvPr>
          <p:cNvPicPr>
            <a:picLocks noChangeAspect="1"/>
          </p:cNvPicPr>
          <p:nvPr/>
        </p:nvPicPr>
        <p:blipFill>
          <a:blip r:embed="rId3"/>
          <a:stretch>
            <a:fillRect/>
          </a:stretch>
        </p:blipFill>
        <p:spPr>
          <a:xfrm>
            <a:off x="1045165" y="1897007"/>
            <a:ext cx="413857" cy="413857"/>
          </a:xfrm>
          <a:prstGeom prst="rect">
            <a:avLst/>
          </a:prstGeom>
        </p:spPr>
      </p:pic>
      <p:sp>
        <p:nvSpPr>
          <p:cNvPr id="36" name="Text 6">
            <a:extLst>
              <a:ext uri="{FF2B5EF4-FFF2-40B4-BE49-F238E27FC236}">
                <a16:creationId xmlns:a16="http://schemas.microsoft.com/office/drawing/2014/main" id="{2B8F82BB-9BA3-D4E8-6E9A-15945CB5C774}"/>
              </a:ext>
            </a:extLst>
          </p:cNvPr>
          <p:cNvSpPr/>
          <p:nvPr/>
        </p:nvSpPr>
        <p:spPr>
          <a:xfrm>
            <a:off x="1723644" y="1819329"/>
            <a:ext cx="4114800" cy="365760"/>
          </a:xfrm>
          <a:prstGeom prst="rect">
            <a:avLst/>
          </a:prstGeom>
          <a:noFill/>
          <a:ln/>
        </p:spPr>
        <p:txBody>
          <a:bodyPr wrap="square" lIns="0" tIns="0" rIns="0" bIns="0" rtlCol="0" anchor="ctr"/>
          <a:lstStyle/>
          <a:p>
            <a:pPr marL="0" indent="0">
              <a:buNone/>
            </a:pPr>
            <a:r>
              <a:rPr lang="en-US" sz="1600" b="1" dirty="0">
                <a:solidFill>
                  <a:srgbClr val="FFFFFF"/>
                </a:solidFill>
                <a:latin typeface="Bookman Old Style" pitchFamily="34" charset="0"/>
                <a:ea typeface="Bookman Old Style" pitchFamily="34" charset="-122"/>
                <a:cs typeface="Bookman Old Style" pitchFamily="34" charset="-120"/>
              </a:rPr>
              <a:t>Everyday Attire</a:t>
            </a:r>
            <a:endParaRPr lang="en-US" sz="1600" dirty="0"/>
          </a:p>
        </p:txBody>
      </p:sp>
      <p:sp>
        <p:nvSpPr>
          <p:cNvPr id="38" name="Text 7">
            <a:extLst>
              <a:ext uri="{FF2B5EF4-FFF2-40B4-BE49-F238E27FC236}">
                <a16:creationId xmlns:a16="http://schemas.microsoft.com/office/drawing/2014/main" id="{14FC3834-A72D-C1DD-0FB0-FA2DEB14C313}"/>
              </a:ext>
            </a:extLst>
          </p:cNvPr>
          <p:cNvSpPr/>
          <p:nvPr/>
        </p:nvSpPr>
        <p:spPr>
          <a:xfrm>
            <a:off x="1045165" y="2519969"/>
            <a:ext cx="4800600" cy="1600200"/>
          </a:xfrm>
          <a:prstGeom prst="rect">
            <a:avLst/>
          </a:prstGeom>
          <a:noFill/>
          <a:ln/>
        </p:spPr>
        <p:txBody>
          <a:bodyPr wrap="square" lIns="0" tIns="0" rIns="0" bIns="0" rtlCol="0" anchor="t"/>
          <a:lstStyle/>
          <a:p>
            <a:pPr marL="285750" lvl="0" indent="-285750">
              <a:buFont typeface="Arial" panose="020B0604020202020204" pitchFamily="34" charset="0"/>
              <a:buChar char="•"/>
            </a:pPr>
            <a:r>
              <a:rPr lang="en-US" sz="1600" dirty="0">
                <a:solidFill>
                  <a:srgbClr val="E8E6E1"/>
                </a:solidFill>
              </a:rPr>
              <a:t>Formal tops, shirts, tunics or formal dresses</a:t>
            </a:r>
            <a:br>
              <a:rPr lang="en-US" sz="1600" dirty="0">
                <a:solidFill>
                  <a:srgbClr val="E8E6E1"/>
                </a:solidFill>
              </a:rPr>
            </a:br>
            <a:endParaRPr lang="en-IN" sz="1600" dirty="0"/>
          </a:p>
          <a:p>
            <a:pPr marL="285750" lvl="0" indent="-285750">
              <a:buFont typeface="Arial" panose="020B0604020202020204" pitchFamily="34" charset="0"/>
              <a:buChar char="•"/>
            </a:pPr>
            <a:r>
              <a:rPr lang="en-US" sz="1600" dirty="0">
                <a:solidFill>
                  <a:srgbClr val="E8E6E1"/>
                </a:solidFill>
              </a:rPr>
              <a:t>Ethnic wear is warmly welcomed — saris, salwar kameez, and similar styles are a beautiful part of our workplace</a:t>
            </a:r>
            <a:endParaRPr lang="en-IN" sz="1600" dirty="0"/>
          </a:p>
        </p:txBody>
      </p:sp>
      <p:sp>
        <p:nvSpPr>
          <p:cNvPr id="40" name="Shape 12">
            <a:extLst>
              <a:ext uri="{FF2B5EF4-FFF2-40B4-BE49-F238E27FC236}">
                <a16:creationId xmlns:a16="http://schemas.microsoft.com/office/drawing/2014/main" id="{1C4B0920-B073-8D5D-4D8E-2823A033EEBE}"/>
              </a:ext>
            </a:extLst>
          </p:cNvPr>
          <p:cNvSpPr/>
          <p:nvPr/>
        </p:nvSpPr>
        <p:spPr>
          <a:xfrm>
            <a:off x="6369594" y="1673352"/>
            <a:ext cx="5394960" cy="4434840"/>
          </a:xfrm>
          <a:prstGeom prst="roundRect">
            <a:avLst>
              <a:gd name="adj" fmla="val 2474"/>
            </a:avLst>
          </a:prstGeom>
          <a:solidFill>
            <a:srgbClr val="403F3D"/>
          </a:solidFill>
          <a:ln/>
          <a:effectLst>
            <a:outerShdw blurRad="88900" dist="38100" dir="5400000" algn="bl" rotWithShape="0">
              <a:srgbClr val="000000">
                <a:alpha val="18000"/>
              </a:srgbClr>
            </a:outerShdw>
          </a:effectLst>
        </p:spPr>
        <p:txBody>
          <a:bodyPr/>
          <a:lstStyle/>
          <a:p>
            <a:endParaRPr lang="en-IN"/>
          </a:p>
        </p:txBody>
      </p:sp>
      <p:sp>
        <p:nvSpPr>
          <p:cNvPr id="44" name="Shape 13">
            <a:extLst>
              <a:ext uri="{FF2B5EF4-FFF2-40B4-BE49-F238E27FC236}">
                <a16:creationId xmlns:a16="http://schemas.microsoft.com/office/drawing/2014/main" id="{69D309BE-85D8-AD3F-4F03-1AE3DBB0E080}"/>
              </a:ext>
            </a:extLst>
          </p:cNvPr>
          <p:cNvSpPr/>
          <p:nvPr/>
        </p:nvSpPr>
        <p:spPr>
          <a:xfrm>
            <a:off x="6492240" y="1849848"/>
            <a:ext cx="566928" cy="566928"/>
          </a:xfrm>
          <a:prstGeom prst="ellipse">
            <a:avLst/>
          </a:prstGeom>
          <a:solidFill>
            <a:srgbClr val="F07823"/>
          </a:solidFill>
          <a:ln/>
        </p:spPr>
        <p:txBody>
          <a:bodyPr/>
          <a:lstStyle/>
          <a:p>
            <a:endParaRPr lang="en-IN" dirty="0"/>
          </a:p>
        </p:txBody>
      </p:sp>
      <p:pic>
        <p:nvPicPr>
          <p:cNvPr id="46" name="Image 2" descr="/home/claude/dresscode/icons2/briefcase_dark.png">
            <a:extLst>
              <a:ext uri="{FF2B5EF4-FFF2-40B4-BE49-F238E27FC236}">
                <a16:creationId xmlns:a16="http://schemas.microsoft.com/office/drawing/2014/main" id="{8D268FFE-FEFF-E50A-0336-25DB502B27BE}"/>
              </a:ext>
            </a:extLst>
          </p:cNvPr>
          <p:cNvPicPr>
            <a:picLocks noChangeAspect="1"/>
          </p:cNvPicPr>
          <p:nvPr/>
        </p:nvPicPr>
        <p:blipFill>
          <a:blip r:embed="rId4"/>
          <a:stretch>
            <a:fillRect/>
          </a:stretch>
        </p:blipFill>
        <p:spPr>
          <a:xfrm>
            <a:off x="6568775" y="1911869"/>
            <a:ext cx="413857" cy="413857"/>
          </a:xfrm>
          <a:prstGeom prst="rect">
            <a:avLst/>
          </a:prstGeom>
        </p:spPr>
      </p:pic>
      <p:sp>
        <p:nvSpPr>
          <p:cNvPr id="50" name="Text 14">
            <a:extLst>
              <a:ext uri="{FF2B5EF4-FFF2-40B4-BE49-F238E27FC236}">
                <a16:creationId xmlns:a16="http://schemas.microsoft.com/office/drawing/2014/main" id="{58C68D88-FB8A-809E-8C9C-C9E73FD3C16C}"/>
              </a:ext>
            </a:extLst>
          </p:cNvPr>
          <p:cNvSpPr/>
          <p:nvPr/>
        </p:nvSpPr>
        <p:spPr>
          <a:xfrm>
            <a:off x="7183526" y="1897007"/>
            <a:ext cx="4114800" cy="365760"/>
          </a:xfrm>
          <a:prstGeom prst="rect">
            <a:avLst/>
          </a:prstGeom>
          <a:noFill/>
          <a:ln/>
        </p:spPr>
        <p:txBody>
          <a:bodyPr wrap="square" lIns="0" tIns="0" rIns="0" bIns="0" rtlCol="0" anchor="ctr"/>
          <a:lstStyle/>
          <a:p>
            <a:pPr marL="0" indent="0">
              <a:buNone/>
            </a:pPr>
            <a:r>
              <a:rPr lang="en-US" sz="1600" b="1" dirty="0">
                <a:solidFill>
                  <a:srgbClr val="FFFFFF"/>
                </a:solidFill>
                <a:latin typeface="Bookman Old Style" pitchFamily="34" charset="0"/>
                <a:ea typeface="Bookman Old Style" pitchFamily="34" charset="-122"/>
                <a:cs typeface="Bookman Old Style" pitchFamily="34" charset="-120"/>
              </a:rPr>
              <a:t>Client Meetings (</a:t>
            </a:r>
            <a:r>
              <a:rPr lang="en-US" sz="1400" b="1" dirty="0">
                <a:solidFill>
                  <a:srgbClr val="FFFFFF"/>
                </a:solidFill>
                <a:latin typeface="Bookman Old Style" pitchFamily="34" charset="0"/>
                <a:ea typeface="Bookman Old Style" pitchFamily="34" charset="-122"/>
                <a:cs typeface="Bookman Old Style" pitchFamily="34" charset="-120"/>
              </a:rPr>
              <a:t>For Sales team &amp; Client facing roles</a:t>
            </a:r>
            <a:r>
              <a:rPr lang="en-US" sz="1600" b="1" dirty="0">
                <a:solidFill>
                  <a:srgbClr val="FFFFFF"/>
                </a:solidFill>
                <a:latin typeface="Bookman Old Style" pitchFamily="34" charset="0"/>
                <a:ea typeface="Bookman Old Style" pitchFamily="34" charset="-122"/>
                <a:cs typeface="Bookman Old Style" pitchFamily="34" charset="-120"/>
              </a:rPr>
              <a:t>)</a:t>
            </a:r>
            <a:endParaRPr lang="en-US" sz="1600" dirty="0"/>
          </a:p>
        </p:txBody>
      </p:sp>
      <p:sp>
        <p:nvSpPr>
          <p:cNvPr id="52" name="Text 15">
            <a:extLst>
              <a:ext uri="{FF2B5EF4-FFF2-40B4-BE49-F238E27FC236}">
                <a16:creationId xmlns:a16="http://schemas.microsoft.com/office/drawing/2014/main" id="{E679B6BB-892D-0D0A-7145-A1701A3A4F9C}"/>
              </a:ext>
            </a:extLst>
          </p:cNvPr>
          <p:cNvSpPr/>
          <p:nvPr/>
        </p:nvSpPr>
        <p:spPr>
          <a:xfrm>
            <a:off x="6568775" y="2509655"/>
            <a:ext cx="4800600" cy="4279402"/>
          </a:xfrm>
          <a:prstGeom prst="rect">
            <a:avLst/>
          </a:prstGeom>
          <a:noFill/>
          <a:ln/>
        </p:spPr>
        <p:txBody>
          <a:bodyPr wrap="square" lIns="0" tIns="0" rIns="0" bIns="0" rtlCol="0" anchor="t"/>
          <a:lstStyle/>
          <a:p>
            <a:pPr marL="342900" indent="-342900">
              <a:lnSpc>
                <a:spcPct val="120000"/>
              </a:lnSpc>
              <a:spcAft>
                <a:spcPts val="1000"/>
              </a:spcAft>
              <a:buSzPct val="100000"/>
              <a:buChar char="•"/>
            </a:pPr>
            <a:r>
              <a:rPr lang="en-US" sz="1600" dirty="0">
                <a:solidFill>
                  <a:srgbClr val="F0EEE8"/>
                </a:solidFill>
                <a:latin typeface="Calibri" pitchFamily="34" charset="0"/>
                <a:ea typeface="Calibri" pitchFamily="34" charset="-122"/>
                <a:cs typeface="Calibri" pitchFamily="34" charset="-120"/>
              </a:rPr>
              <a:t>Blazers as appropriate</a:t>
            </a:r>
          </a:p>
          <a:p>
            <a:pPr marL="342900" indent="-342900">
              <a:lnSpc>
                <a:spcPct val="120000"/>
              </a:lnSpc>
              <a:spcAft>
                <a:spcPts val="1000"/>
              </a:spcAft>
              <a:buSzPct val="100000"/>
              <a:buChar char="•"/>
            </a:pPr>
            <a:r>
              <a:rPr lang="en-IN" sz="1600" dirty="0">
                <a:solidFill>
                  <a:srgbClr val="F0EEE8"/>
                </a:solidFill>
                <a:latin typeface="Calibri" pitchFamily="34" charset="0"/>
                <a:ea typeface="Calibri" pitchFamily="34" charset="-122"/>
                <a:cs typeface="Calibri" pitchFamily="34" charset="-120"/>
              </a:rPr>
              <a:t>Formal shirts, kurtas with trousers, or well-fitted formal dresses (longer than knee length), in sober colours</a:t>
            </a:r>
          </a:p>
          <a:p>
            <a:pPr marL="342900" indent="-342900">
              <a:lnSpc>
                <a:spcPct val="120000"/>
              </a:lnSpc>
              <a:spcAft>
                <a:spcPts val="1000"/>
              </a:spcAft>
              <a:buSzPct val="100000"/>
              <a:buChar char="•"/>
            </a:pPr>
            <a:r>
              <a:rPr lang="en-IN" sz="1600" dirty="0">
                <a:solidFill>
                  <a:srgbClr val="F0EEE8"/>
                </a:solidFill>
                <a:latin typeface="Calibri" pitchFamily="34" charset="0"/>
                <a:ea typeface="Calibri" pitchFamily="34" charset="-122"/>
                <a:cs typeface="Calibri" pitchFamily="34" charset="-120"/>
              </a:rPr>
              <a:t>Saree or salwar-kameez as an optional traditional-wear choice, if it fits our brand culture</a:t>
            </a:r>
          </a:p>
          <a:p>
            <a:pPr marL="342900" indent="-342900">
              <a:lnSpc>
                <a:spcPct val="120000"/>
              </a:lnSpc>
              <a:spcAft>
                <a:spcPts val="1000"/>
              </a:spcAft>
              <a:buSzPct val="100000"/>
              <a:buChar char="•"/>
            </a:pPr>
            <a:r>
              <a:rPr lang="en-IN" sz="1600" dirty="0">
                <a:solidFill>
                  <a:srgbClr val="F0EEE8"/>
                </a:solidFill>
                <a:latin typeface="Calibri" pitchFamily="34" charset="0"/>
                <a:ea typeface="Calibri" pitchFamily="34" charset="-122"/>
                <a:cs typeface="Calibri" pitchFamily="34" charset="-120"/>
              </a:rPr>
              <a:t>Closed-toe flats or heels — practical for walking or active sites</a:t>
            </a:r>
          </a:p>
          <a:p>
            <a:pPr marL="342900" indent="-342900">
              <a:lnSpc>
                <a:spcPct val="120000"/>
              </a:lnSpc>
              <a:spcAft>
                <a:spcPts val="1000"/>
              </a:spcAft>
              <a:buSzPct val="100000"/>
              <a:buChar char="•"/>
            </a:pPr>
            <a:r>
              <a:rPr lang="en-IN" sz="1600" dirty="0">
                <a:solidFill>
                  <a:srgbClr val="F0EEE8"/>
                </a:solidFill>
                <a:latin typeface="Calibri" pitchFamily="34" charset="0"/>
                <a:ea typeface="Calibri" pitchFamily="34" charset="-122"/>
                <a:cs typeface="Calibri" pitchFamily="34" charset="-120"/>
              </a:rPr>
              <a:t>Minimal jewellery and makeup, hair neatly tied back</a:t>
            </a:r>
          </a:p>
          <a:p>
            <a:pPr marL="342900" indent="-342900">
              <a:lnSpc>
                <a:spcPct val="120000"/>
              </a:lnSpc>
              <a:spcAft>
                <a:spcPts val="1000"/>
              </a:spcAft>
              <a:buSzPct val="100000"/>
              <a:buChar char="•"/>
            </a:pPr>
            <a:endParaRPr lang="en-US" sz="1600" dirty="0"/>
          </a:p>
        </p:txBody>
      </p:sp>
      <p:sp>
        <p:nvSpPr>
          <p:cNvPr id="54" name="Shape 9">
            <a:extLst>
              <a:ext uri="{FF2B5EF4-FFF2-40B4-BE49-F238E27FC236}">
                <a16:creationId xmlns:a16="http://schemas.microsoft.com/office/drawing/2014/main" id="{9283392D-E577-D8A4-8C0A-22A409C23C62}"/>
              </a:ext>
            </a:extLst>
          </p:cNvPr>
          <p:cNvSpPr/>
          <p:nvPr/>
        </p:nvSpPr>
        <p:spPr>
          <a:xfrm>
            <a:off x="1005132" y="4687438"/>
            <a:ext cx="499518" cy="478922"/>
          </a:xfrm>
          <a:prstGeom prst="ellipse">
            <a:avLst/>
          </a:prstGeom>
          <a:solidFill>
            <a:srgbClr val="403F3D"/>
          </a:solidFill>
          <a:ln/>
        </p:spPr>
        <p:txBody>
          <a:bodyPr/>
          <a:lstStyle/>
          <a:p>
            <a:endParaRPr lang="en-IN"/>
          </a:p>
        </p:txBody>
      </p:sp>
      <p:sp>
        <p:nvSpPr>
          <p:cNvPr id="56" name="Shape 8">
            <a:extLst>
              <a:ext uri="{FF2B5EF4-FFF2-40B4-BE49-F238E27FC236}">
                <a16:creationId xmlns:a16="http://schemas.microsoft.com/office/drawing/2014/main" id="{32867465-DA0F-CDAE-00F5-330F820FCDD8}"/>
              </a:ext>
            </a:extLst>
          </p:cNvPr>
          <p:cNvSpPr/>
          <p:nvPr/>
        </p:nvSpPr>
        <p:spPr>
          <a:xfrm>
            <a:off x="974634" y="4544278"/>
            <a:ext cx="4800600" cy="0"/>
          </a:xfrm>
          <a:prstGeom prst="line">
            <a:avLst/>
          </a:prstGeom>
          <a:noFill/>
          <a:ln w="9525">
            <a:solidFill>
              <a:srgbClr val="4A4844"/>
            </a:solidFill>
            <a:prstDash val="solid"/>
          </a:ln>
        </p:spPr>
        <p:txBody>
          <a:bodyPr/>
          <a:lstStyle/>
          <a:p>
            <a:endParaRPr lang="en-IN"/>
          </a:p>
        </p:txBody>
      </p:sp>
      <p:pic>
        <p:nvPicPr>
          <p:cNvPr id="58" name="Image 1" descr="/home/claude/dresscode/icons2/cut_white.png">
            <a:extLst>
              <a:ext uri="{FF2B5EF4-FFF2-40B4-BE49-F238E27FC236}">
                <a16:creationId xmlns:a16="http://schemas.microsoft.com/office/drawing/2014/main" id="{C614A8BB-0207-4EFE-FADC-A83DE3588C61}"/>
              </a:ext>
            </a:extLst>
          </p:cNvPr>
          <p:cNvPicPr>
            <a:picLocks noChangeAspect="1"/>
          </p:cNvPicPr>
          <p:nvPr/>
        </p:nvPicPr>
        <p:blipFill>
          <a:blip r:embed="rId5"/>
          <a:stretch>
            <a:fillRect/>
          </a:stretch>
        </p:blipFill>
        <p:spPr>
          <a:xfrm>
            <a:off x="1085215" y="4764209"/>
            <a:ext cx="333756" cy="333756"/>
          </a:xfrm>
          <a:prstGeom prst="rect">
            <a:avLst/>
          </a:prstGeom>
        </p:spPr>
      </p:pic>
      <p:sp>
        <p:nvSpPr>
          <p:cNvPr id="60" name="Text 11">
            <a:extLst>
              <a:ext uri="{FF2B5EF4-FFF2-40B4-BE49-F238E27FC236}">
                <a16:creationId xmlns:a16="http://schemas.microsoft.com/office/drawing/2014/main" id="{BCCD3225-AE28-4EB3-1C2C-4A5278497B94}"/>
              </a:ext>
            </a:extLst>
          </p:cNvPr>
          <p:cNvSpPr/>
          <p:nvPr/>
        </p:nvSpPr>
        <p:spPr>
          <a:xfrm>
            <a:off x="1097280" y="5247107"/>
            <a:ext cx="4800600" cy="767077"/>
          </a:xfrm>
          <a:prstGeom prst="rect">
            <a:avLst/>
          </a:prstGeom>
          <a:noFill/>
          <a:ln/>
        </p:spPr>
        <p:txBody>
          <a:bodyPr wrap="square" lIns="0" tIns="0" rIns="0" bIns="0" rtlCol="0" anchor="ctr"/>
          <a:lstStyle/>
          <a:p>
            <a:pPr>
              <a:lnSpc>
                <a:spcPct val="120000"/>
              </a:lnSpc>
            </a:pPr>
            <a:r>
              <a:rPr lang="en-IN" sz="1600" dirty="0">
                <a:solidFill>
                  <a:srgbClr val="E8E6E1"/>
                </a:solidFill>
              </a:rPr>
              <a:t>Neat and well-maintained hair, with minimal or no makeup/accessories, as per personal choice and comfortable footwear.</a:t>
            </a:r>
            <a:endParaRPr lang="en-US" sz="1600" dirty="0">
              <a:solidFill>
                <a:srgbClr val="E8E6E1"/>
              </a:solidFill>
              <a:latin typeface="Calibri" pitchFamily="34" charset="0"/>
              <a:ea typeface="Calibri" pitchFamily="34" charset="-122"/>
              <a:cs typeface="Calibri" pitchFamily="34" charset="-120"/>
            </a:endParaRPr>
          </a:p>
        </p:txBody>
      </p:sp>
      <p:sp>
        <p:nvSpPr>
          <p:cNvPr id="62" name="Text 10">
            <a:extLst>
              <a:ext uri="{FF2B5EF4-FFF2-40B4-BE49-F238E27FC236}">
                <a16:creationId xmlns:a16="http://schemas.microsoft.com/office/drawing/2014/main" id="{BAC53D1E-7CC8-3672-1E5E-80BE0D5BCAAF}"/>
              </a:ext>
            </a:extLst>
          </p:cNvPr>
          <p:cNvSpPr/>
          <p:nvPr/>
        </p:nvSpPr>
        <p:spPr>
          <a:xfrm>
            <a:off x="1739011" y="4748882"/>
            <a:ext cx="2743200" cy="274320"/>
          </a:xfrm>
          <a:prstGeom prst="rect">
            <a:avLst/>
          </a:prstGeom>
          <a:noFill/>
          <a:ln/>
        </p:spPr>
        <p:txBody>
          <a:bodyPr wrap="square" lIns="0" tIns="0" rIns="0" bIns="0" rtlCol="0" anchor="ctr"/>
          <a:lstStyle/>
          <a:p>
            <a:pPr marL="0" indent="0">
              <a:buNone/>
            </a:pPr>
            <a:r>
              <a:rPr lang="en-US" sz="1600" b="1" dirty="0">
                <a:solidFill>
                  <a:srgbClr val="FFFFFF"/>
                </a:solidFill>
                <a:latin typeface="Bookman Old Style" pitchFamily="34" charset="0"/>
                <a:ea typeface="Bookman Old Style" pitchFamily="34" charset="-122"/>
                <a:cs typeface="Bookman Old Style" pitchFamily="34" charset="-120"/>
              </a:rPr>
              <a:t>Grooming tips</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bg>
      <p:bgPr>
        <a:solidFill>
          <a:srgbClr val="1F1F1F"/>
        </a:solidFill>
        <a:effectLst/>
      </p:bgPr>
    </p:bg>
    <p:spTree>
      <p:nvGrpSpPr>
        <p:cNvPr id="1" name=""/>
        <p:cNvGrpSpPr/>
        <p:nvPr/>
      </p:nvGrpSpPr>
      <p:grpSpPr>
        <a:xfrm>
          <a:off x="0" y="0"/>
          <a:ext cx="0" cy="0"/>
          <a:chOff x="0" y="0"/>
          <a:chExt cx="0" cy="0"/>
        </a:xfrm>
      </p:grpSpPr>
      <p:sp>
        <p:nvSpPr>
          <p:cNvPr id="2" name="Shape 0"/>
          <p:cNvSpPr/>
          <p:nvPr/>
        </p:nvSpPr>
        <p:spPr>
          <a:xfrm>
            <a:off x="10149840" y="-1920240"/>
            <a:ext cx="4206240" cy="4206240"/>
          </a:xfrm>
          <a:prstGeom prst="ellipse">
            <a:avLst/>
          </a:prstGeom>
          <a:solidFill>
            <a:srgbClr val="3A3835">
              <a:alpha val="65000"/>
            </a:srgbClr>
          </a:solidFill>
          <a:ln/>
        </p:spPr>
        <p:txBody>
          <a:bodyPr/>
          <a:lstStyle/>
          <a:p>
            <a:endParaRPr lang="en-IN"/>
          </a:p>
        </p:txBody>
      </p:sp>
      <p:sp>
        <p:nvSpPr>
          <p:cNvPr id="3" name="Shape 1"/>
          <p:cNvSpPr/>
          <p:nvPr/>
        </p:nvSpPr>
        <p:spPr>
          <a:xfrm>
            <a:off x="-1463040" y="5394960"/>
            <a:ext cx="3108960" cy="3108960"/>
          </a:xfrm>
          <a:prstGeom prst="ellipse">
            <a:avLst/>
          </a:prstGeom>
          <a:solidFill>
            <a:srgbClr val="3A3835">
              <a:alpha val="65000"/>
            </a:srgbClr>
          </a:solidFill>
          <a:ln/>
        </p:spPr>
        <p:txBody>
          <a:bodyPr/>
          <a:lstStyle/>
          <a:p>
            <a:endParaRPr lang="en-IN"/>
          </a:p>
        </p:txBody>
      </p:sp>
      <p:sp>
        <p:nvSpPr>
          <p:cNvPr id="5" name="Text 3"/>
          <p:cNvSpPr/>
          <p:nvPr/>
        </p:nvSpPr>
        <p:spPr>
          <a:xfrm>
            <a:off x="640080" y="749808"/>
            <a:ext cx="10881360" cy="777240"/>
          </a:xfrm>
          <a:prstGeom prst="rect">
            <a:avLst/>
          </a:prstGeom>
          <a:noFill/>
          <a:ln/>
        </p:spPr>
        <p:txBody>
          <a:bodyPr wrap="square" lIns="0" tIns="0" rIns="0" bIns="0" rtlCol="0" anchor="ctr"/>
          <a:lstStyle/>
          <a:p>
            <a:pPr marL="0" indent="0">
              <a:buNone/>
            </a:pPr>
            <a:r>
              <a:rPr lang="en-US" sz="3000" b="1" dirty="0">
                <a:solidFill>
                  <a:srgbClr val="FFFFFF"/>
                </a:solidFill>
                <a:latin typeface="Bookman Old Style" pitchFamily="34" charset="0"/>
                <a:ea typeface="Bookman Old Style" pitchFamily="34" charset="-122"/>
                <a:cs typeface="Bookman Old Style" pitchFamily="34" charset="-120"/>
              </a:rPr>
              <a:t>Presenting Yourself with Polish</a:t>
            </a:r>
            <a:endParaRPr lang="en-US" sz="3000" dirty="0"/>
          </a:p>
        </p:txBody>
      </p:sp>
      <p:sp>
        <p:nvSpPr>
          <p:cNvPr id="6" name="Shape 4"/>
          <p:cNvSpPr/>
          <p:nvPr/>
        </p:nvSpPr>
        <p:spPr>
          <a:xfrm>
            <a:off x="640080" y="1691640"/>
            <a:ext cx="5349240" cy="1847088"/>
          </a:xfrm>
          <a:prstGeom prst="roundRect">
            <a:avLst>
              <a:gd name="adj" fmla="val 5941"/>
            </a:avLst>
          </a:prstGeom>
          <a:solidFill>
            <a:srgbClr val="2A2A28"/>
          </a:solidFill>
          <a:ln/>
          <a:effectLst>
            <a:outerShdw blurRad="88900" dist="38100" dir="5400000" algn="bl" rotWithShape="0">
              <a:srgbClr val="000000">
                <a:alpha val="18000"/>
              </a:srgbClr>
            </a:outerShdw>
          </a:effectLst>
        </p:spPr>
        <p:txBody>
          <a:bodyPr/>
          <a:lstStyle/>
          <a:p>
            <a:endParaRPr lang="en-IN"/>
          </a:p>
        </p:txBody>
      </p:sp>
      <p:sp>
        <p:nvSpPr>
          <p:cNvPr id="7" name="Shape 5"/>
          <p:cNvSpPr/>
          <p:nvPr/>
        </p:nvSpPr>
        <p:spPr>
          <a:xfrm>
            <a:off x="850392" y="1920240"/>
            <a:ext cx="813816" cy="813816"/>
          </a:xfrm>
          <a:prstGeom prst="ellipse">
            <a:avLst/>
          </a:prstGeom>
          <a:ln w="15875">
            <a:solidFill>
              <a:srgbClr val="F07823"/>
            </a:solidFill>
            <a:prstDash val="solid"/>
          </a:ln>
        </p:spPr>
        <p:txBody>
          <a:bodyPr/>
          <a:lstStyle/>
          <a:p>
            <a:endParaRPr lang="en-IN"/>
          </a:p>
        </p:txBody>
      </p:sp>
      <p:sp>
        <p:nvSpPr>
          <p:cNvPr id="8" name="Shape 6"/>
          <p:cNvSpPr/>
          <p:nvPr/>
        </p:nvSpPr>
        <p:spPr>
          <a:xfrm>
            <a:off x="914400" y="1984248"/>
            <a:ext cx="685800" cy="685800"/>
          </a:xfrm>
          <a:prstGeom prst="ellipse">
            <a:avLst/>
          </a:prstGeom>
          <a:solidFill>
            <a:srgbClr val="403F3D"/>
          </a:solidFill>
          <a:ln/>
        </p:spPr>
        <p:txBody>
          <a:bodyPr/>
          <a:lstStyle/>
          <a:p>
            <a:endParaRPr lang="en-IN"/>
          </a:p>
        </p:txBody>
      </p:sp>
      <p:sp>
        <p:nvSpPr>
          <p:cNvPr id="10" name="Text 7"/>
          <p:cNvSpPr/>
          <p:nvPr/>
        </p:nvSpPr>
        <p:spPr>
          <a:xfrm>
            <a:off x="1828800" y="1965960"/>
            <a:ext cx="3886200" cy="365760"/>
          </a:xfrm>
          <a:prstGeom prst="rect">
            <a:avLst/>
          </a:prstGeom>
          <a:noFill/>
          <a:ln/>
        </p:spPr>
        <p:txBody>
          <a:bodyPr wrap="square" lIns="0" tIns="0" rIns="0" bIns="0" rtlCol="0" anchor="ctr"/>
          <a:lstStyle/>
          <a:p>
            <a:pPr marL="0" indent="0">
              <a:buNone/>
            </a:pPr>
            <a:r>
              <a:rPr lang="en-US" b="1" dirty="0">
                <a:solidFill>
                  <a:srgbClr val="FFFFFF"/>
                </a:solidFill>
                <a:latin typeface="Bookman Old Style" pitchFamily="34" charset="0"/>
                <a:ea typeface="Bookman Old Style" pitchFamily="34" charset="-122"/>
                <a:cs typeface="Bookman Old Style" pitchFamily="34" charset="-120"/>
              </a:rPr>
              <a:t>Hair</a:t>
            </a:r>
            <a:endParaRPr lang="en-US" dirty="0"/>
          </a:p>
        </p:txBody>
      </p:sp>
      <p:sp>
        <p:nvSpPr>
          <p:cNvPr id="11" name="Text 8"/>
          <p:cNvSpPr/>
          <p:nvPr/>
        </p:nvSpPr>
        <p:spPr>
          <a:xfrm>
            <a:off x="1828800" y="2350008"/>
            <a:ext cx="3886200" cy="1051560"/>
          </a:xfrm>
          <a:prstGeom prst="rect">
            <a:avLst/>
          </a:prstGeom>
          <a:noFill/>
          <a:ln/>
        </p:spPr>
        <p:txBody>
          <a:bodyPr wrap="square" lIns="0" tIns="0" rIns="0" bIns="0" rtlCol="0" anchor="t"/>
          <a:lstStyle/>
          <a:p>
            <a:pPr marL="0" indent="0">
              <a:lnSpc>
                <a:spcPct val="122000"/>
              </a:lnSpc>
              <a:buNone/>
            </a:pPr>
            <a:r>
              <a:rPr lang="en-US" sz="1600" dirty="0">
                <a:solidFill>
                  <a:srgbClr val="E8E6E1"/>
                </a:solidFill>
                <a:latin typeface="Calibri" pitchFamily="34" charset="0"/>
                <a:ea typeface="Calibri" pitchFamily="34" charset="-122"/>
                <a:cs typeface="Calibri" pitchFamily="34" charset="-120"/>
              </a:rPr>
              <a:t>Neat, well-maintained hair, styled appropriately for a professional setting.</a:t>
            </a:r>
            <a:endParaRPr lang="en-US" sz="1600" dirty="0"/>
          </a:p>
        </p:txBody>
      </p:sp>
      <p:sp>
        <p:nvSpPr>
          <p:cNvPr id="12" name="Shape 9"/>
          <p:cNvSpPr/>
          <p:nvPr/>
        </p:nvSpPr>
        <p:spPr>
          <a:xfrm>
            <a:off x="6263640" y="1691640"/>
            <a:ext cx="5349240" cy="1847088"/>
          </a:xfrm>
          <a:prstGeom prst="roundRect">
            <a:avLst>
              <a:gd name="adj" fmla="val 5941"/>
            </a:avLst>
          </a:prstGeom>
          <a:solidFill>
            <a:srgbClr val="2A2A28"/>
          </a:solidFill>
          <a:ln/>
          <a:effectLst>
            <a:outerShdw blurRad="88900" dist="38100" dir="5400000" algn="bl" rotWithShape="0">
              <a:srgbClr val="000000">
                <a:alpha val="18000"/>
              </a:srgbClr>
            </a:outerShdw>
          </a:effectLst>
        </p:spPr>
        <p:txBody>
          <a:bodyPr/>
          <a:lstStyle/>
          <a:p>
            <a:endParaRPr lang="en-IN"/>
          </a:p>
        </p:txBody>
      </p:sp>
      <p:sp>
        <p:nvSpPr>
          <p:cNvPr id="13" name="Shape 10"/>
          <p:cNvSpPr/>
          <p:nvPr/>
        </p:nvSpPr>
        <p:spPr>
          <a:xfrm>
            <a:off x="6473952" y="1920240"/>
            <a:ext cx="813816" cy="813816"/>
          </a:xfrm>
          <a:prstGeom prst="ellipse">
            <a:avLst/>
          </a:prstGeom>
          <a:ln w="15875">
            <a:solidFill>
              <a:srgbClr val="F07823"/>
            </a:solidFill>
            <a:prstDash val="solid"/>
          </a:ln>
        </p:spPr>
        <p:txBody>
          <a:bodyPr/>
          <a:lstStyle/>
          <a:p>
            <a:endParaRPr lang="en-IN"/>
          </a:p>
        </p:txBody>
      </p:sp>
      <p:sp>
        <p:nvSpPr>
          <p:cNvPr id="14" name="Shape 11"/>
          <p:cNvSpPr/>
          <p:nvPr/>
        </p:nvSpPr>
        <p:spPr>
          <a:xfrm>
            <a:off x="6537960" y="1984248"/>
            <a:ext cx="685800" cy="685800"/>
          </a:xfrm>
          <a:prstGeom prst="ellipse">
            <a:avLst/>
          </a:prstGeom>
          <a:solidFill>
            <a:srgbClr val="403F3D"/>
          </a:solidFill>
          <a:ln/>
        </p:spPr>
        <p:txBody>
          <a:bodyPr/>
          <a:lstStyle/>
          <a:p>
            <a:endParaRPr lang="en-IN"/>
          </a:p>
        </p:txBody>
      </p:sp>
      <p:sp>
        <p:nvSpPr>
          <p:cNvPr id="16" name="Text 12"/>
          <p:cNvSpPr/>
          <p:nvPr/>
        </p:nvSpPr>
        <p:spPr>
          <a:xfrm>
            <a:off x="7452360" y="1965960"/>
            <a:ext cx="3886200" cy="365760"/>
          </a:xfrm>
          <a:prstGeom prst="rect">
            <a:avLst/>
          </a:prstGeom>
          <a:noFill/>
          <a:ln/>
        </p:spPr>
        <p:txBody>
          <a:bodyPr wrap="square" lIns="0" tIns="0" rIns="0" bIns="0" rtlCol="0" anchor="ctr"/>
          <a:lstStyle/>
          <a:p>
            <a:pPr marL="0" indent="0">
              <a:buNone/>
            </a:pPr>
            <a:r>
              <a:rPr lang="en-US" b="1" dirty="0">
                <a:solidFill>
                  <a:srgbClr val="FFFFFF"/>
                </a:solidFill>
                <a:latin typeface="Bookman Old Style" pitchFamily="34" charset="0"/>
              </a:rPr>
              <a:t>Nails</a:t>
            </a:r>
          </a:p>
        </p:txBody>
      </p:sp>
      <p:sp>
        <p:nvSpPr>
          <p:cNvPr id="17" name="Text 13"/>
          <p:cNvSpPr/>
          <p:nvPr/>
        </p:nvSpPr>
        <p:spPr>
          <a:xfrm>
            <a:off x="7452360" y="2350008"/>
            <a:ext cx="3886200" cy="1051560"/>
          </a:xfrm>
          <a:prstGeom prst="rect">
            <a:avLst/>
          </a:prstGeom>
          <a:noFill/>
          <a:ln/>
        </p:spPr>
        <p:txBody>
          <a:bodyPr wrap="square" lIns="0" tIns="0" rIns="0" bIns="0" rtlCol="0" anchor="t"/>
          <a:lstStyle/>
          <a:p>
            <a:pPr>
              <a:lnSpc>
                <a:spcPct val="122000"/>
              </a:lnSpc>
            </a:pPr>
            <a:r>
              <a:rPr lang="en-US" sz="1600" dirty="0">
                <a:solidFill>
                  <a:srgbClr val="E8E6E1"/>
                </a:solidFill>
                <a:latin typeface="Calibri" pitchFamily="34" charset="0"/>
                <a:ea typeface="Calibri" pitchFamily="34" charset="-122"/>
                <a:cs typeface="Calibri" pitchFamily="34" charset="-120"/>
              </a:rPr>
              <a:t>Trimmed, clean nails. If nail polish is worn, keep it neat and chip-free.</a:t>
            </a:r>
          </a:p>
        </p:txBody>
      </p:sp>
      <p:sp>
        <p:nvSpPr>
          <p:cNvPr id="18" name="Shape 14"/>
          <p:cNvSpPr/>
          <p:nvPr/>
        </p:nvSpPr>
        <p:spPr>
          <a:xfrm>
            <a:off x="640080" y="3813048"/>
            <a:ext cx="5349240" cy="1847088"/>
          </a:xfrm>
          <a:prstGeom prst="roundRect">
            <a:avLst>
              <a:gd name="adj" fmla="val 5941"/>
            </a:avLst>
          </a:prstGeom>
          <a:solidFill>
            <a:srgbClr val="2A2A28"/>
          </a:solidFill>
          <a:ln/>
          <a:effectLst>
            <a:outerShdw blurRad="88900" dist="38100" dir="5400000" algn="bl" rotWithShape="0">
              <a:srgbClr val="000000">
                <a:alpha val="18000"/>
              </a:srgbClr>
            </a:outerShdw>
          </a:effectLst>
        </p:spPr>
        <p:txBody>
          <a:bodyPr/>
          <a:lstStyle/>
          <a:p>
            <a:endParaRPr lang="en-IN"/>
          </a:p>
        </p:txBody>
      </p:sp>
      <p:sp>
        <p:nvSpPr>
          <p:cNvPr id="19" name="Shape 15"/>
          <p:cNvSpPr/>
          <p:nvPr/>
        </p:nvSpPr>
        <p:spPr>
          <a:xfrm>
            <a:off x="850392" y="4041648"/>
            <a:ext cx="813816" cy="813816"/>
          </a:xfrm>
          <a:prstGeom prst="ellipse">
            <a:avLst/>
          </a:prstGeom>
          <a:ln w="15875">
            <a:solidFill>
              <a:srgbClr val="F07823"/>
            </a:solidFill>
            <a:prstDash val="solid"/>
          </a:ln>
        </p:spPr>
        <p:txBody>
          <a:bodyPr/>
          <a:lstStyle/>
          <a:p>
            <a:endParaRPr lang="en-IN"/>
          </a:p>
        </p:txBody>
      </p:sp>
      <p:sp>
        <p:nvSpPr>
          <p:cNvPr id="20" name="Shape 16"/>
          <p:cNvSpPr/>
          <p:nvPr/>
        </p:nvSpPr>
        <p:spPr>
          <a:xfrm>
            <a:off x="914400" y="4105656"/>
            <a:ext cx="685800" cy="685800"/>
          </a:xfrm>
          <a:prstGeom prst="ellipse">
            <a:avLst/>
          </a:prstGeom>
          <a:solidFill>
            <a:srgbClr val="403F3D"/>
          </a:solidFill>
          <a:ln/>
        </p:spPr>
        <p:txBody>
          <a:bodyPr/>
          <a:lstStyle/>
          <a:p>
            <a:endParaRPr lang="en-IN"/>
          </a:p>
        </p:txBody>
      </p:sp>
      <p:sp>
        <p:nvSpPr>
          <p:cNvPr id="22" name="Text 17"/>
          <p:cNvSpPr/>
          <p:nvPr/>
        </p:nvSpPr>
        <p:spPr>
          <a:xfrm>
            <a:off x="1828800" y="4087368"/>
            <a:ext cx="3886200" cy="365760"/>
          </a:xfrm>
          <a:prstGeom prst="rect">
            <a:avLst/>
          </a:prstGeom>
          <a:noFill/>
          <a:ln/>
        </p:spPr>
        <p:txBody>
          <a:bodyPr wrap="square" lIns="0" tIns="0" rIns="0" bIns="0" rtlCol="0" anchor="ctr"/>
          <a:lstStyle/>
          <a:p>
            <a:pPr marL="0" indent="0">
              <a:buNone/>
            </a:pPr>
            <a:r>
              <a:rPr lang="en-US" b="1" dirty="0">
                <a:solidFill>
                  <a:srgbClr val="FFFFFF"/>
                </a:solidFill>
                <a:latin typeface="Bookman Old Style" pitchFamily="34" charset="0"/>
                <a:ea typeface="Bookman Old Style" pitchFamily="34" charset="-122"/>
                <a:cs typeface="Bookman Old Style" pitchFamily="34" charset="-120"/>
              </a:rPr>
              <a:t>Personal Hygiene</a:t>
            </a:r>
            <a:endParaRPr lang="en-US" dirty="0"/>
          </a:p>
        </p:txBody>
      </p:sp>
      <p:sp>
        <p:nvSpPr>
          <p:cNvPr id="23" name="Text 18"/>
          <p:cNvSpPr/>
          <p:nvPr/>
        </p:nvSpPr>
        <p:spPr>
          <a:xfrm>
            <a:off x="1828800" y="4471416"/>
            <a:ext cx="3886200" cy="1051560"/>
          </a:xfrm>
          <a:prstGeom prst="rect">
            <a:avLst/>
          </a:prstGeom>
          <a:noFill/>
          <a:ln/>
        </p:spPr>
        <p:txBody>
          <a:bodyPr wrap="square" lIns="0" tIns="0" rIns="0" bIns="0" rtlCol="0" anchor="t"/>
          <a:lstStyle/>
          <a:p>
            <a:pPr marL="0" indent="0">
              <a:lnSpc>
                <a:spcPct val="122000"/>
              </a:lnSpc>
              <a:buNone/>
            </a:pPr>
            <a:r>
              <a:rPr lang="en-US" sz="1600" dirty="0">
                <a:solidFill>
                  <a:srgbClr val="E8E6E1"/>
                </a:solidFill>
                <a:latin typeface="Calibri" pitchFamily="34" charset="0"/>
                <a:ea typeface="Calibri" pitchFamily="34" charset="-122"/>
                <a:cs typeface="Calibri" pitchFamily="34" charset="-120"/>
              </a:rPr>
              <a:t>Maintain good personal hygiene, including managing body odour through daily hygiene and deodorant use.</a:t>
            </a:r>
            <a:endParaRPr lang="en-US" sz="1600" dirty="0"/>
          </a:p>
        </p:txBody>
      </p:sp>
      <p:sp>
        <p:nvSpPr>
          <p:cNvPr id="24" name="Shape 19"/>
          <p:cNvSpPr/>
          <p:nvPr/>
        </p:nvSpPr>
        <p:spPr>
          <a:xfrm>
            <a:off x="6263640" y="3813048"/>
            <a:ext cx="5349240" cy="1847088"/>
          </a:xfrm>
          <a:prstGeom prst="roundRect">
            <a:avLst>
              <a:gd name="adj" fmla="val 5941"/>
            </a:avLst>
          </a:prstGeom>
          <a:solidFill>
            <a:srgbClr val="2A2A28"/>
          </a:solidFill>
          <a:ln/>
          <a:effectLst>
            <a:outerShdw blurRad="88900" dist="38100" dir="5400000" algn="bl" rotWithShape="0">
              <a:srgbClr val="000000">
                <a:alpha val="18000"/>
              </a:srgbClr>
            </a:outerShdw>
          </a:effectLst>
        </p:spPr>
        <p:txBody>
          <a:bodyPr/>
          <a:lstStyle/>
          <a:p>
            <a:endParaRPr lang="en-IN"/>
          </a:p>
        </p:txBody>
      </p:sp>
      <p:sp>
        <p:nvSpPr>
          <p:cNvPr id="25" name="Shape 20"/>
          <p:cNvSpPr/>
          <p:nvPr/>
        </p:nvSpPr>
        <p:spPr>
          <a:xfrm>
            <a:off x="6473952" y="4041648"/>
            <a:ext cx="813816" cy="813816"/>
          </a:xfrm>
          <a:prstGeom prst="ellipse">
            <a:avLst/>
          </a:prstGeom>
          <a:ln w="15875">
            <a:solidFill>
              <a:srgbClr val="F07823"/>
            </a:solidFill>
            <a:prstDash val="solid"/>
          </a:ln>
        </p:spPr>
        <p:txBody>
          <a:bodyPr/>
          <a:lstStyle/>
          <a:p>
            <a:endParaRPr lang="en-IN"/>
          </a:p>
        </p:txBody>
      </p:sp>
      <p:sp>
        <p:nvSpPr>
          <p:cNvPr id="26" name="Shape 21"/>
          <p:cNvSpPr/>
          <p:nvPr/>
        </p:nvSpPr>
        <p:spPr>
          <a:xfrm>
            <a:off x="6537960" y="4105656"/>
            <a:ext cx="685800" cy="685800"/>
          </a:xfrm>
          <a:prstGeom prst="ellipse">
            <a:avLst/>
          </a:prstGeom>
          <a:solidFill>
            <a:srgbClr val="403F3D"/>
          </a:solidFill>
          <a:ln/>
        </p:spPr>
        <p:txBody>
          <a:bodyPr/>
          <a:lstStyle/>
          <a:p>
            <a:endParaRPr lang="en-IN"/>
          </a:p>
        </p:txBody>
      </p:sp>
      <p:sp>
        <p:nvSpPr>
          <p:cNvPr id="28" name="Text 22"/>
          <p:cNvSpPr/>
          <p:nvPr/>
        </p:nvSpPr>
        <p:spPr>
          <a:xfrm>
            <a:off x="7452360" y="4087368"/>
            <a:ext cx="3886200" cy="365760"/>
          </a:xfrm>
          <a:prstGeom prst="rect">
            <a:avLst/>
          </a:prstGeom>
          <a:noFill/>
          <a:ln/>
        </p:spPr>
        <p:txBody>
          <a:bodyPr wrap="square" lIns="0" tIns="0" rIns="0" bIns="0" rtlCol="0" anchor="ctr"/>
          <a:lstStyle/>
          <a:p>
            <a:pPr marL="0" indent="0">
              <a:buNone/>
            </a:pPr>
            <a:r>
              <a:rPr lang="en-US" b="1" dirty="0">
                <a:solidFill>
                  <a:srgbClr val="FFFFFF"/>
                </a:solidFill>
                <a:latin typeface="Bookman Old Style" pitchFamily="34" charset="0"/>
                <a:ea typeface="Bookman Old Style" pitchFamily="34" charset="-122"/>
                <a:cs typeface="Bookman Old Style" pitchFamily="34" charset="-120"/>
              </a:rPr>
              <a:t>Fragrance &amp; Breath</a:t>
            </a:r>
            <a:endParaRPr lang="en-US" dirty="0"/>
          </a:p>
        </p:txBody>
      </p:sp>
      <p:sp>
        <p:nvSpPr>
          <p:cNvPr id="29" name="Text 23"/>
          <p:cNvSpPr/>
          <p:nvPr/>
        </p:nvSpPr>
        <p:spPr>
          <a:xfrm>
            <a:off x="7452360" y="4471416"/>
            <a:ext cx="3886200" cy="1051560"/>
          </a:xfrm>
          <a:prstGeom prst="rect">
            <a:avLst/>
          </a:prstGeom>
          <a:noFill/>
          <a:ln/>
        </p:spPr>
        <p:txBody>
          <a:bodyPr wrap="square" lIns="0" tIns="0" rIns="0" bIns="0" rtlCol="0" anchor="t"/>
          <a:lstStyle/>
          <a:p>
            <a:pPr marL="0" indent="0">
              <a:lnSpc>
                <a:spcPct val="122000"/>
              </a:lnSpc>
              <a:buNone/>
            </a:pPr>
            <a:r>
              <a:rPr lang="en-US" sz="1600" dirty="0">
                <a:solidFill>
                  <a:srgbClr val="E8E6E1"/>
                </a:solidFill>
                <a:latin typeface="Calibri" pitchFamily="34" charset="0"/>
                <a:ea typeface="Calibri" pitchFamily="34" charset="-122"/>
                <a:cs typeface="Calibri" pitchFamily="34" charset="-120"/>
              </a:rPr>
              <a:t>Keep breath fresh; use mild fragrances and avoid overpowering perfumes or deodorants.</a:t>
            </a:r>
            <a:endParaRPr lang="en-US" sz="1600" dirty="0"/>
          </a:p>
        </p:txBody>
      </p:sp>
      <p:sp>
        <p:nvSpPr>
          <p:cNvPr id="31" name="Shape 25"/>
          <p:cNvSpPr/>
          <p:nvPr/>
        </p:nvSpPr>
        <p:spPr>
          <a:xfrm>
            <a:off x="10140696" y="6579108"/>
            <a:ext cx="60350" cy="60350"/>
          </a:xfrm>
          <a:prstGeom prst="ellipse">
            <a:avLst/>
          </a:prstGeom>
          <a:solidFill>
            <a:srgbClr val="5C5B58"/>
          </a:solidFill>
          <a:ln/>
        </p:spPr>
        <p:txBody>
          <a:bodyPr/>
          <a:lstStyle/>
          <a:p>
            <a:endParaRPr lang="en-IN"/>
          </a:p>
        </p:txBody>
      </p:sp>
      <p:sp>
        <p:nvSpPr>
          <p:cNvPr id="32" name="Shape 26"/>
          <p:cNvSpPr/>
          <p:nvPr/>
        </p:nvSpPr>
        <p:spPr>
          <a:xfrm>
            <a:off x="10323576" y="6579108"/>
            <a:ext cx="60350" cy="60350"/>
          </a:xfrm>
          <a:prstGeom prst="ellipse">
            <a:avLst/>
          </a:prstGeom>
          <a:solidFill>
            <a:srgbClr val="5C5B58"/>
          </a:solidFill>
          <a:ln/>
        </p:spPr>
        <p:txBody>
          <a:bodyPr/>
          <a:lstStyle/>
          <a:p>
            <a:endParaRPr lang="en-IN"/>
          </a:p>
        </p:txBody>
      </p:sp>
      <p:sp>
        <p:nvSpPr>
          <p:cNvPr id="33" name="Shape 27"/>
          <p:cNvSpPr/>
          <p:nvPr/>
        </p:nvSpPr>
        <p:spPr>
          <a:xfrm>
            <a:off x="10506456" y="6579108"/>
            <a:ext cx="60350" cy="60350"/>
          </a:xfrm>
          <a:prstGeom prst="ellipse">
            <a:avLst/>
          </a:prstGeom>
          <a:solidFill>
            <a:srgbClr val="5C5B58"/>
          </a:solidFill>
          <a:ln/>
        </p:spPr>
        <p:txBody>
          <a:bodyPr/>
          <a:lstStyle/>
          <a:p>
            <a:endParaRPr lang="en-IN"/>
          </a:p>
        </p:txBody>
      </p:sp>
      <p:sp>
        <p:nvSpPr>
          <p:cNvPr id="34" name="Shape 28"/>
          <p:cNvSpPr/>
          <p:nvPr/>
        </p:nvSpPr>
        <p:spPr>
          <a:xfrm>
            <a:off x="10689336" y="6556248"/>
            <a:ext cx="118872" cy="118872"/>
          </a:xfrm>
          <a:prstGeom prst="ellipse">
            <a:avLst/>
          </a:prstGeom>
          <a:solidFill>
            <a:srgbClr val="F07823"/>
          </a:solidFill>
          <a:ln/>
        </p:spPr>
        <p:txBody>
          <a:bodyPr/>
          <a:lstStyle/>
          <a:p>
            <a:endParaRPr lang="en-IN"/>
          </a:p>
        </p:txBody>
      </p:sp>
      <p:sp>
        <p:nvSpPr>
          <p:cNvPr id="35" name="Shape 29"/>
          <p:cNvSpPr/>
          <p:nvPr/>
        </p:nvSpPr>
        <p:spPr>
          <a:xfrm>
            <a:off x="10872216" y="6579108"/>
            <a:ext cx="60350" cy="60350"/>
          </a:xfrm>
          <a:prstGeom prst="ellipse">
            <a:avLst/>
          </a:prstGeom>
          <a:solidFill>
            <a:srgbClr val="5C5B58"/>
          </a:solidFill>
          <a:ln/>
        </p:spPr>
        <p:txBody>
          <a:bodyPr/>
          <a:lstStyle/>
          <a:p>
            <a:endParaRPr lang="en-IN"/>
          </a:p>
        </p:txBody>
      </p:sp>
      <p:sp>
        <p:nvSpPr>
          <p:cNvPr id="36" name="Shape 30"/>
          <p:cNvSpPr/>
          <p:nvPr/>
        </p:nvSpPr>
        <p:spPr>
          <a:xfrm>
            <a:off x="11055096" y="6579108"/>
            <a:ext cx="60350" cy="60350"/>
          </a:xfrm>
          <a:prstGeom prst="ellipse">
            <a:avLst/>
          </a:prstGeom>
          <a:solidFill>
            <a:srgbClr val="5C5B58"/>
          </a:solidFill>
          <a:ln/>
        </p:spPr>
        <p:txBody>
          <a:bodyPr/>
          <a:lstStyle/>
          <a:p>
            <a:endParaRPr lang="en-IN"/>
          </a:p>
        </p:txBody>
      </p:sp>
      <p:sp>
        <p:nvSpPr>
          <p:cNvPr id="37" name="Shape 31"/>
          <p:cNvSpPr/>
          <p:nvPr/>
        </p:nvSpPr>
        <p:spPr>
          <a:xfrm>
            <a:off x="11237976" y="6579108"/>
            <a:ext cx="60350" cy="60350"/>
          </a:xfrm>
          <a:prstGeom prst="ellipse">
            <a:avLst/>
          </a:prstGeom>
          <a:solidFill>
            <a:srgbClr val="5C5B58"/>
          </a:solidFill>
          <a:ln/>
        </p:spPr>
        <p:txBody>
          <a:bodyPr/>
          <a:lstStyle/>
          <a:p>
            <a:endParaRPr lang="en-IN"/>
          </a:p>
        </p:txBody>
      </p:sp>
      <p:sp>
        <p:nvSpPr>
          <p:cNvPr id="38" name="Shape 32"/>
          <p:cNvSpPr/>
          <p:nvPr/>
        </p:nvSpPr>
        <p:spPr>
          <a:xfrm>
            <a:off x="11420856" y="6579108"/>
            <a:ext cx="60350" cy="60350"/>
          </a:xfrm>
          <a:prstGeom prst="ellipse">
            <a:avLst/>
          </a:prstGeom>
          <a:solidFill>
            <a:srgbClr val="5C5B58"/>
          </a:solidFill>
          <a:ln/>
        </p:spPr>
        <p:txBody>
          <a:bodyPr/>
          <a:lstStyle/>
          <a:p>
            <a:endParaRPr lang="en-IN"/>
          </a:p>
        </p:txBody>
      </p:sp>
      <p:sp>
        <p:nvSpPr>
          <p:cNvPr id="39" name="Shape 33"/>
          <p:cNvSpPr/>
          <p:nvPr/>
        </p:nvSpPr>
        <p:spPr>
          <a:xfrm>
            <a:off x="11603736" y="6579108"/>
            <a:ext cx="60350" cy="60350"/>
          </a:xfrm>
          <a:prstGeom prst="ellipse">
            <a:avLst/>
          </a:prstGeom>
          <a:solidFill>
            <a:srgbClr val="5C5B58"/>
          </a:solidFill>
          <a:ln/>
        </p:spPr>
        <p:txBody>
          <a:bodyPr/>
          <a:lstStyle/>
          <a:p>
            <a:endParaRPr lang="en-IN"/>
          </a:p>
        </p:txBody>
      </p:sp>
      <p:sp>
        <p:nvSpPr>
          <p:cNvPr id="40" name="Shape 34"/>
          <p:cNvSpPr/>
          <p:nvPr/>
        </p:nvSpPr>
        <p:spPr>
          <a:xfrm>
            <a:off x="11786616" y="6579108"/>
            <a:ext cx="60350" cy="60350"/>
          </a:xfrm>
          <a:prstGeom prst="ellipse">
            <a:avLst/>
          </a:prstGeom>
          <a:solidFill>
            <a:srgbClr val="5C5B58"/>
          </a:solidFill>
          <a:ln/>
        </p:spPr>
        <p:txBody>
          <a:bodyPr/>
          <a:lstStyle/>
          <a:p>
            <a:endParaRPr lang="en-IN"/>
          </a:p>
        </p:txBody>
      </p:sp>
      <p:sp>
        <p:nvSpPr>
          <p:cNvPr id="41" name="TextBox 40"/>
          <p:cNvSpPr txBox="1"/>
          <p:nvPr/>
        </p:nvSpPr>
        <p:spPr>
          <a:xfrm>
            <a:off x="640080" y="457200"/>
            <a:ext cx="8229600" cy="274320"/>
          </a:xfrm>
          <a:prstGeom prst="rect">
            <a:avLst/>
          </a:prstGeom>
          <a:noFill/>
        </p:spPr>
        <p:txBody>
          <a:bodyPr wrap="none">
            <a:spAutoFit/>
          </a:bodyPr>
          <a:lstStyle/>
          <a:p>
            <a:r>
              <a:rPr sz="1600" b="1" spc="240">
                <a:solidFill>
                  <a:srgbClr val="F07823"/>
                </a:solidFill>
                <a:latin typeface="Calibri"/>
              </a:rPr>
              <a:t>GROOMING STANDARDS</a:t>
            </a:r>
          </a:p>
        </p:txBody>
      </p:sp>
      <p:pic>
        <p:nvPicPr>
          <p:cNvPr id="42" name="Picture 41" descr="image.png"/>
          <p:cNvPicPr>
            <a:picLocks noChangeAspect="1"/>
          </p:cNvPicPr>
          <p:nvPr/>
        </p:nvPicPr>
        <p:blipFill>
          <a:blip r:embed="rId2"/>
          <a:stretch>
            <a:fillRect/>
          </a:stretch>
        </p:blipFill>
        <p:spPr>
          <a:xfrm>
            <a:off x="1006983" y="2076831"/>
            <a:ext cx="500634" cy="500634"/>
          </a:xfrm>
          <a:prstGeom prst="rect">
            <a:avLst/>
          </a:prstGeom>
        </p:spPr>
      </p:pic>
      <p:pic>
        <p:nvPicPr>
          <p:cNvPr id="43" name="Picture 42" descr="icon_nails.png"/>
          <p:cNvPicPr>
            <a:picLocks noChangeAspect="1"/>
          </p:cNvPicPr>
          <p:nvPr/>
        </p:nvPicPr>
        <p:blipFill>
          <a:blip r:embed="rId3"/>
          <a:stretch>
            <a:fillRect/>
          </a:stretch>
        </p:blipFill>
        <p:spPr>
          <a:xfrm>
            <a:off x="6630543" y="2076831"/>
            <a:ext cx="500634" cy="500634"/>
          </a:xfrm>
          <a:prstGeom prst="rect">
            <a:avLst/>
          </a:prstGeom>
        </p:spPr>
      </p:pic>
      <p:pic>
        <p:nvPicPr>
          <p:cNvPr id="44" name="Picture 43" descr="icon_hygiene.png"/>
          <p:cNvPicPr>
            <a:picLocks noChangeAspect="1"/>
          </p:cNvPicPr>
          <p:nvPr/>
        </p:nvPicPr>
        <p:blipFill>
          <a:blip r:embed="rId4"/>
          <a:stretch>
            <a:fillRect/>
          </a:stretch>
        </p:blipFill>
        <p:spPr>
          <a:xfrm>
            <a:off x="1006983" y="4198239"/>
            <a:ext cx="500634" cy="500634"/>
          </a:xfrm>
          <a:prstGeom prst="rect">
            <a:avLst/>
          </a:prstGeom>
        </p:spPr>
      </p:pic>
      <p:pic>
        <p:nvPicPr>
          <p:cNvPr id="45" name="Picture 44" descr="icon_spray.png"/>
          <p:cNvPicPr>
            <a:picLocks noChangeAspect="1"/>
          </p:cNvPicPr>
          <p:nvPr/>
        </p:nvPicPr>
        <p:blipFill>
          <a:blip r:embed="rId5"/>
          <a:stretch>
            <a:fillRect/>
          </a:stretch>
        </p:blipFill>
        <p:spPr>
          <a:xfrm>
            <a:off x="6630543" y="4198239"/>
            <a:ext cx="500634" cy="500634"/>
          </a:xfrm>
          <a:prstGeom prst="rect">
            <a:avLst/>
          </a:prstGeom>
        </p:spPr>
      </p:pic>
      <p:sp>
        <p:nvSpPr>
          <p:cNvPr id="46" name="Rounded Rectangle 45"/>
          <p:cNvSpPr/>
          <p:nvPr/>
        </p:nvSpPr>
        <p:spPr>
          <a:xfrm>
            <a:off x="640080" y="5790000"/>
            <a:ext cx="10972800" cy="620000"/>
          </a:xfrm>
          <a:prstGeom prst="roundRect">
            <a:avLst>
              <a:gd name="adj" fmla="val 12000"/>
            </a:avLst>
          </a:prstGeom>
          <a:solidFill>
            <a:srgbClr val="403F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790080" y="5890000"/>
            <a:ext cx="420000" cy="420000"/>
          </a:xfrm>
          <a:prstGeom prst="ellipse">
            <a:avLst/>
          </a:prstGeom>
          <a:solidFill>
            <a:srgbClr val="F078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8" name="Picture 47" descr="icon_gem.png"/>
          <p:cNvPicPr>
            <a:picLocks noChangeAspect="1"/>
          </p:cNvPicPr>
          <p:nvPr/>
        </p:nvPicPr>
        <p:blipFill>
          <a:blip r:embed="rId6"/>
          <a:stretch>
            <a:fillRect/>
          </a:stretch>
        </p:blipFill>
        <p:spPr>
          <a:xfrm>
            <a:off x="885080" y="5985000"/>
            <a:ext cx="230000" cy="230000"/>
          </a:xfrm>
          <a:prstGeom prst="rect">
            <a:avLst/>
          </a:prstGeom>
        </p:spPr>
      </p:pic>
      <p:sp>
        <p:nvSpPr>
          <p:cNvPr id="49" name="TextBox 48"/>
          <p:cNvSpPr txBox="1"/>
          <p:nvPr/>
        </p:nvSpPr>
        <p:spPr>
          <a:xfrm>
            <a:off x="1390080" y="5790000"/>
            <a:ext cx="10022800" cy="620000"/>
          </a:xfrm>
          <a:prstGeom prst="rect">
            <a:avLst/>
          </a:prstGeom>
          <a:noFill/>
        </p:spPr>
        <p:txBody>
          <a:bodyPr wrap="square" anchor="ctr">
            <a:spAutoFit/>
          </a:bodyPr>
          <a:lstStyle/>
          <a:p>
            <a:r>
              <a:rPr sz="1500" b="1">
                <a:solidFill>
                  <a:srgbClr val="F07823"/>
                </a:solidFill>
                <a:latin typeface="Bookman Old Style"/>
              </a:rPr>
              <a:t>Grooming reflects professionalism: </a:t>
            </a:r>
            <a:r>
              <a:rPr sz="1350">
                <a:solidFill>
                  <a:srgbClr val="FFFFFF"/>
                </a:solidFill>
                <a:latin typeface="Calibri"/>
              </a:rPr>
              <a:t>kept simple and gender-neutral, it protects the dignity of our brand and of everyone who represents it.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1F1F1F"/>
        </a:solidFill>
        <a:effectLst/>
      </p:bgPr>
    </p:bg>
    <p:spTree>
      <p:nvGrpSpPr>
        <p:cNvPr id="1" name=""/>
        <p:cNvGrpSpPr/>
        <p:nvPr/>
      </p:nvGrpSpPr>
      <p:grpSpPr>
        <a:xfrm>
          <a:off x="0" y="0"/>
          <a:ext cx="0" cy="0"/>
          <a:chOff x="0" y="0"/>
          <a:chExt cx="0" cy="0"/>
        </a:xfrm>
      </p:grpSpPr>
      <p:sp>
        <p:nvSpPr>
          <p:cNvPr id="2" name="Shape 0"/>
          <p:cNvSpPr/>
          <p:nvPr/>
        </p:nvSpPr>
        <p:spPr>
          <a:xfrm>
            <a:off x="10149840" y="-1920240"/>
            <a:ext cx="4206240" cy="4206240"/>
          </a:xfrm>
          <a:prstGeom prst="ellipse">
            <a:avLst/>
          </a:prstGeom>
          <a:solidFill>
            <a:srgbClr val="3A3835">
              <a:alpha val="65000"/>
            </a:srgbClr>
          </a:solidFill>
          <a:ln/>
        </p:spPr>
        <p:txBody>
          <a:bodyPr/>
          <a:lstStyle/>
          <a:p>
            <a:endParaRPr lang="en-IN"/>
          </a:p>
        </p:txBody>
      </p:sp>
      <p:sp>
        <p:nvSpPr>
          <p:cNvPr id="3" name="Shape 1"/>
          <p:cNvSpPr/>
          <p:nvPr/>
        </p:nvSpPr>
        <p:spPr>
          <a:xfrm>
            <a:off x="-1463040" y="5394960"/>
            <a:ext cx="3108960" cy="3108960"/>
          </a:xfrm>
          <a:prstGeom prst="ellipse">
            <a:avLst/>
          </a:prstGeom>
          <a:solidFill>
            <a:srgbClr val="3A3835">
              <a:alpha val="65000"/>
            </a:srgbClr>
          </a:solidFill>
          <a:ln/>
        </p:spPr>
        <p:txBody>
          <a:bodyPr/>
          <a:lstStyle/>
          <a:p>
            <a:endParaRPr lang="en-IN"/>
          </a:p>
        </p:txBody>
      </p:sp>
      <p:sp>
        <p:nvSpPr>
          <p:cNvPr id="5" name="Text 3"/>
          <p:cNvSpPr/>
          <p:nvPr/>
        </p:nvSpPr>
        <p:spPr>
          <a:xfrm>
            <a:off x="640080" y="749808"/>
            <a:ext cx="10881360" cy="777240"/>
          </a:xfrm>
          <a:prstGeom prst="rect">
            <a:avLst/>
          </a:prstGeom>
          <a:noFill/>
          <a:ln/>
        </p:spPr>
        <p:txBody>
          <a:bodyPr wrap="square" lIns="0" tIns="0" rIns="0" bIns="0" rtlCol="0" anchor="ctr"/>
          <a:lstStyle/>
          <a:p>
            <a:pPr marL="0" indent="0">
              <a:buNone/>
            </a:pPr>
            <a:r>
              <a:rPr lang="en-US" sz="3000" b="1" dirty="0">
                <a:solidFill>
                  <a:srgbClr val="FFFFFF"/>
                </a:solidFill>
                <a:latin typeface="Bookman Old Style" pitchFamily="34" charset="0"/>
                <a:ea typeface="Bookman Old Style" pitchFamily="34" charset="-122"/>
                <a:cs typeface="Bookman Old Style" pitchFamily="34" charset="-120"/>
              </a:rPr>
              <a:t>Do's and Don'ts</a:t>
            </a:r>
            <a:endParaRPr lang="en-US" sz="3000" dirty="0"/>
          </a:p>
        </p:txBody>
      </p:sp>
      <p:sp>
        <p:nvSpPr>
          <p:cNvPr id="6" name="Shape 4"/>
          <p:cNvSpPr/>
          <p:nvPr/>
        </p:nvSpPr>
        <p:spPr>
          <a:xfrm>
            <a:off x="640080" y="1951932"/>
            <a:ext cx="5394960" cy="4428548"/>
          </a:xfrm>
          <a:prstGeom prst="roundRect">
            <a:avLst>
              <a:gd name="adj" fmla="val 2474"/>
            </a:avLst>
          </a:prstGeom>
          <a:solidFill>
            <a:srgbClr val="1B3226"/>
          </a:solidFill>
          <a:ln/>
          <a:effectLst>
            <a:outerShdw blurRad="88900" dist="38100" dir="5400000" algn="bl" rotWithShape="0">
              <a:srgbClr val="000000">
                <a:alpha val="18000"/>
              </a:srgbClr>
            </a:outerShdw>
          </a:effectLst>
        </p:spPr>
        <p:txBody>
          <a:bodyPr/>
          <a:lstStyle/>
          <a:p>
            <a:endParaRPr lang="en-IN" sz="1600" dirty="0"/>
          </a:p>
        </p:txBody>
      </p:sp>
      <p:sp>
        <p:nvSpPr>
          <p:cNvPr id="7" name="Shape 5"/>
          <p:cNvSpPr/>
          <p:nvPr/>
        </p:nvSpPr>
        <p:spPr>
          <a:xfrm>
            <a:off x="942848" y="2137620"/>
            <a:ext cx="530352" cy="530352"/>
          </a:xfrm>
          <a:prstGeom prst="ellipse">
            <a:avLst/>
          </a:prstGeom>
          <a:solidFill>
            <a:srgbClr val="4CAF7D"/>
          </a:solidFill>
          <a:ln/>
        </p:spPr>
        <p:txBody>
          <a:bodyPr/>
          <a:lstStyle/>
          <a:p>
            <a:endParaRPr lang="en-IN"/>
          </a:p>
        </p:txBody>
      </p:sp>
      <p:pic>
        <p:nvPicPr>
          <p:cNvPr id="8" name="Image 0" descr="/home/claude/dresscode/icons2/checkcircle_white.png"/>
          <p:cNvPicPr>
            <a:picLocks noChangeAspect="1"/>
          </p:cNvPicPr>
          <p:nvPr/>
        </p:nvPicPr>
        <p:blipFill>
          <a:blip r:embed="rId3"/>
          <a:stretch>
            <a:fillRect/>
          </a:stretch>
        </p:blipFill>
        <p:spPr>
          <a:xfrm>
            <a:off x="1030163" y="2175487"/>
            <a:ext cx="387157" cy="387157"/>
          </a:xfrm>
          <a:prstGeom prst="rect">
            <a:avLst/>
          </a:prstGeom>
        </p:spPr>
      </p:pic>
      <p:sp>
        <p:nvSpPr>
          <p:cNvPr id="9" name="Text 6"/>
          <p:cNvSpPr/>
          <p:nvPr/>
        </p:nvSpPr>
        <p:spPr>
          <a:xfrm>
            <a:off x="1645920" y="2209872"/>
            <a:ext cx="2743200" cy="411480"/>
          </a:xfrm>
          <a:prstGeom prst="rect">
            <a:avLst/>
          </a:prstGeom>
          <a:noFill/>
          <a:ln/>
        </p:spPr>
        <p:txBody>
          <a:bodyPr wrap="square" lIns="0" tIns="0" rIns="0" bIns="0" rtlCol="0" anchor="ctr"/>
          <a:lstStyle/>
          <a:p>
            <a:pPr marL="0" indent="0">
              <a:buNone/>
            </a:pPr>
            <a:r>
              <a:rPr lang="en-US" sz="1900" b="1" dirty="0">
                <a:solidFill>
                  <a:srgbClr val="4CAF7D"/>
                </a:solidFill>
                <a:latin typeface="Bookman Old Style" pitchFamily="34" charset="0"/>
                <a:ea typeface="Bookman Old Style" pitchFamily="34" charset="-122"/>
                <a:cs typeface="Bookman Old Style" pitchFamily="34" charset="-120"/>
              </a:rPr>
              <a:t>DO’s</a:t>
            </a:r>
            <a:endParaRPr lang="en-US" sz="1900" dirty="0"/>
          </a:p>
        </p:txBody>
      </p:sp>
      <p:pic>
        <p:nvPicPr>
          <p:cNvPr id="10" name="Image 1" descr="/home/claude/dresscode/icons2/checkcircle_green.png"/>
          <p:cNvPicPr>
            <a:picLocks noChangeAspect="1"/>
          </p:cNvPicPr>
          <p:nvPr/>
        </p:nvPicPr>
        <p:blipFill>
          <a:blip r:embed="rId4"/>
          <a:stretch>
            <a:fillRect/>
          </a:stretch>
        </p:blipFill>
        <p:spPr>
          <a:xfrm>
            <a:off x="960120" y="3710592"/>
            <a:ext cx="201168" cy="201168"/>
          </a:xfrm>
          <a:prstGeom prst="rect">
            <a:avLst/>
          </a:prstGeom>
        </p:spPr>
      </p:pic>
      <p:sp>
        <p:nvSpPr>
          <p:cNvPr id="11" name="Text 7"/>
          <p:cNvSpPr/>
          <p:nvPr/>
        </p:nvSpPr>
        <p:spPr>
          <a:xfrm>
            <a:off x="1280160" y="3666592"/>
            <a:ext cx="4572000" cy="340000"/>
          </a:xfrm>
          <a:prstGeom prst="rect">
            <a:avLst/>
          </a:prstGeom>
          <a:noFill/>
          <a:ln/>
        </p:spPr>
        <p:txBody>
          <a:bodyPr wrap="square" lIns="0" tIns="0" rIns="0" bIns="0" rtlCol="0" anchor="t"/>
          <a:lstStyle/>
          <a:p>
            <a:pPr marL="0" indent="0">
              <a:lnSpc>
                <a:spcPct val="115000"/>
              </a:lnSpc>
              <a:buNone/>
            </a:pPr>
            <a:r>
              <a:rPr lang="en-US" sz="1600" dirty="0">
                <a:solidFill>
                  <a:srgbClr val="E8E6E1"/>
                </a:solidFill>
                <a:latin typeface="Calibri" pitchFamily="34" charset="0"/>
                <a:ea typeface="Calibri" pitchFamily="34" charset="-122"/>
                <a:cs typeface="Calibri" pitchFamily="34" charset="-120"/>
              </a:rPr>
              <a:t>Clean, well-fitted, ironed clothing</a:t>
            </a:r>
            <a:endParaRPr lang="en-US" sz="1600" dirty="0"/>
          </a:p>
        </p:txBody>
      </p:sp>
      <p:pic>
        <p:nvPicPr>
          <p:cNvPr id="12" name="Image 2" descr="/home/claude/dresscode/icons2/checkcircle_green.png"/>
          <p:cNvPicPr>
            <a:picLocks noChangeAspect="1"/>
          </p:cNvPicPr>
          <p:nvPr/>
        </p:nvPicPr>
        <p:blipFill>
          <a:blip r:embed="rId4"/>
          <a:stretch>
            <a:fillRect/>
          </a:stretch>
        </p:blipFill>
        <p:spPr>
          <a:xfrm>
            <a:off x="960120" y="4063364"/>
            <a:ext cx="201168" cy="201168"/>
          </a:xfrm>
          <a:prstGeom prst="rect">
            <a:avLst/>
          </a:prstGeom>
        </p:spPr>
      </p:pic>
      <p:sp>
        <p:nvSpPr>
          <p:cNvPr id="13" name="Text 8"/>
          <p:cNvSpPr/>
          <p:nvPr/>
        </p:nvSpPr>
        <p:spPr>
          <a:xfrm>
            <a:off x="1280160" y="4019364"/>
            <a:ext cx="4572000" cy="340000"/>
          </a:xfrm>
          <a:prstGeom prst="rect">
            <a:avLst/>
          </a:prstGeom>
          <a:noFill/>
          <a:ln/>
        </p:spPr>
        <p:txBody>
          <a:bodyPr wrap="square" lIns="0" tIns="0" rIns="0" bIns="0" rtlCol="0" anchor="t"/>
          <a:lstStyle/>
          <a:p>
            <a:pPr marL="0" indent="0">
              <a:lnSpc>
                <a:spcPct val="115000"/>
              </a:lnSpc>
              <a:buNone/>
            </a:pPr>
            <a:r>
              <a:rPr lang="en-US" sz="1600" dirty="0">
                <a:solidFill>
                  <a:srgbClr val="E8E6E1"/>
                </a:solidFill>
                <a:latin typeface="Calibri" pitchFamily="34" charset="0"/>
                <a:ea typeface="Calibri" pitchFamily="34" charset="-122"/>
                <a:cs typeface="Calibri" pitchFamily="34" charset="-120"/>
              </a:rPr>
              <a:t>Collared shirts, formal tops or professional dresses</a:t>
            </a:r>
            <a:endParaRPr lang="en-US" sz="1600" dirty="0"/>
          </a:p>
        </p:txBody>
      </p:sp>
      <p:pic>
        <p:nvPicPr>
          <p:cNvPr id="14" name="Image 3" descr="/home/claude/dresscode/icons2/checkcircle_green.png"/>
          <p:cNvPicPr>
            <a:picLocks noChangeAspect="1"/>
          </p:cNvPicPr>
          <p:nvPr/>
        </p:nvPicPr>
        <p:blipFill>
          <a:blip r:embed="rId4"/>
          <a:stretch>
            <a:fillRect/>
          </a:stretch>
        </p:blipFill>
        <p:spPr>
          <a:xfrm>
            <a:off x="960120" y="4416136"/>
            <a:ext cx="201168" cy="201168"/>
          </a:xfrm>
          <a:prstGeom prst="rect">
            <a:avLst/>
          </a:prstGeom>
        </p:spPr>
      </p:pic>
      <p:sp>
        <p:nvSpPr>
          <p:cNvPr id="15" name="Text 9"/>
          <p:cNvSpPr/>
          <p:nvPr/>
        </p:nvSpPr>
        <p:spPr>
          <a:xfrm>
            <a:off x="1280160" y="4372136"/>
            <a:ext cx="4572000" cy="340000"/>
          </a:xfrm>
          <a:prstGeom prst="rect">
            <a:avLst/>
          </a:prstGeom>
          <a:noFill/>
          <a:ln/>
        </p:spPr>
        <p:txBody>
          <a:bodyPr wrap="square" lIns="0" tIns="0" rIns="0" bIns="0" rtlCol="0" anchor="t"/>
          <a:lstStyle/>
          <a:p>
            <a:pPr marL="0" indent="0">
              <a:lnSpc>
                <a:spcPct val="115000"/>
              </a:lnSpc>
              <a:buNone/>
            </a:pPr>
            <a:r>
              <a:rPr lang="en-US" sz="1600" dirty="0">
                <a:solidFill>
                  <a:srgbClr val="E8E6E1"/>
                </a:solidFill>
                <a:latin typeface="Calibri" pitchFamily="34" charset="0"/>
                <a:ea typeface="Calibri" pitchFamily="34" charset="-122"/>
                <a:cs typeface="Calibri" pitchFamily="34" charset="-120"/>
              </a:rPr>
              <a:t>Ethnic wear — sarees, salwar kameez, co-ord sets</a:t>
            </a:r>
            <a:endParaRPr lang="en-US" sz="1600" dirty="0"/>
          </a:p>
        </p:txBody>
      </p:sp>
      <p:pic>
        <p:nvPicPr>
          <p:cNvPr id="16" name="Image 4" descr="/home/claude/dresscode/icons2/checkcircle_green.png"/>
          <p:cNvPicPr>
            <a:picLocks noChangeAspect="1"/>
          </p:cNvPicPr>
          <p:nvPr/>
        </p:nvPicPr>
        <p:blipFill>
          <a:blip r:embed="rId4"/>
          <a:stretch>
            <a:fillRect/>
          </a:stretch>
        </p:blipFill>
        <p:spPr>
          <a:xfrm>
            <a:off x="960120" y="4768908"/>
            <a:ext cx="201168" cy="201168"/>
          </a:xfrm>
          <a:prstGeom prst="rect">
            <a:avLst/>
          </a:prstGeom>
        </p:spPr>
      </p:pic>
      <p:sp>
        <p:nvSpPr>
          <p:cNvPr id="17" name="Text 10"/>
          <p:cNvSpPr/>
          <p:nvPr/>
        </p:nvSpPr>
        <p:spPr>
          <a:xfrm>
            <a:off x="1280160" y="4724908"/>
            <a:ext cx="4572000" cy="340000"/>
          </a:xfrm>
          <a:prstGeom prst="rect">
            <a:avLst/>
          </a:prstGeom>
          <a:noFill/>
          <a:ln/>
        </p:spPr>
        <p:txBody>
          <a:bodyPr wrap="square" lIns="0" tIns="0" rIns="0" bIns="0" rtlCol="0" anchor="t"/>
          <a:lstStyle/>
          <a:p>
            <a:pPr marL="0" indent="0">
              <a:lnSpc>
                <a:spcPct val="115000"/>
              </a:lnSpc>
              <a:buNone/>
            </a:pPr>
            <a:r>
              <a:rPr lang="en-US" sz="1600" dirty="0">
                <a:solidFill>
                  <a:srgbClr val="E8E6E1"/>
                </a:solidFill>
                <a:latin typeface="Calibri" pitchFamily="34" charset="0"/>
                <a:ea typeface="Calibri" pitchFamily="34" charset="-122"/>
                <a:cs typeface="Calibri" pitchFamily="34" charset="-120"/>
              </a:rPr>
              <a:t>Business formal for client meetings</a:t>
            </a:r>
            <a:endParaRPr lang="en-US" sz="1600" dirty="0"/>
          </a:p>
        </p:txBody>
      </p:sp>
      <p:pic>
        <p:nvPicPr>
          <p:cNvPr id="18" name="Image 5" descr="/home/claude/dresscode/icons2/checkcircle_green.png"/>
          <p:cNvPicPr>
            <a:picLocks noChangeAspect="1"/>
          </p:cNvPicPr>
          <p:nvPr/>
        </p:nvPicPr>
        <p:blipFill>
          <a:blip r:embed="rId4"/>
          <a:stretch>
            <a:fillRect/>
          </a:stretch>
        </p:blipFill>
        <p:spPr>
          <a:xfrm>
            <a:off x="960120" y="5121680"/>
            <a:ext cx="201168" cy="201168"/>
          </a:xfrm>
          <a:prstGeom prst="rect">
            <a:avLst/>
          </a:prstGeom>
        </p:spPr>
      </p:pic>
      <p:sp>
        <p:nvSpPr>
          <p:cNvPr id="19" name="Text 11"/>
          <p:cNvSpPr/>
          <p:nvPr/>
        </p:nvSpPr>
        <p:spPr>
          <a:xfrm>
            <a:off x="1280160" y="5077680"/>
            <a:ext cx="4572000" cy="340000"/>
          </a:xfrm>
          <a:prstGeom prst="rect">
            <a:avLst/>
          </a:prstGeom>
          <a:noFill/>
          <a:ln/>
        </p:spPr>
        <p:txBody>
          <a:bodyPr wrap="square" lIns="0" tIns="0" rIns="0" bIns="0" rtlCol="0" anchor="t"/>
          <a:lstStyle/>
          <a:p>
            <a:pPr marL="0" indent="0">
              <a:lnSpc>
                <a:spcPct val="115000"/>
              </a:lnSpc>
              <a:buNone/>
            </a:pPr>
            <a:r>
              <a:rPr lang="en-US" sz="1600" dirty="0">
                <a:solidFill>
                  <a:srgbClr val="E8E6E1"/>
                </a:solidFill>
                <a:latin typeface="Calibri" pitchFamily="34" charset="0"/>
                <a:ea typeface="Calibri" pitchFamily="34" charset="-122"/>
                <a:cs typeface="Calibri" pitchFamily="34" charset="-120"/>
              </a:rPr>
              <a:t>Solid colours or subtle patterns</a:t>
            </a:r>
            <a:endParaRPr lang="en-US" sz="1600" dirty="0"/>
          </a:p>
        </p:txBody>
      </p:sp>
      <p:sp>
        <p:nvSpPr>
          <p:cNvPr id="20" name="Shape 12"/>
          <p:cNvSpPr/>
          <p:nvPr/>
        </p:nvSpPr>
        <p:spPr>
          <a:xfrm>
            <a:off x="6172200" y="1982932"/>
            <a:ext cx="5394960" cy="4397548"/>
          </a:xfrm>
          <a:prstGeom prst="roundRect">
            <a:avLst>
              <a:gd name="adj" fmla="val 2474"/>
            </a:avLst>
          </a:prstGeom>
          <a:solidFill>
            <a:srgbClr val="3A1E1F"/>
          </a:solidFill>
          <a:ln/>
          <a:effectLst>
            <a:outerShdw blurRad="88900" dist="38100" dir="5400000" algn="bl" rotWithShape="0">
              <a:srgbClr val="000000">
                <a:alpha val="18000"/>
              </a:srgbClr>
            </a:outerShdw>
          </a:effectLst>
        </p:spPr>
        <p:txBody>
          <a:bodyPr/>
          <a:lstStyle/>
          <a:p>
            <a:endParaRPr lang="en-IN"/>
          </a:p>
        </p:txBody>
      </p:sp>
      <p:sp>
        <p:nvSpPr>
          <p:cNvPr id="21" name="Shape 13"/>
          <p:cNvSpPr/>
          <p:nvPr/>
        </p:nvSpPr>
        <p:spPr>
          <a:xfrm>
            <a:off x="6503416" y="2159784"/>
            <a:ext cx="530352" cy="530352"/>
          </a:xfrm>
          <a:prstGeom prst="ellipse">
            <a:avLst/>
          </a:prstGeom>
          <a:solidFill>
            <a:srgbClr val="E2635E"/>
          </a:solidFill>
          <a:ln/>
        </p:spPr>
        <p:txBody>
          <a:bodyPr/>
          <a:lstStyle/>
          <a:p>
            <a:endParaRPr lang="en-IN"/>
          </a:p>
        </p:txBody>
      </p:sp>
      <p:pic>
        <p:nvPicPr>
          <p:cNvPr id="22" name="Image 6" descr="/home/claude/dresscode/icons2/timescircle_white.png"/>
          <p:cNvPicPr>
            <a:picLocks noChangeAspect="1"/>
          </p:cNvPicPr>
          <p:nvPr/>
        </p:nvPicPr>
        <p:blipFill>
          <a:blip r:embed="rId5"/>
          <a:stretch>
            <a:fillRect/>
          </a:stretch>
        </p:blipFill>
        <p:spPr>
          <a:xfrm>
            <a:off x="6563838" y="2222033"/>
            <a:ext cx="387157" cy="387157"/>
          </a:xfrm>
          <a:prstGeom prst="rect">
            <a:avLst/>
          </a:prstGeom>
        </p:spPr>
      </p:pic>
      <p:sp>
        <p:nvSpPr>
          <p:cNvPr id="23" name="Text 14"/>
          <p:cNvSpPr/>
          <p:nvPr/>
        </p:nvSpPr>
        <p:spPr>
          <a:xfrm>
            <a:off x="7220204" y="2219220"/>
            <a:ext cx="2743200" cy="411480"/>
          </a:xfrm>
          <a:prstGeom prst="rect">
            <a:avLst/>
          </a:prstGeom>
          <a:noFill/>
          <a:ln/>
        </p:spPr>
        <p:txBody>
          <a:bodyPr wrap="square" lIns="0" tIns="0" rIns="0" bIns="0" rtlCol="0" anchor="ctr"/>
          <a:lstStyle/>
          <a:p>
            <a:pPr marL="0" indent="0">
              <a:buNone/>
            </a:pPr>
            <a:r>
              <a:rPr lang="en-US" sz="1900" b="1" dirty="0">
                <a:solidFill>
                  <a:srgbClr val="E2635E"/>
                </a:solidFill>
                <a:latin typeface="Bookman Old Style" pitchFamily="34" charset="0"/>
                <a:ea typeface="Bookman Old Style" pitchFamily="34" charset="-122"/>
                <a:cs typeface="Bookman Old Style" pitchFamily="34" charset="-120"/>
              </a:rPr>
              <a:t>DON’Ts</a:t>
            </a:r>
            <a:endParaRPr lang="en-US" sz="1900" dirty="0"/>
          </a:p>
        </p:txBody>
      </p:sp>
      <p:pic>
        <p:nvPicPr>
          <p:cNvPr id="24" name="Image 7" descr="/home/claude/dresscode/icons2/timescircle_red.png"/>
          <p:cNvPicPr>
            <a:picLocks noChangeAspect="1"/>
          </p:cNvPicPr>
          <p:nvPr/>
        </p:nvPicPr>
        <p:blipFill>
          <a:blip r:embed="rId6"/>
          <a:stretch>
            <a:fillRect/>
          </a:stretch>
        </p:blipFill>
        <p:spPr>
          <a:xfrm>
            <a:off x="6492240" y="3710592"/>
            <a:ext cx="201168" cy="201168"/>
          </a:xfrm>
          <a:prstGeom prst="rect">
            <a:avLst/>
          </a:prstGeom>
        </p:spPr>
      </p:pic>
      <p:sp>
        <p:nvSpPr>
          <p:cNvPr id="25" name="Text 15"/>
          <p:cNvSpPr/>
          <p:nvPr/>
        </p:nvSpPr>
        <p:spPr>
          <a:xfrm>
            <a:off x="6812280" y="3666592"/>
            <a:ext cx="4617720" cy="340000"/>
          </a:xfrm>
          <a:prstGeom prst="rect">
            <a:avLst/>
          </a:prstGeom>
          <a:noFill/>
          <a:ln/>
        </p:spPr>
        <p:txBody>
          <a:bodyPr wrap="square" lIns="0" tIns="0" rIns="0" bIns="0" rtlCol="0" anchor="t"/>
          <a:lstStyle/>
          <a:p>
            <a:pPr marL="0" indent="0">
              <a:lnSpc>
                <a:spcPct val="115000"/>
              </a:lnSpc>
              <a:buNone/>
            </a:pPr>
            <a:r>
              <a:rPr lang="en-US" sz="1600" dirty="0">
                <a:solidFill>
                  <a:srgbClr val="E8E6E1"/>
                </a:solidFill>
                <a:latin typeface="Calibri" pitchFamily="34" charset="0"/>
                <a:ea typeface="Calibri" pitchFamily="34" charset="-122"/>
                <a:cs typeface="Calibri" pitchFamily="34" charset="-120"/>
              </a:rPr>
              <a:t>Excessively short/cropped clothing, ripped jeans</a:t>
            </a:r>
            <a:endParaRPr lang="en-US" sz="1600" dirty="0"/>
          </a:p>
        </p:txBody>
      </p:sp>
      <p:pic>
        <p:nvPicPr>
          <p:cNvPr id="26" name="Image 8" descr="/home/claude/dresscode/icons2/timescircle_red.png"/>
          <p:cNvPicPr>
            <a:picLocks noChangeAspect="1"/>
          </p:cNvPicPr>
          <p:nvPr/>
        </p:nvPicPr>
        <p:blipFill>
          <a:blip r:embed="rId6"/>
          <a:stretch>
            <a:fillRect/>
          </a:stretch>
        </p:blipFill>
        <p:spPr>
          <a:xfrm>
            <a:off x="6492240" y="4063364"/>
            <a:ext cx="201168" cy="201168"/>
          </a:xfrm>
          <a:prstGeom prst="rect">
            <a:avLst/>
          </a:prstGeom>
        </p:spPr>
      </p:pic>
      <p:sp>
        <p:nvSpPr>
          <p:cNvPr id="27" name="Text 16"/>
          <p:cNvSpPr/>
          <p:nvPr/>
        </p:nvSpPr>
        <p:spPr>
          <a:xfrm>
            <a:off x="6812280" y="4019364"/>
            <a:ext cx="4617720" cy="340000"/>
          </a:xfrm>
          <a:prstGeom prst="rect">
            <a:avLst/>
          </a:prstGeom>
          <a:noFill/>
          <a:ln/>
        </p:spPr>
        <p:txBody>
          <a:bodyPr wrap="square" lIns="0" tIns="0" rIns="0" bIns="0" rtlCol="0" anchor="t"/>
          <a:lstStyle/>
          <a:p>
            <a:pPr marL="0" indent="0">
              <a:lnSpc>
                <a:spcPct val="115000"/>
              </a:lnSpc>
              <a:buNone/>
            </a:pPr>
            <a:r>
              <a:rPr lang="en-US" sz="1600" dirty="0">
                <a:solidFill>
                  <a:srgbClr val="E8E6E1"/>
                </a:solidFill>
                <a:latin typeface="Calibri" pitchFamily="34" charset="0"/>
                <a:ea typeface="Calibri" pitchFamily="34" charset="-122"/>
                <a:cs typeface="Calibri" pitchFamily="34" charset="-120"/>
              </a:rPr>
              <a:t>Garments with deep necklines, off-shoulders</a:t>
            </a:r>
            <a:endParaRPr lang="en-US" sz="1600" dirty="0"/>
          </a:p>
        </p:txBody>
      </p:sp>
      <p:pic>
        <p:nvPicPr>
          <p:cNvPr id="28" name="Image 9" descr="/home/claude/dresscode/icons2/timescircle_red.png"/>
          <p:cNvPicPr>
            <a:picLocks noChangeAspect="1"/>
          </p:cNvPicPr>
          <p:nvPr/>
        </p:nvPicPr>
        <p:blipFill>
          <a:blip r:embed="rId6"/>
          <a:stretch>
            <a:fillRect/>
          </a:stretch>
        </p:blipFill>
        <p:spPr>
          <a:xfrm>
            <a:off x="6492240" y="4416136"/>
            <a:ext cx="201168" cy="201168"/>
          </a:xfrm>
          <a:prstGeom prst="rect">
            <a:avLst/>
          </a:prstGeom>
        </p:spPr>
      </p:pic>
      <p:sp>
        <p:nvSpPr>
          <p:cNvPr id="29" name="Text 17"/>
          <p:cNvSpPr/>
          <p:nvPr/>
        </p:nvSpPr>
        <p:spPr>
          <a:xfrm>
            <a:off x="6812280" y="4372136"/>
            <a:ext cx="4617720" cy="340000"/>
          </a:xfrm>
          <a:prstGeom prst="rect">
            <a:avLst/>
          </a:prstGeom>
          <a:noFill/>
          <a:ln/>
        </p:spPr>
        <p:txBody>
          <a:bodyPr wrap="square" lIns="0" tIns="0" rIns="0" bIns="0" rtlCol="0" anchor="t"/>
          <a:lstStyle/>
          <a:p>
            <a:pPr marL="0" indent="0">
              <a:lnSpc>
                <a:spcPct val="115000"/>
              </a:lnSpc>
              <a:buNone/>
            </a:pPr>
            <a:r>
              <a:rPr lang="en-US" sz="1600" dirty="0">
                <a:solidFill>
                  <a:srgbClr val="E8E6E1"/>
                </a:solidFill>
                <a:latin typeface="Calibri" pitchFamily="34" charset="0"/>
                <a:ea typeface="Calibri" pitchFamily="34" charset="-122"/>
                <a:cs typeface="Calibri" pitchFamily="34" charset="-120"/>
              </a:rPr>
              <a:t>Overly casual, unkempt or wrinkled attire</a:t>
            </a:r>
            <a:endParaRPr lang="en-US" sz="1600" dirty="0"/>
          </a:p>
        </p:txBody>
      </p:sp>
      <p:pic>
        <p:nvPicPr>
          <p:cNvPr id="30" name="Image 10" descr="/home/claude/dresscode/icons2/timescircle_red.png"/>
          <p:cNvPicPr>
            <a:picLocks noChangeAspect="1"/>
          </p:cNvPicPr>
          <p:nvPr/>
        </p:nvPicPr>
        <p:blipFill>
          <a:blip r:embed="rId6"/>
          <a:stretch>
            <a:fillRect/>
          </a:stretch>
        </p:blipFill>
        <p:spPr>
          <a:xfrm>
            <a:off x="6492240" y="4768908"/>
            <a:ext cx="201168" cy="201168"/>
          </a:xfrm>
          <a:prstGeom prst="rect">
            <a:avLst/>
          </a:prstGeom>
        </p:spPr>
      </p:pic>
      <p:sp>
        <p:nvSpPr>
          <p:cNvPr id="31" name="Text 18"/>
          <p:cNvSpPr/>
          <p:nvPr/>
        </p:nvSpPr>
        <p:spPr>
          <a:xfrm>
            <a:off x="6812280" y="4724908"/>
            <a:ext cx="4617720" cy="340000"/>
          </a:xfrm>
          <a:prstGeom prst="rect">
            <a:avLst/>
          </a:prstGeom>
          <a:noFill/>
          <a:ln/>
        </p:spPr>
        <p:txBody>
          <a:bodyPr wrap="square" lIns="0" tIns="0" rIns="0" bIns="0" rtlCol="0" anchor="t"/>
          <a:lstStyle/>
          <a:p>
            <a:pPr marL="0" indent="0">
              <a:lnSpc>
                <a:spcPct val="115000"/>
              </a:lnSpc>
              <a:buNone/>
            </a:pPr>
            <a:r>
              <a:rPr lang="en-US" sz="1600" dirty="0">
                <a:solidFill>
                  <a:srgbClr val="E8E6E1"/>
                </a:solidFill>
                <a:latin typeface="Calibri" pitchFamily="34" charset="0"/>
                <a:ea typeface="Calibri" pitchFamily="34" charset="-122"/>
                <a:cs typeface="Calibri" pitchFamily="34" charset="-120"/>
              </a:rPr>
              <a:t>Polo T-shirts + jeans for client-facing roles</a:t>
            </a:r>
            <a:endParaRPr lang="en-US" sz="1600" dirty="0"/>
          </a:p>
        </p:txBody>
      </p:sp>
      <p:pic>
        <p:nvPicPr>
          <p:cNvPr id="32" name="Image 11" descr="/home/claude/dresscode/icons2/timescircle_red.png"/>
          <p:cNvPicPr>
            <a:picLocks noChangeAspect="1"/>
          </p:cNvPicPr>
          <p:nvPr/>
        </p:nvPicPr>
        <p:blipFill>
          <a:blip r:embed="rId6"/>
          <a:stretch>
            <a:fillRect/>
          </a:stretch>
        </p:blipFill>
        <p:spPr>
          <a:xfrm>
            <a:off x="6492240" y="5121680"/>
            <a:ext cx="201168" cy="201168"/>
          </a:xfrm>
          <a:prstGeom prst="rect">
            <a:avLst/>
          </a:prstGeom>
        </p:spPr>
      </p:pic>
      <p:sp>
        <p:nvSpPr>
          <p:cNvPr id="33" name="Text 19"/>
          <p:cNvSpPr/>
          <p:nvPr/>
        </p:nvSpPr>
        <p:spPr>
          <a:xfrm>
            <a:off x="6812280" y="5077680"/>
            <a:ext cx="4617720" cy="340000"/>
          </a:xfrm>
          <a:prstGeom prst="rect">
            <a:avLst/>
          </a:prstGeom>
          <a:noFill/>
          <a:ln/>
        </p:spPr>
        <p:txBody>
          <a:bodyPr wrap="square" lIns="0" tIns="0" rIns="0" bIns="0" rtlCol="0" anchor="t"/>
          <a:lstStyle/>
          <a:p>
            <a:pPr marL="0" indent="0">
              <a:lnSpc>
                <a:spcPct val="115000"/>
              </a:lnSpc>
              <a:buNone/>
            </a:pPr>
            <a:r>
              <a:rPr lang="en-US" sz="1600" dirty="0">
                <a:solidFill>
                  <a:srgbClr val="E8E6E1"/>
                </a:solidFill>
                <a:latin typeface="Calibri" pitchFamily="34" charset="0"/>
                <a:ea typeface="Calibri" pitchFamily="34" charset="-122"/>
                <a:cs typeface="Calibri" pitchFamily="34" charset="-120"/>
              </a:rPr>
              <a:t>Loud prints, oversized graphics, big visible logos</a:t>
            </a:r>
            <a:endParaRPr lang="en-US" sz="1600" dirty="0"/>
          </a:p>
        </p:txBody>
      </p:sp>
      <p:sp>
        <p:nvSpPr>
          <p:cNvPr id="35" name="Shape 21"/>
          <p:cNvSpPr/>
          <p:nvPr/>
        </p:nvSpPr>
        <p:spPr>
          <a:xfrm>
            <a:off x="10140696" y="6579108"/>
            <a:ext cx="60350" cy="60350"/>
          </a:xfrm>
          <a:prstGeom prst="ellipse">
            <a:avLst/>
          </a:prstGeom>
          <a:solidFill>
            <a:srgbClr val="5C5B58"/>
          </a:solidFill>
          <a:ln/>
        </p:spPr>
        <p:txBody>
          <a:bodyPr/>
          <a:lstStyle/>
          <a:p>
            <a:endParaRPr lang="en-IN"/>
          </a:p>
        </p:txBody>
      </p:sp>
      <p:sp>
        <p:nvSpPr>
          <p:cNvPr id="36" name="Shape 22"/>
          <p:cNvSpPr/>
          <p:nvPr/>
        </p:nvSpPr>
        <p:spPr>
          <a:xfrm>
            <a:off x="10323576" y="6579108"/>
            <a:ext cx="60350" cy="60350"/>
          </a:xfrm>
          <a:prstGeom prst="ellipse">
            <a:avLst/>
          </a:prstGeom>
          <a:solidFill>
            <a:srgbClr val="5C5B58"/>
          </a:solidFill>
          <a:ln/>
        </p:spPr>
        <p:txBody>
          <a:bodyPr/>
          <a:lstStyle/>
          <a:p>
            <a:endParaRPr lang="en-IN"/>
          </a:p>
        </p:txBody>
      </p:sp>
      <p:sp>
        <p:nvSpPr>
          <p:cNvPr id="37" name="Shape 23"/>
          <p:cNvSpPr/>
          <p:nvPr/>
        </p:nvSpPr>
        <p:spPr>
          <a:xfrm>
            <a:off x="10506456" y="6579108"/>
            <a:ext cx="60350" cy="60350"/>
          </a:xfrm>
          <a:prstGeom prst="ellipse">
            <a:avLst/>
          </a:prstGeom>
          <a:solidFill>
            <a:srgbClr val="5C5B58"/>
          </a:solidFill>
          <a:ln/>
        </p:spPr>
        <p:txBody>
          <a:bodyPr/>
          <a:lstStyle/>
          <a:p>
            <a:endParaRPr lang="en-IN"/>
          </a:p>
        </p:txBody>
      </p:sp>
      <p:sp>
        <p:nvSpPr>
          <p:cNvPr id="38" name="Shape 24"/>
          <p:cNvSpPr/>
          <p:nvPr/>
        </p:nvSpPr>
        <p:spPr>
          <a:xfrm>
            <a:off x="10689336" y="6579108"/>
            <a:ext cx="60350" cy="60350"/>
          </a:xfrm>
          <a:prstGeom prst="ellipse">
            <a:avLst/>
          </a:prstGeom>
          <a:solidFill>
            <a:srgbClr val="5C5B58"/>
          </a:solidFill>
          <a:ln/>
        </p:spPr>
        <p:txBody>
          <a:bodyPr/>
          <a:lstStyle/>
          <a:p>
            <a:endParaRPr lang="en-IN"/>
          </a:p>
        </p:txBody>
      </p:sp>
      <p:sp>
        <p:nvSpPr>
          <p:cNvPr id="39" name="Shape 25"/>
          <p:cNvSpPr/>
          <p:nvPr/>
        </p:nvSpPr>
        <p:spPr>
          <a:xfrm>
            <a:off x="10872216" y="6579108"/>
            <a:ext cx="60350" cy="60350"/>
          </a:xfrm>
          <a:prstGeom prst="ellipse">
            <a:avLst/>
          </a:prstGeom>
          <a:solidFill>
            <a:srgbClr val="5C5B58"/>
          </a:solidFill>
          <a:ln/>
        </p:spPr>
        <p:txBody>
          <a:bodyPr/>
          <a:lstStyle/>
          <a:p>
            <a:endParaRPr lang="en-IN"/>
          </a:p>
        </p:txBody>
      </p:sp>
      <p:sp>
        <p:nvSpPr>
          <p:cNvPr id="40" name="Shape 26"/>
          <p:cNvSpPr/>
          <p:nvPr/>
        </p:nvSpPr>
        <p:spPr>
          <a:xfrm>
            <a:off x="11055096" y="6579108"/>
            <a:ext cx="60350" cy="60350"/>
          </a:xfrm>
          <a:prstGeom prst="ellipse">
            <a:avLst/>
          </a:prstGeom>
          <a:solidFill>
            <a:srgbClr val="5C5B58"/>
          </a:solidFill>
          <a:ln/>
        </p:spPr>
        <p:txBody>
          <a:bodyPr/>
          <a:lstStyle/>
          <a:p>
            <a:endParaRPr lang="en-IN"/>
          </a:p>
        </p:txBody>
      </p:sp>
      <p:sp>
        <p:nvSpPr>
          <p:cNvPr id="41" name="Shape 27"/>
          <p:cNvSpPr/>
          <p:nvPr/>
        </p:nvSpPr>
        <p:spPr>
          <a:xfrm>
            <a:off x="11237976" y="6556248"/>
            <a:ext cx="118872" cy="118872"/>
          </a:xfrm>
          <a:prstGeom prst="ellipse">
            <a:avLst/>
          </a:prstGeom>
          <a:solidFill>
            <a:srgbClr val="F07823"/>
          </a:solidFill>
          <a:ln/>
        </p:spPr>
        <p:txBody>
          <a:bodyPr/>
          <a:lstStyle/>
          <a:p>
            <a:endParaRPr lang="en-IN"/>
          </a:p>
        </p:txBody>
      </p:sp>
      <p:sp>
        <p:nvSpPr>
          <p:cNvPr id="42" name="Shape 28"/>
          <p:cNvSpPr/>
          <p:nvPr/>
        </p:nvSpPr>
        <p:spPr>
          <a:xfrm>
            <a:off x="11420856" y="6579108"/>
            <a:ext cx="60350" cy="60350"/>
          </a:xfrm>
          <a:prstGeom prst="ellipse">
            <a:avLst/>
          </a:prstGeom>
          <a:solidFill>
            <a:srgbClr val="5C5B58"/>
          </a:solidFill>
          <a:ln/>
        </p:spPr>
        <p:txBody>
          <a:bodyPr/>
          <a:lstStyle/>
          <a:p>
            <a:endParaRPr lang="en-IN"/>
          </a:p>
        </p:txBody>
      </p:sp>
      <p:sp>
        <p:nvSpPr>
          <p:cNvPr id="43" name="Shape 29"/>
          <p:cNvSpPr/>
          <p:nvPr/>
        </p:nvSpPr>
        <p:spPr>
          <a:xfrm>
            <a:off x="11603736" y="6579108"/>
            <a:ext cx="60350" cy="60350"/>
          </a:xfrm>
          <a:prstGeom prst="ellipse">
            <a:avLst/>
          </a:prstGeom>
          <a:solidFill>
            <a:srgbClr val="5C5B58"/>
          </a:solidFill>
          <a:ln/>
        </p:spPr>
        <p:txBody>
          <a:bodyPr/>
          <a:lstStyle/>
          <a:p>
            <a:endParaRPr lang="en-IN"/>
          </a:p>
        </p:txBody>
      </p:sp>
      <p:sp>
        <p:nvSpPr>
          <p:cNvPr id="44" name="Shape 30"/>
          <p:cNvSpPr/>
          <p:nvPr/>
        </p:nvSpPr>
        <p:spPr>
          <a:xfrm>
            <a:off x="11786616" y="6579108"/>
            <a:ext cx="60350" cy="60350"/>
          </a:xfrm>
          <a:prstGeom prst="ellipse">
            <a:avLst/>
          </a:prstGeom>
          <a:solidFill>
            <a:srgbClr val="5C5B58"/>
          </a:solidFill>
          <a:ln/>
        </p:spPr>
        <p:txBody>
          <a:bodyPr/>
          <a:lstStyle/>
          <a:p>
            <a:endParaRPr lang="en-IN"/>
          </a:p>
        </p:txBody>
      </p:sp>
      <p:pic>
        <p:nvPicPr>
          <p:cNvPr id="45" name="Image 1" descr="/home/claude/dresscode/icons2/checkcircle_green.png"/>
          <p:cNvPicPr>
            <a:picLocks noChangeAspect="1"/>
          </p:cNvPicPr>
          <p:nvPr/>
        </p:nvPicPr>
        <p:blipFill>
          <a:blip r:embed="rId4"/>
          <a:stretch>
            <a:fillRect/>
          </a:stretch>
        </p:blipFill>
        <p:spPr>
          <a:xfrm>
            <a:off x="960120" y="5474452"/>
            <a:ext cx="201168" cy="201168"/>
          </a:xfrm>
          <a:prstGeom prst="rect">
            <a:avLst/>
          </a:prstGeom>
        </p:spPr>
      </p:pic>
      <p:sp>
        <p:nvSpPr>
          <p:cNvPr id="46" name="Text 7"/>
          <p:cNvSpPr/>
          <p:nvPr/>
        </p:nvSpPr>
        <p:spPr>
          <a:xfrm>
            <a:off x="1280160" y="5430452"/>
            <a:ext cx="4572000" cy="340000"/>
          </a:xfrm>
          <a:prstGeom prst="rect">
            <a:avLst/>
          </a:prstGeom>
          <a:noFill/>
          <a:ln/>
        </p:spPr>
        <p:txBody>
          <a:bodyPr wrap="square" lIns="0" tIns="0" rIns="0" bIns="0" rtlCol="0" anchor="t"/>
          <a:lstStyle/>
          <a:p>
            <a:pPr marL="0" indent="0">
              <a:lnSpc>
                <a:spcPct val="115000"/>
              </a:lnSpc>
              <a:buNone/>
            </a:pPr>
            <a:r>
              <a:rPr lang="en-US" sz="1600" dirty="0">
                <a:solidFill>
                  <a:srgbClr val="E8E6E1"/>
                </a:solidFill>
                <a:latin typeface="Calibri" pitchFamily="34" charset="0"/>
                <a:ea typeface="Calibri" pitchFamily="34" charset="-122"/>
                <a:cs typeface="Calibri" pitchFamily="34" charset="-120"/>
              </a:rPr>
              <a:t>Polished, role-appropriate footwear</a:t>
            </a:r>
            <a:endParaRPr lang="en-US" sz="1600" dirty="0"/>
          </a:p>
        </p:txBody>
      </p:sp>
      <p:pic>
        <p:nvPicPr>
          <p:cNvPr id="47" name="Image 1" descr="/home/claude/dresscode/icons2/checkcircle_green.png"/>
          <p:cNvPicPr>
            <a:picLocks noChangeAspect="1"/>
          </p:cNvPicPr>
          <p:nvPr/>
        </p:nvPicPr>
        <p:blipFill>
          <a:blip r:embed="rId4"/>
          <a:stretch>
            <a:fillRect/>
          </a:stretch>
        </p:blipFill>
        <p:spPr>
          <a:xfrm>
            <a:off x="960120" y="5827224"/>
            <a:ext cx="201168" cy="201168"/>
          </a:xfrm>
          <a:prstGeom prst="rect">
            <a:avLst/>
          </a:prstGeom>
        </p:spPr>
      </p:pic>
      <p:sp>
        <p:nvSpPr>
          <p:cNvPr id="48" name="Text 7"/>
          <p:cNvSpPr/>
          <p:nvPr/>
        </p:nvSpPr>
        <p:spPr>
          <a:xfrm>
            <a:off x="1280160" y="5783224"/>
            <a:ext cx="4572000" cy="340000"/>
          </a:xfrm>
          <a:prstGeom prst="rect">
            <a:avLst/>
          </a:prstGeom>
          <a:noFill/>
          <a:ln/>
        </p:spPr>
        <p:txBody>
          <a:bodyPr wrap="square" lIns="0" tIns="0" rIns="0" bIns="0" rtlCol="0" anchor="t"/>
          <a:lstStyle/>
          <a:p>
            <a:pPr marL="0" indent="0">
              <a:lnSpc>
                <a:spcPct val="115000"/>
              </a:lnSpc>
              <a:buNone/>
            </a:pPr>
            <a:r>
              <a:rPr lang="en-US" sz="1600" dirty="0">
                <a:solidFill>
                  <a:srgbClr val="E8E6E1"/>
                </a:solidFill>
                <a:latin typeface="Calibri" pitchFamily="34" charset="0"/>
                <a:ea typeface="Calibri" pitchFamily="34" charset="-122"/>
                <a:cs typeface="Calibri" pitchFamily="34" charset="-120"/>
              </a:rPr>
              <a:t>Neat hair and well-maintained grooming</a:t>
            </a:r>
            <a:endParaRPr lang="en-US" sz="1600" dirty="0"/>
          </a:p>
        </p:txBody>
      </p:sp>
      <p:pic>
        <p:nvPicPr>
          <p:cNvPr id="49" name="Image 7" descr="/home/claude/dresscode/icons2/timescircle_red.png"/>
          <p:cNvPicPr>
            <a:picLocks noChangeAspect="1"/>
          </p:cNvPicPr>
          <p:nvPr/>
        </p:nvPicPr>
        <p:blipFill>
          <a:blip r:embed="rId6"/>
          <a:stretch>
            <a:fillRect/>
          </a:stretch>
        </p:blipFill>
        <p:spPr>
          <a:xfrm>
            <a:off x="6492240" y="5474452"/>
            <a:ext cx="201168" cy="201168"/>
          </a:xfrm>
          <a:prstGeom prst="rect">
            <a:avLst/>
          </a:prstGeom>
        </p:spPr>
      </p:pic>
      <p:sp>
        <p:nvSpPr>
          <p:cNvPr id="50" name="Text 15"/>
          <p:cNvSpPr/>
          <p:nvPr/>
        </p:nvSpPr>
        <p:spPr>
          <a:xfrm>
            <a:off x="6812280" y="5430452"/>
            <a:ext cx="4617720" cy="340000"/>
          </a:xfrm>
          <a:prstGeom prst="rect">
            <a:avLst/>
          </a:prstGeom>
          <a:noFill/>
          <a:ln/>
        </p:spPr>
        <p:txBody>
          <a:bodyPr wrap="square" lIns="0" tIns="0" rIns="0" bIns="0" rtlCol="0" anchor="t"/>
          <a:lstStyle/>
          <a:p>
            <a:pPr marL="0" indent="0">
              <a:lnSpc>
                <a:spcPct val="115000"/>
              </a:lnSpc>
              <a:buNone/>
            </a:pPr>
            <a:r>
              <a:rPr lang="en-US" sz="1600" dirty="0">
                <a:solidFill>
                  <a:srgbClr val="E8E6E1"/>
                </a:solidFill>
                <a:latin typeface="Calibri" pitchFamily="34" charset="0"/>
                <a:ea typeface="Calibri" pitchFamily="34" charset="-122"/>
                <a:cs typeface="Calibri" pitchFamily="34" charset="-120"/>
              </a:rPr>
              <a:t>Bulky, overly casual or distracting footwear</a:t>
            </a:r>
            <a:endParaRPr lang="en-US" sz="1600" dirty="0"/>
          </a:p>
        </p:txBody>
      </p:sp>
      <p:pic>
        <p:nvPicPr>
          <p:cNvPr id="51" name="Image 7" descr="/home/claude/dresscode/icons2/timescircle_red.png"/>
          <p:cNvPicPr>
            <a:picLocks noChangeAspect="1"/>
          </p:cNvPicPr>
          <p:nvPr/>
        </p:nvPicPr>
        <p:blipFill>
          <a:blip r:embed="rId6"/>
          <a:stretch>
            <a:fillRect/>
          </a:stretch>
        </p:blipFill>
        <p:spPr>
          <a:xfrm>
            <a:off x="6492240" y="5827224"/>
            <a:ext cx="201168" cy="201168"/>
          </a:xfrm>
          <a:prstGeom prst="rect">
            <a:avLst/>
          </a:prstGeom>
        </p:spPr>
      </p:pic>
      <p:sp>
        <p:nvSpPr>
          <p:cNvPr id="52" name="Text 15"/>
          <p:cNvSpPr/>
          <p:nvPr/>
        </p:nvSpPr>
        <p:spPr>
          <a:xfrm>
            <a:off x="6812280" y="5783224"/>
            <a:ext cx="4617720" cy="340000"/>
          </a:xfrm>
          <a:prstGeom prst="rect">
            <a:avLst/>
          </a:prstGeom>
          <a:noFill/>
          <a:ln/>
        </p:spPr>
        <p:txBody>
          <a:bodyPr wrap="square" lIns="0" tIns="0" rIns="0" bIns="0" rtlCol="0" anchor="t"/>
          <a:lstStyle/>
          <a:p>
            <a:pPr marL="0" indent="0">
              <a:lnSpc>
                <a:spcPct val="115000"/>
              </a:lnSpc>
              <a:buNone/>
            </a:pPr>
            <a:r>
              <a:rPr lang="en-US" sz="1600" dirty="0">
                <a:solidFill>
                  <a:srgbClr val="E8E6E1"/>
                </a:solidFill>
                <a:latin typeface="Calibri" pitchFamily="34" charset="0"/>
                <a:ea typeface="Calibri" pitchFamily="34" charset="-122"/>
                <a:cs typeface="Calibri" pitchFamily="34" charset="-120"/>
              </a:rPr>
              <a:t>Casual/lounge attire on video calls while working remotely</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F1F1F"/>
        </a:solidFill>
        <a:effectLst/>
      </p:bgPr>
    </p:bg>
    <p:spTree>
      <p:nvGrpSpPr>
        <p:cNvPr id="1" name=""/>
        <p:cNvGrpSpPr/>
        <p:nvPr/>
      </p:nvGrpSpPr>
      <p:grpSpPr>
        <a:xfrm>
          <a:off x="0" y="0"/>
          <a:ext cx="0" cy="0"/>
          <a:chOff x="0" y="0"/>
          <a:chExt cx="0" cy="0"/>
        </a:xfrm>
      </p:grpSpPr>
      <p:sp>
        <p:nvSpPr>
          <p:cNvPr id="2" name="Shape 0"/>
          <p:cNvSpPr/>
          <p:nvPr/>
        </p:nvSpPr>
        <p:spPr>
          <a:xfrm>
            <a:off x="10149840" y="-1920240"/>
            <a:ext cx="4206240" cy="4206240"/>
          </a:xfrm>
          <a:prstGeom prst="ellipse">
            <a:avLst/>
          </a:prstGeom>
          <a:solidFill>
            <a:srgbClr val="3A3835">
              <a:alpha val="65000"/>
            </a:srgbClr>
          </a:solidFill>
          <a:ln/>
        </p:spPr>
        <p:txBody>
          <a:bodyPr/>
          <a:lstStyle/>
          <a:p>
            <a:endParaRPr lang="en-IN"/>
          </a:p>
        </p:txBody>
      </p:sp>
      <p:sp>
        <p:nvSpPr>
          <p:cNvPr id="3" name="Shape 1"/>
          <p:cNvSpPr/>
          <p:nvPr/>
        </p:nvSpPr>
        <p:spPr>
          <a:xfrm>
            <a:off x="-1463040" y="5394960"/>
            <a:ext cx="3108960" cy="3108960"/>
          </a:xfrm>
          <a:prstGeom prst="ellipse">
            <a:avLst/>
          </a:prstGeom>
          <a:solidFill>
            <a:srgbClr val="3A3835">
              <a:alpha val="65000"/>
            </a:srgbClr>
          </a:solidFill>
          <a:ln/>
        </p:spPr>
        <p:txBody>
          <a:bodyPr/>
          <a:lstStyle/>
          <a:p>
            <a:endParaRPr lang="en-IN"/>
          </a:p>
        </p:txBody>
      </p:sp>
      <p:sp>
        <p:nvSpPr>
          <p:cNvPr id="5" name="Text 3"/>
          <p:cNvSpPr/>
          <p:nvPr/>
        </p:nvSpPr>
        <p:spPr>
          <a:xfrm>
            <a:off x="640080" y="749808"/>
            <a:ext cx="10881360" cy="777240"/>
          </a:xfrm>
          <a:prstGeom prst="rect">
            <a:avLst/>
          </a:prstGeom>
          <a:noFill/>
          <a:ln/>
        </p:spPr>
        <p:txBody>
          <a:bodyPr wrap="square" lIns="0" tIns="0" rIns="0" bIns="0" rtlCol="0" anchor="ctr"/>
          <a:lstStyle/>
          <a:p>
            <a:pPr marL="0" indent="0">
              <a:buNone/>
            </a:pPr>
            <a:r>
              <a:rPr lang="en-US" sz="3000" b="1" dirty="0">
                <a:solidFill>
                  <a:srgbClr val="FFFFFF"/>
                </a:solidFill>
                <a:latin typeface="Bookman Old Style" pitchFamily="34" charset="0"/>
                <a:ea typeface="Bookman Old Style" pitchFamily="34" charset="-122"/>
                <a:cs typeface="Bookman Old Style" pitchFamily="34" charset="-120"/>
              </a:rPr>
              <a:t>Compliance &amp; Accountability</a:t>
            </a:r>
            <a:endParaRPr lang="en-US" sz="3000" dirty="0"/>
          </a:p>
        </p:txBody>
      </p:sp>
      <p:sp>
        <p:nvSpPr>
          <p:cNvPr id="6" name="Shape 4"/>
          <p:cNvSpPr/>
          <p:nvPr/>
        </p:nvSpPr>
        <p:spPr>
          <a:xfrm>
            <a:off x="640080" y="1691640"/>
            <a:ext cx="10927080" cy="1371600"/>
          </a:xfrm>
          <a:prstGeom prst="roundRect">
            <a:avLst>
              <a:gd name="adj" fmla="val 8000"/>
            </a:avLst>
          </a:prstGeom>
          <a:solidFill>
            <a:srgbClr val="2A2A28"/>
          </a:solidFill>
          <a:ln/>
          <a:effectLst>
            <a:outerShdw blurRad="88900" dist="38100" dir="5400000" algn="bl" rotWithShape="0">
              <a:srgbClr val="000000">
                <a:alpha val="18000"/>
              </a:srgbClr>
            </a:outerShdw>
          </a:effectLst>
        </p:spPr>
        <p:txBody>
          <a:bodyPr/>
          <a:lstStyle/>
          <a:p>
            <a:endParaRPr lang="en-IN"/>
          </a:p>
        </p:txBody>
      </p:sp>
      <p:sp>
        <p:nvSpPr>
          <p:cNvPr id="7" name="Shape 5"/>
          <p:cNvSpPr/>
          <p:nvPr/>
        </p:nvSpPr>
        <p:spPr>
          <a:xfrm>
            <a:off x="960120" y="1972926"/>
            <a:ext cx="621792" cy="621792"/>
          </a:xfrm>
          <a:prstGeom prst="ellipse">
            <a:avLst/>
          </a:prstGeom>
          <a:solidFill>
            <a:srgbClr val="403F3D"/>
          </a:solidFill>
          <a:ln/>
        </p:spPr>
        <p:txBody>
          <a:bodyPr/>
          <a:lstStyle/>
          <a:p>
            <a:endParaRPr lang="en-IN"/>
          </a:p>
        </p:txBody>
      </p:sp>
      <p:pic>
        <p:nvPicPr>
          <p:cNvPr id="8" name="Image 0" descr="/home/claude/dresscode/icons2/clipboardcheck_white.png"/>
          <p:cNvPicPr>
            <a:picLocks noChangeAspect="1"/>
          </p:cNvPicPr>
          <p:nvPr/>
        </p:nvPicPr>
        <p:blipFill>
          <a:blip r:embed="rId3"/>
          <a:stretch>
            <a:fillRect/>
          </a:stretch>
        </p:blipFill>
        <p:spPr>
          <a:xfrm>
            <a:off x="1044062" y="2056868"/>
            <a:ext cx="453908" cy="453908"/>
          </a:xfrm>
          <a:prstGeom prst="rect">
            <a:avLst/>
          </a:prstGeom>
        </p:spPr>
      </p:pic>
      <p:sp>
        <p:nvSpPr>
          <p:cNvPr id="9" name="Text 6"/>
          <p:cNvSpPr/>
          <p:nvPr/>
        </p:nvSpPr>
        <p:spPr>
          <a:xfrm>
            <a:off x="1828800" y="1764792"/>
            <a:ext cx="9464040" cy="1207008"/>
          </a:xfrm>
          <a:prstGeom prst="rect">
            <a:avLst/>
          </a:prstGeom>
          <a:noFill/>
          <a:ln/>
        </p:spPr>
        <p:txBody>
          <a:bodyPr wrap="square" lIns="0" tIns="0" rIns="0" bIns="0" rtlCol="0" anchor="ctr"/>
          <a:lstStyle/>
          <a:p>
            <a:pPr marL="0" indent="0">
              <a:lnSpc>
                <a:spcPct val="125000"/>
              </a:lnSpc>
              <a:buNone/>
            </a:pPr>
            <a:r>
              <a:rPr lang="en-US" sz="1600" dirty="0">
                <a:solidFill>
                  <a:srgbClr val="E8E6E1"/>
                </a:solidFill>
                <a:latin typeface="Calibri" pitchFamily="34" charset="0"/>
                <a:ea typeface="Calibri" pitchFamily="34" charset="-122"/>
                <a:cs typeface="Calibri" pitchFamily="34" charset="-120"/>
              </a:rPr>
              <a:t>This dress code applies to every team member, every working day. Adherence reflects your professionalism and your respect for colleagues and clients and it upholds the image our guests trust SUNROOOF for.</a:t>
            </a:r>
            <a:endParaRPr lang="en-US" sz="1600" dirty="0"/>
          </a:p>
        </p:txBody>
      </p:sp>
      <p:sp>
        <p:nvSpPr>
          <p:cNvPr id="10" name="Shape 7"/>
          <p:cNvSpPr/>
          <p:nvPr/>
        </p:nvSpPr>
        <p:spPr>
          <a:xfrm>
            <a:off x="640080" y="3264408"/>
            <a:ext cx="10927080" cy="1371600"/>
          </a:xfrm>
          <a:prstGeom prst="roundRect">
            <a:avLst>
              <a:gd name="adj" fmla="val 8000"/>
            </a:avLst>
          </a:prstGeom>
          <a:solidFill>
            <a:srgbClr val="3A1E1F"/>
          </a:solidFill>
          <a:ln/>
          <a:effectLst>
            <a:outerShdw blurRad="88900" dist="38100" dir="5400000" algn="bl" rotWithShape="0">
              <a:srgbClr val="000000">
                <a:alpha val="18000"/>
              </a:srgbClr>
            </a:outerShdw>
          </a:effectLst>
        </p:spPr>
        <p:txBody>
          <a:bodyPr/>
          <a:lstStyle/>
          <a:p>
            <a:endParaRPr lang="en-IN"/>
          </a:p>
        </p:txBody>
      </p:sp>
      <p:sp>
        <p:nvSpPr>
          <p:cNvPr id="11" name="Shape 8"/>
          <p:cNvSpPr/>
          <p:nvPr/>
        </p:nvSpPr>
        <p:spPr>
          <a:xfrm>
            <a:off x="960120" y="3545694"/>
            <a:ext cx="621792" cy="621792"/>
          </a:xfrm>
          <a:prstGeom prst="ellipse">
            <a:avLst/>
          </a:prstGeom>
          <a:solidFill>
            <a:srgbClr val="E2635E"/>
          </a:solidFill>
          <a:ln/>
        </p:spPr>
        <p:txBody>
          <a:bodyPr/>
          <a:lstStyle/>
          <a:p>
            <a:endParaRPr lang="en-IN"/>
          </a:p>
        </p:txBody>
      </p:sp>
      <p:pic>
        <p:nvPicPr>
          <p:cNvPr id="12" name="Image 1" descr="/home/claude/dresscode/icons2/timescircle_white.png"/>
          <p:cNvPicPr>
            <a:picLocks noChangeAspect="1"/>
          </p:cNvPicPr>
          <p:nvPr/>
        </p:nvPicPr>
        <p:blipFill>
          <a:blip r:embed="rId4"/>
          <a:stretch>
            <a:fillRect/>
          </a:stretch>
        </p:blipFill>
        <p:spPr>
          <a:xfrm>
            <a:off x="1044062" y="3629636"/>
            <a:ext cx="453908" cy="453908"/>
          </a:xfrm>
          <a:prstGeom prst="rect">
            <a:avLst/>
          </a:prstGeom>
        </p:spPr>
      </p:pic>
      <p:sp>
        <p:nvSpPr>
          <p:cNvPr id="13" name="Text 9"/>
          <p:cNvSpPr/>
          <p:nvPr/>
        </p:nvSpPr>
        <p:spPr>
          <a:xfrm>
            <a:off x="1828800" y="3337560"/>
            <a:ext cx="9464040" cy="1207008"/>
          </a:xfrm>
          <a:prstGeom prst="rect">
            <a:avLst/>
          </a:prstGeom>
          <a:noFill/>
          <a:ln/>
        </p:spPr>
        <p:txBody>
          <a:bodyPr wrap="square" lIns="0" tIns="0" rIns="0" bIns="0" rtlCol="0" anchor="ctr"/>
          <a:lstStyle/>
          <a:p>
            <a:pPr marL="0" indent="0">
              <a:lnSpc>
                <a:spcPct val="125000"/>
              </a:lnSpc>
              <a:buNone/>
            </a:pPr>
            <a:r>
              <a:rPr lang="en-US" sz="1600" dirty="0">
                <a:solidFill>
                  <a:srgbClr val="E8E6E1"/>
                </a:solidFill>
                <a:latin typeface="Calibri" pitchFamily="34" charset="0"/>
                <a:ea typeface="Calibri" pitchFamily="34" charset="-122"/>
                <a:cs typeface="Calibri" pitchFamily="34" charset="-120"/>
              </a:rPr>
              <a:t>Failure to adhere to the dress code may result in corrective action —  so if you're ever unsure what's appropriate, ask before you dress, not after.</a:t>
            </a:r>
            <a:endParaRPr lang="en-US" sz="1600" dirty="0"/>
          </a:p>
        </p:txBody>
      </p:sp>
      <p:sp>
        <p:nvSpPr>
          <p:cNvPr id="14" name="Shape 10"/>
          <p:cNvSpPr/>
          <p:nvPr/>
        </p:nvSpPr>
        <p:spPr>
          <a:xfrm>
            <a:off x="640080" y="4837176"/>
            <a:ext cx="10927080" cy="1371600"/>
          </a:xfrm>
          <a:prstGeom prst="roundRect">
            <a:avLst>
              <a:gd name="adj" fmla="val 8000"/>
            </a:avLst>
          </a:prstGeom>
          <a:solidFill>
            <a:srgbClr val="1B3226"/>
          </a:solidFill>
          <a:ln/>
          <a:effectLst>
            <a:outerShdw blurRad="88900" dist="38100" dir="5400000" algn="bl" rotWithShape="0">
              <a:srgbClr val="000000">
                <a:alpha val="18000"/>
              </a:srgbClr>
            </a:outerShdw>
          </a:effectLst>
        </p:spPr>
        <p:txBody>
          <a:bodyPr/>
          <a:lstStyle/>
          <a:p>
            <a:endParaRPr lang="en-IN"/>
          </a:p>
        </p:txBody>
      </p:sp>
      <p:sp>
        <p:nvSpPr>
          <p:cNvPr id="15" name="Shape 11"/>
          <p:cNvSpPr/>
          <p:nvPr/>
        </p:nvSpPr>
        <p:spPr>
          <a:xfrm>
            <a:off x="960120" y="5103948"/>
            <a:ext cx="621792" cy="621792"/>
          </a:xfrm>
          <a:prstGeom prst="ellipse">
            <a:avLst/>
          </a:prstGeom>
          <a:solidFill>
            <a:srgbClr val="4CAF7D"/>
          </a:solidFill>
          <a:ln/>
        </p:spPr>
        <p:txBody>
          <a:bodyPr/>
          <a:lstStyle/>
          <a:p>
            <a:endParaRPr lang="en-IN"/>
          </a:p>
        </p:txBody>
      </p:sp>
      <p:pic>
        <p:nvPicPr>
          <p:cNvPr id="16" name="Image 2" descr="/home/claude/dresscode/icons2/handshelping_white.png"/>
          <p:cNvPicPr>
            <a:picLocks noChangeAspect="1"/>
          </p:cNvPicPr>
          <p:nvPr/>
        </p:nvPicPr>
        <p:blipFill>
          <a:blip r:embed="rId5"/>
          <a:stretch>
            <a:fillRect/>
          </a:stretch>
        </p:blipFill>
        <p:spPr>
          <a:xfrm>
            <a:off x="1044062" y="5173376"/>
            <a:ext cx="453908" cy="453908"/>
          </a:xfrm>
          <a:prstGeom prst="rect">
            <a:avLst/>
          </a:prstGeom>
        </p:spPr>
      </p:pic>
      <p:sp>
        <p:nvSpPr>
          <p:cNvPr id="17" name="Text 12"/>
          <p:cNvSpPr/>
          <p:nvPr/>
        </p:nvSpPr>
        <p:spPr>
          <a:xfrm>
            <a:off x="1828800" y="4808730"/>
            <a:ext cx="9464040" cy="1207008"/>
          </a:xfrm>
          <a:prstGeom prst="rect">
            <a:avLst/>
          </a:prstGeom>
          <a:noFill/>
          <a:ln/>
        </p:spPr>
        <p:txBody>
          <a:bodyPr wrap="square" lIns="0" tIns="0" rIns="0" bIns="0" rtlCol="0" anchor="ctr"/>
          <a:lstStyle/>
          <a:p>
            <a:pPr marL="0" indent="0">
              <a:lnSpc>
                <a:spcPct val="125000"/>
              </a:lnSpc>
              <a:buNone/>
            </a:pPr>
            <a:r>
              <a:rPr lang="en-US" sz="1600" dirty="0">
                <a:solidFill>
                  <a:srgbClr val="E8E6E1"/>
                </a:solidFill>
                <a:latin typeface="Calibri" pitchFamily="34" charset="0"/>
                <a:ea typeface="Calibri" pitchFamily="34" charset="-122"/>
                <a:cs typeface="Calibri" pitchFamily="34" charset="-120"/>
              </a:rPr>
              <a:t>In case of a grey area, discuss with your manager or HR. We'd always rather clarify upfront than correct after the fact.</a:t>
            </a:r>
            <a:endParaRPr lang="en-US" sz="1600" dirty="0"/>
          </a:p>
        </p:txBody>
      </p:sp>
      <p:sp>
        <p:nvSpPr>
          <p:cNvPr id="19" name="Shape 14"/>
          <p:cNvSpPr/>
          <p:nvPr/>
        </p:nvSpPr>
        <p:spPr>
          <a:xfrm>
            <a:off x="10140696" y="6579108"/>
            <a:ext cx="60350" cy="60350"/>
          </a:xfrm>
          <a:prstGeom prst="ellipse">
            <a:avLst/>
          </a:prstGeom>
          <a:solidFill>
            <a:srgbClr val="5C5B58"/>
          </a:solidFill>
          <a:ln/>
        </p:spPr>
        <p:txBody>
          <a:bodyPr/>
          <a:lstStyle/>
          <a:p>
            <a:endParaRPr lang="en-IN"/>
          </a:p>
        </p:txBody>
      </p:sp>
      <p:sp>
        <p:nvSpPr>
          <p:cNvPr id="20" name="Shape 15"/>
          <p:cNvSpPr/>
          <p:nvPr/>
        </p:nvSpPr>
        <p:spPr>
          <a:xfrm>
            <a:off x="10323576" y="6579108"/>
            <a:ext cx="60350" cy="60350"/>
          </a:xfrm>
          <a:prstGeom prst="ellipse">
            <a:avLst/>
          </a:prstGeom>
          <a:solidFill>
            <a:srgbClr val="5C5B58"/>
          </a:solidFill>
          <a:ln/>
        </p:spPr>
        <p:txBody>
          <a:bodyPr/>
          <a:lstStyle/>
          <a:p>
            <a:endParaRPr lang="en-IN"/>
          </a:p>
        </p:txBody>
      </p:sp>
      <p:sp>
        <p:nvSpPr>
          <p:cNvPr id="21" name="Shape 16"/>
          <p:cNvSpPr/>
          <p:nvPr/>
        </p:nvSpPr>
        <p:spPr>
          <a:xfrm>
            <a:off x="10506456" y="6579108"/>
            <a:ext cx="60350" cy="60350"/>
          </a:xfrm>
          <a:prstGeom prst="ellipse">
            <a:avLst/>
          </a:prstGeom>
          <a:solidFill>
            <a:srgbClr val="5C5B58"/>
          </a:solidFill>
          <a:ln/>
        </p:spPr>
        <p:txBody>
          <a:bodyPr/>
          <a:lstStyle/>
          <a:p>
            <a:endParaRPr lang="en-IN"/>
          </a:p>
        </p:txBody>
      </p:sp>
      <p:sp>
        <p:nvSpPr>
          <p:cNvPr id="22" name="Shape 17"/>
          <p:cNvSpPr/>
          <p:nvPr/>
        </p:nvSpPr>
        <p:spPr>
          <a:xfrm>
            <a:off x="10689336" y="6579108"/>
            <a:ext cx="60350" cy="60350"/>
          </a:xfrm>
          <a:prstGeom prst="ellipse">
            <a:avLst/>
          </a:prstGeom>
          <a:solidFill>
            <a:srgbClr val="5C5B58"/>
          </a:solidFill>
          <a:ln/>
        </p:spPr>
        <p:txBody>
          <a:bodyPr/>
          <a:lstStyle/>
          <a:p>
            <a:endParaRPr lang="en-IN"/>
          </a:p>
        </p:txBody>
      </p:sp>
      <p:sp>
        <p:nvSpPr>
          <p:cNvPr id="23" name="Shape 18"/>
          <p:cNvSpPr/>
          <p:nvPr/>
        </p:nvSpPr>
        <p:spPr>
          <a:xfrm>
            <a:off x="10872216" y="6579108"/>
            <a:ext cx="60350" cy="60350"/>
          </a:xfrm>
          <a:prstGeom prst="ellipse">
            <a:avLst/>
          </a:prstGeom>
          <a:solidFill>
            <a:srgbClr val="5C5B58"/>
          </a:solidFill>
          <a:ln/>
        </p:spPr>
        <p:txBody>
          <a:bodyPr/>
          <a:lstStyle/>
          <a:p>
            <a:endParaRPr lang="en-IN"/>
          </a:p>
        </p:txBody>
      </p:sp>
      <p:sp>
        <p:nvSpPr>
          <p:cNvPr id="24" name="Shape 19"/>
          <p:cNvSpPr/>
          <p:nvPr/>
        </p:nvSpPr>
        <p:spPr>
          <a:xfrm>
            <a:off x="11055096" y="6579108"/>
            <a:ext cx="60350" cy="60350"/>
          </a:xfrm>
          <a:prstGeom prst="ellipse">
            <a:avLst/>
          </a:prstGeom>
          <a:solidFill>
            <a:srgbClr val="5C5B58"/>
          </a:solidFill>
          <a:ln/>
        </p:spPr>
        <p:txBody>
          <a:bodyPr/>
          <a:lstStyle/>
          <a:p>
            <a:endParaRPr lang="en-IN"/>
          </a:p>
        </p:txBody>
      </p:sp>
      <p:sp>
        <p:nvSpPr>
          <p:cNvPr id="25" name="Shape 20"/>
          <p:cNvSpPr/>
          <p:nvPr/>
        </p:nvSpPr>
        <p:spPr>
          <a:xfrm>
            <a:off x="11237976" y="6579108"/>
            <a:ext cx="60350" cy="60350"/>
          </a:xfrm>
          <a:prstGeom prst="ellipse">
            <a:avLst/>
          </a:prstGeom>
          <a:solidFill>
            <a:srgbClr val="5C5B58"/>
          </a:solidFill>
          <a:ln/>
        </p:spPr>
        <p:txBody>
          <a:bodyPr/>
          <a:lstStyle/>
          <a:p>
            <a:endParaRPr lang="en-IN"/>
          </a:p>
        </p:txBody>
      </p:sp>
      <p:sp>
        <p:nvSpPr>
          <p:cNvPr id="26" name="Shape 21"/>
          <p:cNvSpPr/>
          <p:nvPr/>
        </p:nvSpPr>
        <p:spPr>
          <a:xfrm>
            <a:off x="11420856" y="6579108"/>
            <a:ext cx="60350" cy="60350"/>
          </a:xfrm>
          <a:prstGeom prst="ellipse">
            <a:avLst/>
          </a:prstGeom>
          <a:solidFill>
            <a:srgbClr val="5C5B58"/>
          </a:solidFill>
          <a:ln/>
        </p:spPr>
        <p:txBody>
          <a:bodyPr/>
          <a:lstStyle/>
          <a:p>
            <a:endParaRPr lang="en-IN"/>
          </a:p>
        </p:txBody>
      </p:sp>
      <p:sp>
        <p:nvSpPr>
          <p:cNvPr id="27" name="Shape 22"/>
          <p:cNvSpPr/>
          <p:nvPr/>
        </p:nvSpPr>
        <p:spPr>
          <a:xfrm>
            <a:off x="11603736" y="6556248"/>
            <a:ext cx="118872" cy="118872"/>
          </a:xfrm>
          <a:prstGeom prst="ellipse">
            <a:avLst/>
          </a:prstGeom>
          <a:solidFill>
            <a:srgbClr val="F07823"/>
          </a:solidFill>
          <a:ln/>
        </p:spPr>
        <p:txBody>
          <a:bodyPr/>
          <a:lstStyle/>
          <a:p>
            <a:endParaRPr lang="en-IN"/>
          </a:p>
        </p:txBody>
      </p:sp>
      <p:sp>
        <p:nvSpPr>
          <p:cNvPr id="28" name="Shape 23"/>
          <p:cNvSpPr/>
          <p:nvPr/>
        </p:nvSpPr>
        <p:spPr>
          <a:xfrm>
            <a:off x="11786616" y="6579108"/>
            <a:ext cx="60350" cy="60350"/>
          </a:xfrm>
          <a:prstGeom prst="ellipse">
            <a:avLst/>
          </a:prstGeom>
          <a:solidFill>
            <a:srgbClr val="5C5B58"/>
          </a:solidFill>
          <a:ln/>
        </p:spPr>
        <p:txBody>
          <a:bodyPr/>
          <a:lstStyle/>
          <a:p>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1F1F1F"/>
        </a:solidFill>
        <a:effectLst/>
      </p:bgPr>
    </p:bg>
    <p:spTree>
      <p:nvGrpSpPr>
        <p:cNvPr id="1" name=""/>
        <p:cNvGrpSpPr/>
        <p:nvPr/>
      </p:nvGrpSpPr>
      <p:grpSpPr>
        <a:xfrm>
          <a:off x="0" y="0"/>
          <a:ext cx="0" cy="0"/>
          <a:chOff x="0" y="0"/>
          <a:chExt cx="0" cy="0"/>
        </a:xfrm>
      </p:grpSpPr>
      <p:sp>
        <p:nvSpPr>
          <p:cNvPr id="2" name="Shape 0"/>
          <p:cNvSpPr/>
          <p:nvPr/>
        </p:nvSpPr>
        <p:spPr>
          <a:xfrm>
            <a:off x="10149840" y="-1920240"/>
            <a:ext cx="4206240" cy="4206240"/>
          </a:xfrm>
          <a:prstGeom prst="ellipse">
            <a:avLst/>
          </a:prstGeom>
          <a:solidFill>
            <a:srgbClr val="3A3835">
              <a:alpha val="65000"/>
            </a:srgbClr>
          </a:solidFill>
          <a:ln/>
        </p:spPr>
        <p:txBody>
          <a:bodyPr/>
          <a:lstStyle/>
          <a:p>
            <a:endParaRPr lang="en-IN"/>
          </a:p>
        </p:txBody>
      </p:sp>
      <p:sp>
        <p:nvSpPr>
          <p:cNvPr id="3" name="Shape 1"/>
          <p:cNvSpPr/>
          <p:nvPr/>
        </p:nvSpPr>
        <p:spPr>
          <a:xfrm>
            <a:off x="-1463040" y="5394960"/>
            <a:ext cx="3108960" cy="3108960"/>
          </a:xfrm>
          <a:prstGeom prst="ellipse">
            <a:avLst/>
          </a:prstGeom>
          <a:solidFill>
            <a:srgbClr val="3A3835">
              <a:alpha val="65000"/>
            </a:srgbClr>
          </a:solidFill>
          <a:ln/>
        </p:spPr>
        <p:txBody>
          <a:bodyPr/>
          <a:lstStyle/>
          <a:p>
            <a:endParaRPr lang="en-IN"/>
          </a:p>
        </p:txBody>
      </p:sp>
      <p:sp>
        <p:nvSpPr>
          <p:cNvPr id="5" name="Text 3"/>
          <p:cNvSpPr/>
          <p:nvPr/>
        </p:nvSpPr>
        <p:spPr>
          <a:xfrm>
            <a:off x="640080" y="749808"/>
            <a:ext cx="10881360" cy="777240"/>
          </a:xfrm>
          <a:prstGeom prst="rect">
            <a:avLst/>
          </a:prstGeom>
          <a:noFill/>
          <a:ln/>
        </p:spPr>
        <p:txBody>
          <a:bodyPr wrap="square" lIns="0" tIns="0" rIns="0" bIns="0" rtlCol="0" anchor="ctr"/>
          <a:lstStyle/>
          <a:p>
            <a:pPr marL="0" indent="0">
              <a:buNone/>
            </a:pPr>
            <a:r>
              <a:rPr lang="en-US" sz="3000" b="1" dirty="0">
                <a:solidFill>
                  <a:srgbClr val="FFFFFF"/>
                </a:solidFill>
                <a:latin typeface="Bookman Old Style" pitchFamily="34" charset="0"/>
                <a:ea typeface="Bookman Old Style" pitchFamily="34" charset="-122"/>
                <a:cs typeface="Bookman Old Style" pitchFamily="34" charset="-120"/>
              </a:rPr>
              <a:t>Your Quick Self-Check</a:t>
            </a:r>
            <a:endParaRPr lang="en-US" sz="3000" dirty="0"/>
          </a:p>
        </p:txBody>
      </p:sp>
      <p:sp>
        <p:nvSpPr>
          <p:cNvPr id="6" name="Shape 4"/>
          <p:cNvSpPr/>
          <p:nvPr/>
        </p:nvSpPr>
        <p:spPr>
          <a:xfrm>
            <a:off x="640080" y="1691640"/>
            <a:ext cx="10927080" cy="1371600"/>
          </a:xfrm>
          <a:prstGeom prst="roundRect">
            <a:avLst>
              <a:gd name="adj" fmla="val 8000"/>
            </a:avLst>
          </a:prstGeom>
          <a:solidFill>
            <a:srgbClr val="2A2A28"/>
          </a:solidFill>
          <a:ln/>
          <a:effectLst>
            <a:outerShdw blurRad="88900" dist="38100" dir="5400000" algn="bl" rotWithShape="0">
              <a:srgbClr val="000000">
                <a:alpha val="18000"/>
              </a:srgbClr>
            </a:outerShdw>
          </a:effectLst>
        </p:spPr>
        <p:txBody>
          <a:bodyPr/>
          <a:lstStyle/>
          <a:p>
            <a:endParaRPr lang="en-IN"/>
          </a:p>
        </p:txBody>
      </p:sp>
      <p:sp>
        <p:nvSpPr>
          <p:cNvPr id="7" name="Shape 5"/>
          <p:cNvSpPr/>
          <p:nvPr/>
        </p:nvSpPr>
        <p:spPr>
          <a:xfrm>
            <a:off x="960120" y="1972926"/>
            <a:ext cx="621792" cy="621792"/>
          </a:xfrm>
          <a:prstGeom prst="ellipse">
            <a:avLst/>
          </a:prstGeom>
          <a:solidFill>
            <a:srgbClr val="403F3D"/>
          </a:solidFill>
          <a:ln/>
        </p:spPr>
        <p:txBody>
          <a:bodyPr/>
          <a:lstStyle/>
          <a:p>
            <a:endParaRPr lang="en-IN"/>
          </a:p>
        </p:txBody>
      </p:sp>
      <p:sp>
        <p:nvSpPr>
          <p:cNvPr id="9" name="Text 6"/>
          <p:cNvSpPr/>
          <p:nvPr/>
        </p:nvSpPr>
        <p:spPr>
          <a:xfrm>
            <a:off x="1828800" y="1764792"/>
            <a:ext cx="9464040" cy="1207008"/>
          </a:xfrm>
          <a:prstGeom prst="rect">
            <a:avLst/>
          </a:prstGeom>
          <a:noFill/>
          <a:ln/>
        </p:spPr>
        <p:txBody>
          <a:bodyPr wrap="square" lIns="0" tIns="0" rIns="0" bIns="0" rtlCol="0" anchor="ctr"/>
          <a:lstStyle/>
          <a:p>
            <a:pPr marL="0" indent="0">
              <a:lnSpc>
                <a:spcPct val="125000"/>
              </a:lnSpc>
              <a:buNone/>
            </a:pPr>
            <a:r>
              <a:rPr lang="en-US" sz="1900" b="1" dirty="0">
                <a:solidFill>
                  <a:srgbClr val="E8E6E1"/>
                </a:solidFill>
                <a:latin typeface="Calibri" pitchFamily="34" charset="0"/>
                <a:ea typeface="Calibri" pitchFamily="34" charset="-122"/>
                <a:cs typeface="Calibri" pitchFamily="34" charset="-120"/>
              </a:rPr>
              <a:t>Is my outfit clean and fitted?</a:t>
            </a:r>
            <a:endParaRPr lang="en-US" sz="1600" dirty="0"/>
          </a:p>
        </p:txBody>
      </p:sp>
      <p:sp>
        <p:nvSpPr>
          <p:cNvPr id="10" name="Shape 7"/>
          <p:cNvSpPr/>
          <p:nvPr/>
        </p:nvSpPr>
        <p:spPr>
          <a:xfrm>
            <a:off x="640080" y="3264408"/>
            <a:ext cx="10927080" cy="1371600"/>
          </a:xfrm>
          <a:prstGeom prst="roundRect">
            <a:avLst>
              <a:gd name="adj" fmla="val 8000"/>
            </a:avLst>
          </a:prstGeom>
          <a:solidFill>
            <a:srgbClr val="3A1E1F"/>
          </a:solidFill>
          <a:ln/>
          <a:effectLst>
            <a:outerShdw blurRad="88900" dist="38100" dir="5400000" algn="bl" rotWithShape="0">
              <a:srgbClr val="000000">
                <a:alpha val="18000"/>
              </a:srgbClr>
            </a:outerShdw>
          </a:effectLst>
        </p:spPr>
        <p:txBody>
          <a:bodyPr/>
          <a:lstStyle/>
          <a:p>
            <a:endParaRPr lang="en-IN"/>
          </a:p>
        </p:txBody>
      </p:sp>
      <p:sp>
        <p:nvSpPr>
          <p:cNvPr id="11" name="Shape 8"/>
          <p:cNvSpPr/>
          <p:nvPr/>
        </p:nvSpPr>
        <p:spPr>
          <a:xfrm>
            <a:off x="960120" y="3545694"/>
            <a:ext cx="621792" cy="621792"/>
          </a:xfrm>
          <a:prstGeom prst="ellipse">
            <a:avLst/>
          </a:prstGeom>
          <a:solidFill>
            <a:srgbClr val="E2635E"/>
          </a:solidFill>
          <a:ln/>
        </p:spPr>
        <p:txBody>
          <a:bodyPr/>
          <a:lstStyle/>
          <a:p>
            <a:endParaRPr lang="en-IN"/>
          </a:p>
        </p:txBody>
      </p:sp>
      <p:sp>
        <p:nvSpPr>
          <p:cNvPr id="13" name="Text 9"/>
          <p:cNvSpPr/>
          <p:nvPr/>
        </p:nvSpPr>
        <p:spPr>
          <a:xfrm>
            <a:off x="1828800" y="3337560"/>
            <a:ext cx="9464040" cy="1207008"/>
          </a:xfrm>
          <a:prstGeom prst="rect">
            <a:avLst/>
          </a:prstGeom>
          <a:noFill/>
          <a:ln/>
        </p:spPr>
        <p:txBody>
          <a:bodyPr wrap="square" lIns="0" tIns="0" rIns="0" bIns="0" rtlCol="0" anchor="ctr"/>
          <a:lstStyle/>
          <a:p>
            <a:pPr marL="0" indent="0">
              <a:lnSpc>
                <a:spcPct val="125000"/>
              </a:lnSpc>
              <a:buNone/>
            </a:pPr>
            <a:r>
              <a:rPr lang="en-US" sz="1900" b="1" dirty="0">
                <a:solidFill>
                  <a:srgbClr val="E8E6E1"/>
                </a:solidFill>
                <a:latin typeface="Calibri" pitchFamily="34" charset="0"/>
                <a:ea typeface="Calibri" pitchFamily="34" charset="-122"/>
                <a:cs typeface="Calibri" pitchFamily="34" charset="-120"/>
              </a:rPr>
              <a:t>Is it appropriate for my role today?</a:t>
            </a:r>
            <a:endParaRPr lang="en-US" sz="1600" dirty="0"/>
          </a:p>
        </p:txBody>
      </p:sp>
      <p:sp>
        <p:nvSpPr>
          <p:cNvPr id="14" name="Shape 10"/>
          <p:cNvSpPr/>
          <p:nvPr/>
        </p:nvSpPr>
        <p:spPr>
          <a:xfrm>
            <a:off x="640080" y="4837176"/>
            <a:ext cx="10927080" cy="1371600"/>
          </a:xfrm>
          <a:prstGeom prst="roundRect">
            <a:avLst>
              <a:gd name="adj" fmla="val 8000"/>
            </a:avLst>
          </a:prstGeom>
          <a:solidFill>
            <a:srgbClr val="1B3226"/>
          </a:solidFill>
          <a:ln/>
          <a:effectLst>
            <a:outerShdw blurRad="88900" dist="38100" dir="5400000" algn="bl" rotWithShape="0">
              <a:srgbClr val="000000">
                <a:alpha val="18000"/>
              </a:srgbClr>
            </a:outerShdw>
          </a:effectLst>
        </p:spPr>
        <p:txBody>
          <a:bodyPr/>
          <a:lstStyle/>
          <a:p>
            <a:endParaRPr lang="en-IN"/>
          </a:p>
        </p:txBody>
      </p:sp>
      <p:sp>
        <p:nvSpPr>
          <p:cNvPr id="15" name="Shape 11"/>
          <p:cNvSpPr/>
          <p:nvPr/>
        </p:nvSpPr>
        <p:spPr>
          <a:xfrm>
            <a:off x="960120" y="5103948"/>
            <a:ext cx="621792" cy="621792"/>
          </a:xfrm>
          <a:prstGeom prst="ellipse">
            <a:avLst/>
          </a:prstGeom>
          <a:solidFill>
            <a:srgbClr val="4CAF7D"/>
          </a:solidFill>
          <a:ln/>
        </p:spPr>
        <p:txBody>
          <a:bodyPr/>
          <a:lstStyle/>
          <a:p>
            <a:endParaRPr lang="en-IN"/>
          </a:p>
        </p:txBody>
      </p:sp>
      <p:sp>
        <p:nvSpPr>
          <p:cNvPr id="17" name="Text 12"/>
          <p:cNvSpPr/>
          <p:nvPr/>
        </p:nvSpPr>
        <p:spPr>
          <a:xfrm>
            <a:off x="1828800" y="4808730"/>
            <a:ext cx="9464040" cy="1207008"/>
          </a:xfrm>
          <a:prstGeom prst="rect">
            <a:avLst/>
          </a:prstGeom>
          <a:noFill/>
          <a:ln/>
        </p:spPr>
        <p:txBody>
          <a:bodyPr wrap="square" lIns="0" tIns="0" rIns="0" bIns="0" rtlCol="0" anchor="ctr"/>
          <a:lstStyle/>
          <a:p>
            <a:pPr marL="0" indent="0">
              <a:lnSpc>
                <a:spcPct val="125000"/>
              </a:lnSpc>
              <a:buNone/>
            </a:pPr>
            <a:r>
              <a:rPr lang="en-US" sz="1900" b="1" dirty="0">
                <a:solidFill>
                  <a:srgbClr val="E8E6E1"/>
                </a:solidFill>
                <a:latin typeface="Calibri" pitchFamily="34" charset="0"/>
                <a:ea typeface="Calibri" pitchFamily="34" charset="-122"/>
                <a:cs typeface="Calibri" pitchFamily="34" charset="-120"/>
              </a:rPr>
              <a:t>Am I representing SUNROOOF confidently?</a:t>
            </a:r>
            <a:endParaRPr lang="en-US" sz="1600" dirty="0"/>
          </a:p>
        </p:txBody>
      </p:sp>
      <p:sp>
        <p:nvSpPr>
          <p:cNvPr id="19" name="Shape 14"/>
          <p:cNvSpPr/>
          <p:nvPr/>
        </p:nvSpPr>
        <p:spPr>
          <a:xfrm>
            <a:off x="10140696" y="6579108"/>
            <a:ext cx="60350" cy="60350"/>
          </a:xfrm>
          <a:prstGeom prst="ellipse">
            <a:avLst/>
          </a:prstGeom>
          <a:solidFill>
            <a:srgbClr val="5C5B58"/>
          </a:solidFill>
          <a:ln/>
        </p:spPr>
        <p:txBody>
          <a:bodyPr/>
          <a:lstStyle/>
          <a:p>
            <a:endParaRPr lang="en-IN"/>
          </a:p>
        </p:txBody>
      </p:sp>
      <p:sp>
        <p:nvSpPr>
          <p:cNvPr id="20" name="Shape 15"/>
          <p:cNvSpPr/>
          <p:nvPr/>
        </p:nvSpPr>
        <p:spPr>
          <a:xfrm>
            <a:off x="10323576" y="6579108"/>
            <a:ext cx="60350" cy="60350"/>
          </a:xfrm>
          <a:prstGeom prst="ellipse">
            <a:avLst/>
          </a:prstGeom>
          <a:solidFill>
            <a:srgbClr val="5C5B58"/>
          </a:solidFill>
          <a:ln/>
        </p:spPr>
        <p:txBody>
          <a:bodyPr/>
          <a:lstStyle/>
          <a:p>
            <a:endParaRPr lang="en-IN"/>
          </a:p>
        </p:txBody>
      </p:sp>
      <p:sp>
        <p:nvSpPr>
          <p:cNvPr id="21" name="Shape 16"/>
          <p:cNvSpPr/>
          <p:nvPr/>
        </p:nvSpPr>
        <p:spPr>
          <a:xfrm>
            <a:off x="10506456" y="6579108"/>
            <a:ext cx="60350" cy="60350"/>
          </a:xfrm>
          <a:prstGeom prst="ellipse">
            <a:avLst/>
          </a:prstGeom>
          <a:solidFill>
            <a:srgbClr val="5C5B58"/>
          </a:solidFill>
          <a:ln/>
        </p:spPr>
        <p:txBody>
          <a:bodyPr/>
          <a:lstStyle/>
          <a:p>
            <a:endParaRPr lang="en-IN"/>
          </a:p>
        </p:txBody>
      </p:sp>
      <p:sp>
        <p:nvSpPr>
          <p:cNvPr id="22" name="Shape 17"/>
          <p:cNvSpPr/>
          <p:nvPr/>
        </p:nvSpPr>
        <p:spPr>
          <a:xfrm>
            <a:off x="10689336" y="6579108"/>
            <a:ext cx="60350" cy="60350"/>
          </a:xfrm>
          <a:prstGeom prst="ellipse">
            <a:avLst/>
          </a:prstGeom>
          <a:solidFill>
            <a:srgbClr val="5C5B58"/>
          </a:solidFill>
          <a:ln/>
        </p:spPr>
        <p:txBody>
          <a:bodyPr/>
          <a:lstStyle/>
          <a:p>
            <a:endParaRPr lang="en-IN"/>
          </a:p>
        </p:txBody>
      </p:sp>
      <p:sp>
        <p:nvSpPr>
          <p:cNvPr id="23" name="Shape 18"/>
          <p:cNvSpPr/>
          <p:nvPr/>
        </p:nvSpPr>
        <p:spPr>
          <a:xfrm>
            <a:off x="10872216" y="6579108"/>
            <a:ext cx="60350" cy="60350"/>
          </a:xfrm>
          <a:prstGeom prst="ellipse">
            <a:avLst/>
          </a:prstGeom>
          <a:solidFill>
            <a:srgbClr val="5C5B58"/>
          </a:solidFill>
          <a:ln/>
        </p:spPr>
        <p:txBody>
          <a:bodyPr/>
          <a:lstStyle/>
          <a:p>
            <a:endParaRPr lang="en-IN"/>
          </a:p>
        </p:txBody>
      </p:sp>
      <p:sp>
        <p:nvSpPr>
          <p:cNvPr id="24" name="Shape 19"/>
          <p:cNvSpPr/>
          <p:nvPr/>
        </p:nvSpPr>
        <p:spPr>
          <a:xfrm>
            <a:off x="11055096" y="6579108"/>
            <a:ext cx="60350" cy="60350"/>
          </a:xfrm>
          <a:prstGeom prst="ellipse">
            <a:avLst/>
          </a:prstGeom>
          <a:solidFill>
            <a:srgbClr val="5C5B58"/>
          </a:solidFill>
          <a:ln/>
        </p:spPr>
        <p:txBody>
          <a:bodyPr/>
          <a:lstStyle/>
          <a:p>
            <a:endParaRPr lang="en-IN"/>
          </a:p>
        </p:txBody>
      </p:sp>
      <p:sp>
        <p:nvSpPr>
          <p:cNvPr id="25" name="Shape 20"/>
          <p:cNvSpPr/>
          <p:nvPr/>
        </p:nvSpPr>
        <p:spPr>
          <a:xfrm>
            <a:off x="11237976" y="6579108"/>
            <a:ext cx="60350" cy="60350"/>
          </a:xfrm>
          <a:prstGeom prst="ellipse">
            <a:avLst/>
          </a:prstGeom>
          <a:solidFill>
            <a:srgbClr val="5C5B58"/>
          </a:solidFill>
          <a:ln/>
        </p:spPr>
        <p:txBody>
          <a:bodyPr/>
          <a:lstStyle/>
          <a:p>
            <a:endParaRPr lang="en-IN"/>
          </a:p>
        </p:txBody>
      </p:sp>
      <p:sp>
        <p:nvSpPr>
          <p:cNvPr id="26" name="Shape 21"/>
          <p:cNvSpPr/>
          <p:nvPr/>
        </p:nvSpPr>
        <p:spPr>
          <a:xfrm>
            <a:off x="11420856" y="6579108"/>
            <a:ext cx="60350" cy="60350"/>
          </a:xfrm>
          <a:prstGeom prst="ellipse">
            <a:avLst/>
          </a:prstGeom>
          <a:solidFill>
            <a:srgbClr val="5C5B58"/>
          </a:solidFill>
          <a:ln/>
        </p:spPr>
        <p:txBody>
          <a:bodyPr/>
          <a:lstStyle/>
          <a:p>
            <a:endParaRPr lang="en-IN"/>
          </a:p>
        </p:txBody>
      </p:sp>
      <p:sp>
        <p:nvSpPr>
          <p:cNvPr id="27" name="Shape 22"/>
          <p:cNvSpPr/>
          <p:nvPr/>
        </p:nvSpPr>
        <p:spPr>
          <a:xfrm>
            <a:off x="11603736" y="6556248"/>
            <a:ext cx="118872" cy="118872"/>
          </a:xfrm>
          <a:prstGeom prst="ellipse">
            <a:avLst/>
          </a:prstGeom>
          <a:solidFill>
            <a:srgbClr val="F07823"/>
          </a:solidFill>
          <a:ln/>
        </p:spPr>
        <p:txBody>
          <a:bodyPr/>
          <a:lstStyle/>
          <a:p>
            <a:endParaRPr lang="en-IN"/>
          </a:p>
        </p:txBody>
      </p:sp>
      <p:sp>
        <p:nvSpPr>
          <p:cNvPr id="28" name="Shape 23"/>
          <p:cNvSpPr/>
          <p:nvPr/>
        </p:nvSpPr>
        <p:spPr>
          <a:xfrm>
            <a:off x="11786616" y="6579108"/>
            <a:ext cx="60350" cy="60350"/>
          </a:xfrm>
          <a:prstGeom prst="ellipse">
            <a:avLst/>
          </a:prstGeom>
          <a:solidFill>
            <a:srgbClr val="5C5B58"/>
          </a:solidFill>
          <a:ln/>
        </p:spPr>
        <p:txBody>
          <a:bodyPr/>
          <a:lstStyle/>
          <a:p>
            <a:endParaRPr lang="en-IN"/>
          </a:p>
        </p:txBody>
      </p:sp>
      <p:sp>
        <p:nvSpPr>
          <p:cNvPr id="29" name="TextBox 28"/>
          <p:cNvSpPr txBox="1"/>
          <p:nvPr/>
        </p:nvSpPr>
        <p:spPr>
          <a:xfrm>
            <a:off x="640080" y="457200"/>
            <a:ext cx="8229600" cy="274320"/>
          </a:xfrm>
          <a:prstGeom prst="rect">
            <a:avLst/>
          </a:prstGeom>
          <a:noFill/>
        </p:spPr>
        <p:txBody>
          <a:bodyPr wrap="none">
            <a:spAutoFit/>
          </a:bodyPr>
          <a:lstStyle/>
          <a:p>
            <a:r>
              <a:rPr sz="1600" b="1" spc="240">
                <a:solidFill>
                  <a:srgbClr val="F07823"/>
                </a:solidFill>
                <a:latin typeface="Calibri"/>
              </a:rPr>
              <a:t>BEFORE YOU HEAD OUT</a:t>
            </a:r>
          </a:p>
        </p:txBody>
      </p:sp>
      <p:pic>
        <p:nvPicPr>
          <p:cNvPr id="30" name="Picture 29" descr="image.png"/>
          <p:cNvPicPr>
            <a:picLocks noChangeAspect="1"/>
          </p:cNvPicPr>
          <p:nvPr/>
        </p:nvPicPr>
        <p:blipFill>
          <a:blip r:embed="rId2"/>
          <a:stretch>
            <a:fillRect/>
          </a:stretch>
        </p:blipFill>
        <p:spPr>
          <a:xfrm>
            <a:off x="1044062" y="2056868"/>
            <a:ext cx="453908" cy="453908"/>
          </a:xfrm>
          <a:prstGeom prst="rect">
            <a:avLst/>
          </a:prstGeom>
        </p:spPr>
      </p:pic>
      <p:pic>
        <p:nvPicPr>
          <p:cNvPr id="31" name="Picture 30" descr="image.png"/>
          <p:cNvPicPr>
            <a:picLocks noChangeAspect="1"/>
          </p:cNvPicPr>
          <p:nvPr/>
        </p:nvPicPr>
        <p:blipFill>
          <a:blip r:embed="rId2"/>
          <a:stretch>
            <a:fillRect/>
          </a:stretch>
        </p:blipFill>
        <p:spPr>
          <a:xfrm>
            <a:off x="1044062" y="3629636"/>
            <a:ext cx="453908" cy="453908"/>
          </a:xfrm>
          <a:prstGeom prst="rect">
            <a:avLst/>
          </a:prstGeom>
        </p:spPr>
      </p:pic>
      <p:pic>
        <p:nvPicPr>
          <p:cNvPr id="32" name="Picture 31" descr="image.png"/>
          <p:cNvPicPr>
            <a:picLocks noChangeAspect="1"/>
          </p:cNvPicPr>
          <p:nvPr/>
        </p:nvPicPr>
        <p:blipFill>
          <a:blip r:embed="rId2"/>
          <a:stretch>
            <a:fillRect/>
          </a:stretch>
        </p:blipFill>
        <p:spPr>
          <a:xfrm>
            <a:off x="1044062" y="5173376"/>
            <a:ext cx="453908" cy="45390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F1F1F"/>
        </a:solidFill>
        <a:effectLst/>
      </p:bgPr>
    </p:bg>
    <p:spTree>
      <p:nvGrpSpPr>
        <p:cNvPr id="1" name="">
          <a:extLst>
            <a:ext uri="{FF2B5EF4-FFF2-40B4-BE49-F238E27FC236}">
              <a16:creationId xmlns:a16="http://schemas.microsoft.com/office/drawing/2014/main" id="{9935EEE4-22B0-373A-62F1-7C51ABF79E9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AB8B802-F78D-333B-6691-41CF6A39A8C5}"/>
              </a:ext>
            </a:extLst>
          </p:cNvPr>
          <p:cNvSpPr/>
          <p:nvPr/>
        </p:nvSpPr>
        <p:spPr>
          <a:xfrm>
            <a:off x="10149840" y="-1920240"/>
            <a:ext cx="4206240" cy="4206240"/>
          </a:xfrm>
          <a:prstGeom prst="ellipse">
            <a:avLst/>
          </a:prstGeom>
          <a:solidFill>
            <a:srgbClr val="3A3835">
              <a:alpha val="65000"/>
            </a:srgbClr>
          </a:solidFill>
          <a:ln/>
        </p:spPr>
        <p:txBody>
          <a:bodyPr/>
          <a:lstStyle/>
          <a:p>
            <a:endParaRPr lang="en-IN"/>
          </a:p>
        </p:txBody>
      </p:sp>
      <p:sp>
        <p:nvSpPr>
          <p:cNvPr id="3" name="Shape 1">
            <a:extLst>
              <a:ext uri="{FF2B5EF4-FFF2-40B4-BE49-F238E27FC236}">
                <a16:creationId xmlns:a16="http://schemas.microsoft.com/office/drawing/2014/main" id="{6B7D82EE-0728-CF53-EC53-064B71A05DE3}"/>
              </a:ext>
            </a:extLst>
          </p:cNvPr>
          <p:cNvSpPr/>
          <p:nvPr/>
        </p:nvSpPr>
        <p:spPr>
          <a:xfrm>
            <a:off x="-1463040" y="5394960"/>
            <a:ext cx="3108960" cy="3108960"/>
          </a:xfrm>
          <a:prstGeom prst="ellipse">
            <a:avLst/>
          </a:prstGeom>
          <a:solidFill>
            <a:srgbClr val="3A3835">
              <a:alpha val="65000"/>
            </a:srgbClr>
          </a:solidFill>
          <a:ln/>
        </p:spPr>
        <p:txBody>
          <a:bodyPr/>
          <a:lstStyle/>
          <a:p>
            <a:endParaRPr lang="en-IN"/>
          </a:p>
        </p:txBody>
      </p:sp>
      <p:sp>
        <p:nvSpPr>
          <p:cNvPr id="5" name="Text 3">
            <a:extLst>
              <a:ext uri="{FF2B5EF4-FFF2-40B4-BE49-F238E27FC236}">
                <a16:creationId xmlns:a16="http://schemas.microsoft.com/office/drawing/2014/main" id="{27A4F4DB-96DC-7F33-B384-3A26DDA439A8}"/>
              </a:ext>
            </a:extLst>
          </p:cNvPr>
          <p:cNvSpPr/>
          <p:nvPr/>
        </p:nvSpPr>
        <p:spPr>
          <a:xfrm>
            <a:off x="640080" y="749808"/>
            <a:ext cx="10881360" cy="777240"/>
          </a:xfrm>
          <a:prstGeom prst="rect">
            <a:avLst/>
          </a:prstGeom>
          <a:noFill/>
          <a:ln/>
        </p:spPr>
        <p:txBody>
          <a:bodyPr wrap="square" lIns="0" tIns="0" rIns="0" bIns="0" rtlCol="0" anchor="ctr"/>
          <a:lstStyle/>
          <a:p>
            <a:pPr marL="0" indent="0">
              <a:buNone/>
            </a:pPr>
            <a:r>
              <a:rPr lang="en-US" sz="3000" b="1" dirty="0">
                <a:solidFill>
                  <a:srgbClr val="FFFFFF"/>
                </a:solidFill>
                <a:latin typeface="Bookman Old Style" pitchFamily="34" charset="0"/>
                <a:ea typeface="Bookman Old Style" pitchFamily="34" charset="-122"/>
                <a:cs typeface="Bookman Old Style" pitchFamily="34" charset="-120"/>
              </a:rPr>
              <a:t>Corrective Measures</a:t>
            </a:r>
            <a:endParaRPr lang="en-US" sz="3000" dirty="0"/>
          </a:p>
        </p:txBody>
      </p:sp>
      <p:sp>
        <p:nvSpPr>
          <p:cNvPr id="6" name="Shape 4">
            <a:extLst>
              <a:ext uri="{FF2B5EF4-FFF2-40B4-BE49-F238E27FC236}">
                <a16:creationId xmlns:a16="http://schemas.microsoft.com/office/drawing/2014/main" id="{263CFCC7-DA6F-110D-0C6C-C68E20FBEADC}"/>
              </a:ext>
            </a:extLst>
          </p:cNvPr>
          <p:cNvSpPr/>
          <p:nvPr/>
        </p:nvSpPr>
        <p:spPr>
          <a:xfrm>
            <a:off x="640080" y="1691640"/>
            <a:ext cx="10927080" cy="1371600"/>
          </a:xfrm>
          <a:prstGeom prst="roundRect">
            <a:avLst>
              <a:gd name="adj" fmla="val 8000"/>
            </a:avLst>
          </a:prstGeom>
          <a:solidFill>
            <a:srgbClr val="2A2A28"/>
          </a:solidFill>
          <a:ln/>
          <a:effectLst>
            <a:outerShdw blurRad="88900" dist="38100" dir="5400000" algn="bl" rotWithShape="0">
              <a:srgbClr val="000000">
                <a:alpha val="18000"/>
              </a:srgbClr>
            </a:outerShdw>
          </a:effectLst>
        </p:spPr>
        <p:txBody>
          <a:bodyPr/>
          <a:lstStyle/>
          <a:p>
            <a:endParaRPr lang="en-IN"/>
          </a:p>
        </p:txBody>
      </p:sp>
      <p:sp>
        <p:nvSpPr>
          <p:cNvPr id="7" name="Shape 5">
            <a:extLst>
              <a:ext uri="{FF2B5EF4-FFF2-40B4-BE49-F238E27FC236}">
                <a16:creationId xmlns:a16="http://schemas.microsoft.com/office/drawing/2014/main" id="{9BCEBA5F-A2EE-79CF-4507-1829109BBDA9}"/>
              </a:ext>
            </a:extLst>
          </p:cNvPr>
          <p:cNvSpPr/>
          <p:nvPr/>
        </p:nvSpPr>
        <p:spPr>
          <a:xfrm>
            <a:off x="960120" y="1972926"/>
            <a:ext cx="621792" cy="621792"/>
          </a:xfrm>
          <a:prstGeom prst="ellipse">
            <a:avLst/>
          </a:prstGeom>
          <a:solidFill>
            <a:srgbClr val="403F3D"/>
          </a:solidFill>
          <a:ln/>
        </p:spPr>
        <p:txBody>
          <a:bodyPr/>
          <a:lstStyle/>
          <a:p>
            <a:endParaRPr lang="en-IN"/>
          </a:p>
        </p:txBody>
      </p:sp>
      <p:pic>
        <p:nvPicPr>
          <p:cNvPr id="8" name="Image 0" descr="Stage 1 icon">
            <a:extLst>
              <a:ext uri="{FF2B5EF4-FFF2-40B4-BE49-F238E27FC236}">
                <a16:creationId xmlns:a16="http://schemas.microsoft.com/office/drawing/2014/main" id="{B45E5A93-5386-06B5-5317-228F9CAD68E2}"/>
              </a:ext>
            </a:extLst>
          </p:cNvPr>
          <p:cNvPicPr>
            <a:picLocks noChangeAspect="1"/>
          </p:cNvPicPr>
          <p:nvPr/>
        </p:nvPicPr>
        <p:blipFill>
          <a:blip r:embed="rId2"/>
          <a:stretch>
            <a:fillRect/>
          </a:stretch>
        </p:blipFill>
        <p:spPr>
          <a:xfrm>
            <a:off x="1044062" y="2056868"/>
            <a:ext cx="453908" cy="453908"/>
          </a:xfrm>
          <a:prstGeom prst="rect">
            <a:avLst/>
          </a:prstGeom>
        </p:spPr>
      </p:pic>
      <p:sp>
        <p:nvSpPr>
          <p:cNvPr id="9" name="Text 6">
            <a:extLst>
              <a:ext uri="{FF2B5EF4-FFF2-40B4-BE49-F238E27FC236}">
                <a16:creationId xmlns:a16="http://schemas.microsoft.com/office/drawing/2014/main" id="{101DB5F2-A85A-4073-ABB1-F22641EE9277}"/>
              </a:ext>
            </a:extLst>
          </p:cNvPr>
          <p:cNvSpPr/>
          <p:nvPr/>
        </p:nvSpPr>
        <p:spPr>
          <a:xfrm>
            <a:off x="1828800" y="1764792"/>
            <a:ext cx="9464040" cy="1207008"/>
          </a:xfrm>
          <a:prstGeom prst="rect">
            <a:avLst/>
          </a:prstGeom>
          <a:noFill/>
          <a:ln/>
        </p:spPr>
        <p:txBody>
          <a:bodyPr wrap="square" lIns="0" tIns="0" rIns="0" bIns="0" rtlCol="0" anchor="ctr"/>
          <a:lstStyle/>
          <a:p>
            <a:pPr marL="0" indent="0">
              <a:lnSpc>
                <a:spcPct val="125000"/>
              </a:lnSpc>
              <a:buNone/>
            </a:pPr>
            <a:r>
              <a:rPr lang="en-US" sz="1600" dirty="0">
                <a:solidFill>
                  <a:srgbClr val="E8E6E1"/>
                </a:solidFill>
                <a:latin typeface="Calibri" pitchFamily="34" charset="0"/>
                <a:ea typeface="Calibri" pitchFamily="34" charset="-122"/>
                <a:cs typeface="Calibri" pitchFamily="34" charset="-120"/>
              </a:rPr>
              <a:t>Stage 1 — Verbal Feedback: If something doesn't align with our guidelines, HR will offer a quick, private conversation to help you course-correct. It's a simple, respectful heads-up, not a formal mark against you.</a:t>
            </a:r>
            <a:endParaRPr lang="en-US" sz="1600" dirty="0"/>
          </a:p>
        </p:txBody>
      </p:sp>
      <p:sp>
        <p:nvSpPr>
          <p:cNvPr id="10" name="Shape 7">
            <a:extLst>
              <a:ext uri="{FF2B5EF4-FFF2-40B4-BE49-F238E27FC236}">
                <a16:creationId xmlns:a16="http://schemas.microsoft.com/office/drawing/2014/main" id="{283BD8DD-B5B6-6E63-2483-AA9D2F083BCB}"/>
              </a:ext>
            </a:extLst>
          </p:cNvPr>
          <p:cNvSpPr/>
          <p:nvPr/>
        </p:nvSpPr>
        <p:spPr>
          <a:xfrm>
            <a:off x="640080" y="3264408"/>
            <a:ext cx="10927080" cy="1371600"/>
          </a:xfrm>
          <a:prstGeom prst="roundRect">
            <a:avLst>
              <a:gd name="adj" fmla="val 8000"/>
            </a:avLst>
          </a:prstGeom>
          <a:solidFill>
            <a:srgbClr val="3A1E1F"/>
          </a:solidFill>
          <a:ln/>
          <a:effectLst>
            <a:outerShdw blurRad="88900" dist="38100" dir="5400000" algn="bl" rotWithShape="0">
              <a:srgbClr val="000000">
                <a:alpha val="18000"/>
              </a:srgbClr>
            </a:outerShdw>
          </a:effectLst>
        </p:spPr>
        <p:txBody>
          <a:bodyPr/>
          <a:lstStyle/>
          <a:p>
            <a:endParaRPr lang="en-IN"/>
          </a:p>
        </p:txBody>
      </p:sp>
      <p:sp>
        <p:nvSpPr>
          <p:cNvPr id="11" name="Shape 8">
            <a:extLst>
              <a:ext uri="{FF2B5EF4-FFF2-40B4-BE49-F238E27FC236}">
                <a16:creationId xmlns:a16="http://schemas.microsoft.com/office/drawing/2014/main" id="{14168238-7A2D-72EF-D289-83E928070C08}"/>
              </a:ext>
            </a:extLst>
          </p:cNvPr>
          <p:cNvSpPr/>
          <p:nvPr/>
        </p:nvSpPr>
        <p:spPr>
          <a:xfrm>
            <a:off x="960120" y="3545694"/>
            <a:ext cx="621792" cy="621792"/>
          </a:xfrm>
          <a:prstGeom prst="ellipse">
            <a:avLst/>
          </a:prstGeom>
          <a:solidFill>
            <a:srgbClr val="E2635E"/>
          </a:solidFill>
          <a:ln/>
        </p:spPr>
        <p:txBody>
          <a:bodyPr/>
          <a:lstStyle/>
          <a:p>
            <a:endParaRPr lang="en-IN"/>
          </a:p>
        </p:txBody>
      </p:sp>
      <p:pic>
        <p:nvPicPr>
          <p:cNvPr id="12" name="Image 1" descr="Stage 2 icon">
            <a:extLst>
              <a:ext uri="{FF2B5EF4-FFF2-40B4-BE49-F238E27FC236}">
                <a16:creationId xmlns:a16="http://schemas.microsoft.com/office/drawing/2014/main" id="{778137FA-E01B-F7D3-2AFE-697A2267CF79}"/>
              </a:ext>
            </a:extLst>
          </p:cNvPr>
          <p:cNvPicPr>
            <a:picLocks noChangeAspect="1"/>
          </p:cNvPicPr>
          <p:nvPr/>
        </p:nvPicPr>
        <p:blipFill>
          <a:blip r:embed="rId3"/>
          <a:stretch>
            <a:fillRect/>
          </a:stretch>
        </p:blipFill>
        <p:spPr>
          <a:xfrm>
            <a:off x="1044062" y="3629636"/>
            <a:ext cx="453908" cy="453908"/>
          </a:xfrm>
          <a:prstGeom prst="rect">
            <a:avLst/>
          </a:prstGeom>
        </p:spPr>
      </p:pic>
      <p:sp>
        <p:nvSpPr>
          <p:cNvPr id="13" name="Text 9">
            <a:extLst>
              <a:ext uri="{FF2B5EF4-FFF2-40B4-BE49-F238E27FC236}">
                <a16:creationId xmlns:a16="http://schemas.microsoft.com/office/drawing/2014/main" id="{E562390C-EE1C-F9F1-60E6-3DDF51E63549}"/>
              </a:ext>
            </a:extLst>
          </p:cNvPr>
          <p:cNvSpPr/>
          <p:nvPr/>
        </p:nvSpPr>
        <p:spPr>
          <a:xfrm>
            <a:off x="1828800" y="3337560"/>
            <a:ext cx="9464040" cy="1207008"/>
          </a:xfrm>
          <a:prstGeom prst="rect">
            <a:avLst/>
          </a:prstGeom>
          <a:noFill/>
          <a:ln/>
        </p:spPr>
        <p:txBody>
          <a:bodyPr wrap="square" lIns="0" tIns="0" rIns="0" bIns="0" rtlCol="0" anchor="ctr"/>
          <a:lstStyle/>
          <a:p>
            <a:pPr marL="0" indent="0">
              <a:lnSpc>
                <a:spcPct val="125000"/>
              </a:lnSpc>
              <a:buNone/>
            </a:pPr>
            <a:r>
              <a:rPr lang="en-US" sz="1600" dirty="0">
                <a:solidFill>
                  <a:srgbClr val="E8E6E1"/>
                </a:solidFill>
                <a:latin typeface="Calibri" pitchFamily="34" charset="0"/>
                <a:ea typeface="Calibri" pitchFamily="34" charset="-122"/>
                <a:cs typeface="Calibri" pitchFamily="34" charset="-120"/>
              </a:rPr>
              <a:t>Stage 2 — Written Feedback: If the same concern comes up again, HR will share written feedback outlining the guideline and next steps. This may include a brief request to go home, change, and return, simply so you can meet clients at your best, never as a penalty.</a:t>
            </a:r>
            <a:endParaRPr lang="en-US" sz="1600" dirty="0"/>
          </a:p>
        </p:txBody>
      </p:sp>
      <p:sp>
        <p:nvSpPr>
          <p:cNvPr id="14" name="Shape 10">
            <a:extLst>
              <a:ext uri="{FF2B5EF4-FFF2-40B4-BE49-F238E27FC236}">
                <a16:creationId xmlns:a16="http://schemas.microsoft.com/office/drawing/2014/main" id="{F7C01F59-1905-B8A6-047F-614BCE9AE02E}"/>
              </a:ext>
            </a:extLst>
          </p:cNvPr>
          <p:cNvSpPr/>
          <p:nvPr/>
        </p:nvSpPr>
        <p:spPr>
          <a:xfrm>
            <a:off x="640080" y="4837176"/>
            <a:ext cx="10927080" cy="1371600"/>
          </a:xfrm>
          <a:prstGeom prst="roundRect">
            <a:avLst>
              <a:gd name="adj" fmla="val 8000"/>
            </a:avLst>
          </a:prstGeom>
          <a:solidFill>
            <a:srgbClr val="1B3226"/>
          </a:solidFill>
          <a:ln/>
          <a:effectLst>
            <a:outerShdw blurRad="88900" dist="38100" dir="5400000" algn="bl" rotWithShape="0">
              <a:srgbClr val="000000">
                <a:alpha val="18000"/>
              </a:srgbClr>
            </a:outerShdw>
          </a:effectLst>
        </p:spPr>
        <p:txBody>
          <a:bodyPr/>
          <a:lstStyle/>
          <a:p>
            <a:endParaRPr lang="en-IN"/>
          </a:p>
        </p:txBody>
      </p:sp>
      <p:sp>
        <p:nvSpPr>
          <p:cNvPr id="15" name="Shape 11">
            <a:extLst>
              <a:ext uri="{FF2B5EF4-FFF2-40B4-BE49-F238E27FC236}">
                <a16:creationId xmlns:a16="http://schemas.microsoft.com/office/drawing/2014/main" id="{5F345755-5025-ADF5-5DFB-8684DF1022DF}"/>
              </a:ext>
            </a:extLst>
          </p:cNvPr>
          <p:cNvSpPr/>
          <p:nvPr/>
        </p:nvSpPr>
        <p:spPr>
          <a:xfrm>
            <a:off x="960120" y="5103948"/>
            <a:ext cx="621792" cy="621792"/>
          </a:xfrm>
          <a:prstGeom prst="ellipse">
            <a:avLst/>
          </a:prstGeom>
          <a:solidFill>
            <a:srgbClr val="4CAF7D"/>
          </a:solidFill>
          <a:ln/>
        </p:spPr>
        <p:txBody>
          <a:bodyPr/>
          <a:lstStyle/>
          <a:p>
            <a:endParaRPr lang="en-IN"/>
          </a:p>
        </p:txBody>
      </p:sp>
      <p:pic>
        <p:nvPicPr>
          <p:cNvPr id="16" name="Image 2" descr="Values icon">
            <a:extLst>
              <a:ext uri="{FF2B5EF4-FFF2-40B4-BE49-F238E27FC236}">
                <a16:creationId xmlns:a16="http://schemas.microsoft.com/office/drawing/2014/main" id="{405554D2-3CFB-49B6-FE1A-43BC8E612372}"/>
              </a:ext>
            </a:extLst>
          </p:cNvPr>
          <p:cNvPicPr>
            <a:picLocks noChangeAspect="1"/>
          </p:cNvPicPr>
          <p:nvPr/>
        </p:nvPicPr>
        <p:blipFill>
          <a:blip r:embed="rId4"/>
          <a:stretch>
            <a:fillRect/>
          </a:stretch>
        </p:blipFill>
        <p:spPr>
          <a:xfrm>
            <a:off x="1044062" y="5173376"/>
            <a:ext cx="453908" cy="453908"/>
          </a:xfrm>
          <a:prstGeom prst="rect">
            <a:avLst/>
          </a:prstGeom>
        </p:spPr>
      </p:pic>
      <p:sp>
        <p:nvSpPr>
          <p:cNvPr id="17" name="Text 12">
            <a:extLst>
              <a:ext uri="{FF2B5EF4-FFF2-40B4-BE49-F238E27FC236}">
                <a16:creationId xmlns:a16="http://schemas.microsoft.com/office/drawing/2014/main" id="{CDC20E36-2F9C-CD93-5C22-203E312484B4}"/>
              </a:ext>
            </a:extLst>
          </p:cNvPr>
          <p:cNvSpPr/>
          <p:nvPr/>
        </p:nvSpPr>
        <p:spPr>
          <a:xfrm>
            <a:off x="1828800" y="4808730"/>
            <a:ext cx="9464040" cy="1207008"/>
          </a:xfrm>
          <a:prstGeom prst="rect">
            <a:avLst/>
          </a:prstGeom>
          <a:noFill/>
          <a:ln/>
        </p:spPr>
        <p:txBody>
          <a:bodyPr wrap="square" lIns="0" tIns="0" rIns="0" bIns="0" rtlCol="0" anchor="ctr"/>
          <a:lstStyle/>
          <a:p>
            <a:pPr marL="0" indent="0">
              <a:lnSpc>
                <a:spcPct val="125000"/>
              </a:lnSpc>
              <a:buNone/>
            </a:pPr>
            <a:r>
              <a:rPr lang="en-US" sz="1600" dirty="0">
                <a:solidFill>
                  <a:srgbClr val="E8E6E1"/>
                </a:solidFill>
                <a:latin typeface="Calibri" pitchFamily="34" charset="0"/>
                <a:ea typeface="Calibri" pitchFamily="34" charset="-122"/>
                <a:cs typeface="Calibri" pitchFamily="34" charset="-120"/>
              </a:rPr>
              <a:t>This process exists to protect the trust our clients place in SUNROOOF, not to penalize anyone. Our goal is always to guide with care, so every team member feels confident representing our brand.</a:t>
            </a:r>
            <a:endParaRPr lang="en-US" sz="1600" dirty="0"/>
          </a:p>
        </p:txBody>
      </p:sp>
      <p:sp>
        <p:nvSpPr>
          <p:cNvPr id="19" name="Shape 14">
            <a:extLst>
              <a:ext uri="{FF2B5EF4-FFF2-40B4-BE49-F238E27FC236}">
                <a16:creationId xmlns:a16="http://schemas.microsoft.com/office/drawing/2014/main" id="{F02C61C0-A778-F84A-A5A1-85D3EF3A9C30}"/>
              </a:ext>
            </a:extLst>
          </p:cNvPr>
          <p:cNvSpPr/>
          <p:nvPr/>
        </p:nvSpPr>
        <p:spPr>
          <a:xfrm>
            <a:off x="10140696" y="6579108"/>
            <a:ext cx="60350" cy="60350"/>
          </a:xfrm>
          <a:prstGeom prst="ellipse">
            <a:avLst/>
          </a:prstGeom>
          <a:solidFill>
            <a:srgbClr val="5C5B58"/>
          </a:solidFill>
          <a:ln/>
        </p:spPr>
        <p:txBody>
          <a:bodyPr/>
          <a:lstStyle/>
          <a:p>
            <a:endParaRPr lang="en-IN"/>
          </a:p>
        </p:txBody>
      </p:sp>
      <p:sp>
        <p:nvSpPr>
          <p:cNvPr id="20" name="Shape 15">
            <a:extLst>
              <a:ext uri="{FF2B5EF4-FFF2-40B4-BE49-F238E27FC236}">
                <a16:creationId xmlns:a16="http://schemas.microsoft.com/office/drawing/2014/main" id="{4022353D-B1C1-FDC5-7383-9E38A3BDD136}"/>
              </a:ext>
            </a:extLst>
          </p:cNvPr>
          <p:cNvSpPr/>
          <p:nvPr/>
        </p:nvSpPr>
        <p:spPr>
          <a:xfrm>
            <a:off x="10323576" y="6579108"/>
            <a:ext cx="60350" cy="60350"/>
          </a:xfrm>
          <a:prstGeom prst="ellipse">
            <a:avLst/>
          </a:prstGeom>
          <a:solidFill>
            <a:srgbClr val="5C5B58"/>
          </a:solidFill>
          <a:ln/>
        </p:spPr>
        <p:txBody>
          <a:bodyPr/>
          <a:lstStyle/>
          <a:p>
            <a:endParaRPr lang="en-IN"/>
          </a:p>
        </p:txBody>
      </p:sp>
      <p:sp>
        <p:nvSpPr>
          <p:cNvPr id="21" name="Shape 16">
            <a:extLst>
              <a:ext uri="{FF2B5EF4-FFF2-40B4-BE49-F238E27FC236}">
                <a16:creationId xmlns:a16="http://schemas.microsoft.com/office/drawing/2014/main" id="{CD1DC69F-2E89-8B6A-1323-8E17F33BF6CC}"/>
              </a:ext>
            </a:extLst>
          </p:cNvPr>
          <p:cNvSpPr/>
          <p:nvPr/>
        </p:nvSpPr>
        <p:spPr>
          <a:xfrm>
            <a:off x="10506456" y="6579108"/>
            <a:ext cx="60350" cy="60350"/>
          </a:xfrm>
          <a:prstGeom prst="ellipse">
            <a:avLst/>
          </a:prstGeom>
          <a:solidFill>
            <a:srgbClr val="5C5B58"/>
          </a:solidFill>
          <a:ln/>
        </p:spPr>
        <p:txBody>
          <a:bodyPr/>
          <a:lstStyle/>
          <a:p>
            <a:endParaRPr lang="en-IN"/>
          </a:p>
        </p:txBody>
      </p:sp>
      <p:sp>
        <p:nvSpPr>
          <p:cNvPr id="22" name="Shape 17">
            <a:extLst>
              <a:ext uri="{FF2B5EF4-FFF2-40B4-BE49-F238E27FC236}">
                <a16:creationId xmlns:a16="http://schemas.microsoft.com/office/drawing/2014/main" id="{A519149B-94EF-728A-4311-525B72FA2134}"/>
              </a:ext>
            </a:extLst>
          </p:cNvPr>
          <p:cNvSpPr/>
          <p:nvPr/>
        </p:nvSpPr>
        <p:spPr>
          <a:xfrm>
            <a:off x="10689336" y="6579108"/>
            <a:ext cx="60350" cy="60350"/>
          </a:xfrm>
          <a:prstGeom prst="ellipse">
            <a:avLst/>
          </a:prstGeom>
          <a:solidFill>
            <a:srgbClr val="5C5B58"/>
          </a:solidFill>
          <a:ln/>
        </p:spPr>
        <p:txBody>
          <a:bodyPr/>
          <a:lstStyle/>
          <a:p>
            <a:endParaRPr lang="en-IN"/>
          </a:p>
        </p:txBody>
      </p:sp>
      <p:sp>
        <p:nvSpPr>
          <p:cNvPr id="23" name="Shape 18">
            <a:extLst>
              <a:ext uri="{FF2B5EF4-FFF2-40B4-BE49-F238E27FC236}">
                <a16:creationId xmlns:a16="http://schemas.microsoft.com/office/drawing/2014/main" id="{4A37A659-C9C0-64BF-71AC-0028DF864C8B}"/>
              </a:ext>
            </a:extLst>
          </p:cNvPr>
          <p:cNvSpPr/>
          <p:nvPr/>
        </p:nvSpPr>
        <p:spPr>
          <a:xfrm>
            <a:off x="10872216" y="6579108"/>
            <a:ext cx="60350" cy="60350"/>
          </a:xfrm>
          <a:prstGeom prst="ellipse">
            <a:avLst/>
          </a:prstGeom>
          <a:solidFill>
            <a:srgbClr val="5C5B58"/>
          </a:solidFill>
          <a:ln/>
        </p:spPr>
        <p:txBody>
          <a:bodyPr/>
          <a:lstStyle/>
          <a:p>
            <a:endParaRPr lang="en-IN"/>
          </a:p>
        </p:txBody>
      </p:sp>
      <p:sp>
        <p:nvSpPr>
          <p:cNvPr id="24" name="Shape 19">
            <a:extLst>
              <a:ext uri="{FF2B5EF4-FFF2-40B4-BE49-F238E27FC236}">
                <a16:creationId xmlns:a16="http://schemas.microsoft.com/office/drawing/2014/main" id="{EE79160D-26D7-DF4F-2358-70C6ED93A1CA}"/>
              </a:ext>
            </a:extLst>
          </p:cNvPr>
          <p:cNvSpPr/>
          <p:nvPr/>
        </p:nvSpPr>
        <p:spPr>
          <a:xfrm>
            <a:off x="11055096" y="6579108"/>
            <a:ext cx="60350" cy="60350"/>
          </a:xfrm>
          <a:prstGeom prst="ellipse">
            <a:avLst/>
          </a:prstGeom>
          <a:solidFill>
            <a:srgbClr val="5C5B58"/>
          </a:solidFill>
          <a:ln/>
        </p:spPr>
        <p:txBody>
          <a:bodyPr/>
          <a:lstStyle/>
          <a:p>
            <a:endParaRPr lang="en-IN"/>
          </a:p>
        </p:txBody>
      </p:sp>
      <p:sp>
        <p:nvSpPr>
          <p:cNvPr id="25" name="Shape 20">
            <a:extLst>
              <a:ext uri="{FF2B5EF4-FFF2-40B4-BE49-F238E27FC236}">
                <a16:creationId xmlns:a16="http://schemas.microsoft.com/office/drawing/2014/main" id="{3F5A9407-BF83-53EB-D5C0-2201FA907221}"/>
              </a:ext>
            </a:extLst>
          </p:cNvPr>
          <p:cNvSpPr/>
          <p:nvPr/>
        </p:nvSpPr>
        <p:spPr>
          <a:xfrm>
            <a:off x="11237976" y="6579108"/>
            <a:ext cx="60350" cy="60350"/>
          </a:xfrm>
          <a:prstGeom prst="ellipse">
            <a:avLst/>
          </a:prstGeom>
          <a:solidFill>
            <a:srgbClr val="5C5B58"/>
          </a:solidFill>
          <a:ln/>
        </p:spPr>
        <p:txBody>
          <a:bodyPr/>
          <a:lstStyle/>
          <a:p>
            <a:endParaRPr lang="en-IN"/>
          </a:p>
        </p:txBody>
      </p:sp>
      <p:sp>
        <p:nvSpPr>
          <p:cNvPr id="26" name="Shape 21">
            <a:extLst>
              <a:ext uri="{FF2B5EF4-FFF2-40B4-BE49-F238E27FC236}">
                <a16:creationId xmlns:a16="http://schemas.microsoft.com/office/drawing/2014/main" id="{ECFF031D-33C5-FE34-35B2-15E96AEDA653}"/>
              </a:ext>
            </a:extLst>
          </p:cNvPr>
          <p:cNvSpPr/>
          <p:nvPr/>
        </p:nvSpPr>
        <p:spPr>
          <a:xfrm>
            <a:off x="11420856" y="6579108"/>
            <a:ext cx="60350" cy="60350"/>
          </a:xfrm>
          <a:prstGeom prst="ellipse">
            <a:avLst/>
          </a:prstGeom>
          <a:solidFill>
            <a:srgbClr val="5C5B58"/>
          </a:solidFill>
          <a:ln/>
        </p:spPr>
        <p:txBody>
          <a:bodyPr/>
          <a:lstStyle/>
          <a:p>
            <a:endParaRPr lang="en-IN"/>
          </a:p>
        </p:txBody>
      </p:sp>
      <p:sp>
        <p:nvSpPr>
          <p:cNvPr id="27" name="Shape 22">
            <a:extLst>
              <a:ext uri="{FF2B5EF4-FFF2-40B4-BE49-F238E27FC236}">
                <a16:creationId xmlns:a16="http://schemas.microsoft.com/office/drawing/2014/main" id="{046BF78A-2F02-74E7-06CC-6983D1603937}"/>
              </a:ext>
            </a:extLst>
          </p:cNvPr>
          <p:cNvSpPr/>
          <p:nvPr/>
        </p:nvSpPr>
        <p:spPr>
          <a:xfrm>
            <a:off x="11603736" y="6556248"/>
            <a:ext cx="118872" cy="118872"/>
          </a:xfrm>
          <a:prstGeom prst="ellipse">
            <a:avLst/>
          </a:prstGeom>
          <a:solidFill>
            <a:srgbClr val="F07823"/>
          </a:solidFill>
          <a:ln/>
        </p:spPr>
        <p:txBody>
          <a:bodyPr/>
          <a:lstStyle/>
          <a:p>
            <a:endParaRPr lang="en-IN"/>
          </a:p>
        </p:txBody>
      </p:sp>
      <p:sp>
        <p:nvSpPr>
          <p:cNvPr id="28" name="Shape 23">
            <a:extLst>
              <a:ext uri="{FF2B5EF4-FFF2-40B4-BE49-F238E27FC236}">
                <a16:creationId xmlns:a16="http://schemas.microsoft.com/office/drawing/2014/main" id="{4FA866E8-49BB-64F8-BADC-B1FA427A7309}"/>
              </a:ext>
            </a:extLst>
          </p:cNvPr>
          <p:cNvSpPr/>
          <p:nvPr/>
        </p:nvSpPr>
        <p:spPr>
          <a:xfrm>
            <a:off x="11786616" y="6579108"/>
            <a:ext cx="60350" cy="60350"/>
          </a:xfrm>
          <a:prstGeom prst="ellipse">
            <a:avLst/>
          </a:prstGeom>
          <a:solidFill>
            <a:srgbClr val="5C5B58"/>
          </a:solidFill>
          <a:ln/>
        </p:spPr>
        <p:txBody>
          <a:bodyPr/>
          <a:lstStyle/>
          <a:p>
            <a:endParaRPr lang="en-IN"/>
          </a:p>
        </p:txBody>
      </p:sp>
    </p:spTree>
    <p:extLst>
      <p:ext uri="{BB962C8B-B14F-4D97-AF65-F5344CB8AC3E}">
        <p14:creationId xmlns:p14="http://schemas.microsoft.com/office/powerpoint/2010/main" val="21035372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476</TotalTime>
  <Words>1023</Words>
  <Application>Microsoft Office PowerPoint</Application>
  <PresentationFormat>Widescreen</PresentationFormat>
  <Paragraphs>123</Paragraphs>
  <Slides>11</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Bookman Old Style</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Admin</cp:lastModifiedBy>
  <cp:revision>9</cp:revision>
  <dcterms:created xsi:type="dcterms:W3CDTF">2026-08-18T12:59:14Z</dcterms:created>
  <dcterms:modified xsi:type="dcterms:W3CDTF">2026-08-29T13:00:03Z</dcterms:modified>
</cp:coreProperties>
</file>